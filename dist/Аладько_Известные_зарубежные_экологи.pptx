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2000" cy="6858000" type="screen4x3"/>
  <p:notesSz cx="6858000" cy="9144000"/>
  <p:embeddedFontLst>
    <p:embeddedFont>
      <p:font typeface="IBM Plex Mono" pitchFamily="49" charset="0"/>
      <p:regular r:id="rId52"/>
    </p:embeddedFont>
    <p:embeddedFont>
      <p:font typeface="IBM Plex Mono Medium" pitchFamily="49" charset="0"/>
      <p:regular r:id="rId53"/>
    </p:embeddedFont>
    <p:embeddedFont>
      <p:font typeface="Inter Tight" pitchFamily="2" charset="0"/>
      <p:regular r:id="rId54"/>
    </p:embeddedFont>
    <p:embeddedFont>
      <p:font typeface="Inter Tight ExtraBold" pitchFamily="2" charset="0"/>
      <p:regular r:id="rId55"/>
    </p:embeddedFont>
    <p:embeddedFont>
      <p:font typeface="Inter Tight Medium" pitchFamily="2" charset="0"/>
      <p:regular r:id="rId56"/>
    </p:embeddedFont>
    <p:embeddedFont>
      <p:font typeface="Inter Tight SemiBold" pitchFamily="2" charset="0"/>
      <p:regular r:id="rId57"/>
    </p:embeddedFont>
    <p:embeddedFont>
      <p:font typeface="Spectral" pitchFamily="2" charset="0"/>
      <p:italic r:id="rId58"/>
    </p:embeddedFont>
    <p:embeddedFont>
      <p:font typeface="Spectral Medium" pitchFamily="2" charset="0"/>
      <p:italic r:id="rId5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font" Target="fonts/font1.fntdata"/><Relationship Id="rId53" Type="http://schemas.openxmlformats.org/officeDocument/2006/relationships/font" Target="fonts/font2.fntdata"/><Relationship Id="rId54" Type="http://schemas.openxmlformats.org/officeDocument/2006/relationships/font" Target="fonts/font3.fntdata"/><Relationship Id="rId55" Type="http://schemas.openxmlformats.org/officeDocument/2006/relationships/font" Target="fonts/font4.fntdata"/><Relationship Id="rId56" Type="http://schemas.openxmlformats.org/officeDocument/2006/relationships/font" Target="fonts/font5.fntdata"/><Relationship Id="rId57" Type="http://schemas.openxmlformats.org/officeDocument/2006/relationships/font" Target="fonts/font6.fntdata"/><Relationship Id="rId58" Type="http://schemas.openxmlformats.org/officeDocument/2006/relationships/font" Target="fonts/font7.fntdata"/><Relationship Id="rId59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Мой доклад про известных зарубежных экологов: как люди научились видеть связи в природе.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Слово «эколог» у нас значит сразу две вещи. В английском это два разных слова: ученый и защитник природы. Я расскажу и о тех, и о других: почти все защитники природы из моего списка сами были учеными.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Когда мне досталась тема, я сам мог назвать разве что Кусто. Поэтому составил список: тот, кто дал экологии понятие, которым пользуются до сих пор, или написал книгу, после которой люди иначе посмотрели на природу. Получилось тринадцать главных героев.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этой истории три шага. Сначала природу описывали, потом стали считать, а с середины двадцатого века ученые начали предупреждать. Цвет подскажет, где 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первая: девятнадцатый 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Александр фон Гумбольдт. До него природу раскладывали по полочкам, а он хотел понять, как все связано. Еще в 1800 году он объяснил, почему мелеет озеро в Венесуэле: вокруг вырубили лес. То есть человек сам меняет природу.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1802 году он поднялся на вулкан Чимборасо почти до 5900 метров. И заметил: в гору растительность меняется так же, как по дороге от экватора к полюсу. Так появилась «Картина природы», одна из первых схем, где жизнь зависит от климата.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 в 1829 году Гумбольдт проехал по России больше 15 тысяч километров, до Алтая и обратно. Пообещал, что на Урале найдут алмазы, и тем же летом первый русский алмаз действительно нашли.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 слово «экология» придумал зоолог Эрнст Геккель в 1866 году. Ойкос по-гречески дом, логос учение. Получается наука о доме, в котором живут организмы.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Забавно, но сам Геккель экологией почти не занимался. Он изучал медуз и потрясающе рисовал. А словом лет тридцать почти никто не пользовался.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том же 1866 году Геккель взял на Канары помощника, двадцатилетнего студента из России Николая Миклухо-Маклая. Для него это была первая экспедиция.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Еще несколько открытий того века. Самое известное, закон минимума Либиха, вы помните по бочке: урожай ограничивает то, чего не хватает больше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вторая: экология становится точной наукой.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Англичанин Чарльз Элтон в 1921 году студентом поехал на Шпицберген. Видов в Арктике мало, там можно проследить, кто кого ест. А его учитель Хаксли тогда спрашивал: что это вообще такое, экология?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1927 году Элтон всего за 85 дней написал «Экологию животных». Оттуда пищевая цепь, пирамида чисел и экологическая ниша.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Нишу он объяснял так: видишь барсука, представляй его роль, как при слове «викарий» понимаешь, чем он занят. Одум потом сказал короче: местообитание это адрес, ниша это профессия.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Элтон любил точные цифры. По старым книгам Компании Гудзонова залива он увидел волны: раз в десять лет. Сначала пик у зайца, через год-два у рыси.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1958 году Элтон написал книгу о видах-захватчиках. Пример у нас под боком: борщевик Сосновского. Борются с ним каждое лето, и пока побеждает борщевик.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слово экологии, «экосистема», ввел Артур Тенсли в 1935 году. Растения, животные, почва, вода и климат: это одна система, и размер у нее любой, хоть лужа, хоть океан.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Потом пришли математики, Лотка и Вольтерра. Вольтерре рассказали, что в войну рыбаки ловили меньше, а акул в уловах стало больше. Он вывел уравнения: хищник и жертва колеблются, и хищник все время опаздывает. Как зайцы и рыси.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 еще Вольтерра был смелым. В 1931 году Муссолини потребовал от профессоров присяги. Отказались двенадцать из 1200 с лишним, и за это у него отобрали кафедру.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Уравнения проверил на живых инфузориях москвич Георгий Гаузе. Два вида с одинаковой нишей долго вместе не живут. Книгу он издал в США в 1934 году, в 23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Юджин Одум предложил сделать экологию обязательным предметом, и коллеги засмеялись. Через семь лет вышел его учебник, по нему учатся до сих пор. Рядом правило десяти процентов Линдемана.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третья. После войны ядерные испытания и новая химия, и об экологии заговорили все.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Лесничий Олдо Леопольд истреблял волков, как и все. Но однажды увидел, как гаснет «яростный зеленый огонь» в глазах волчицы. Позже понял: без волков олени объедают всю гору и сами гибнут.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Он купил истощенную ферму и с семьей сажал сосны. Из записей вышел «Календарь песчаного графства», главная мысль которого этика земли: человек не завоеватель природы, а ее рядовой член.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Самая известная книга по экологии, наверное, «Безмолвная весна» Рейчел Карсон, 1962 год. Она начинается со сказки про весну без птичьих песен. Карсон тогда уже тяжело болела.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ДДТ тогда считали чудом и распыляли с самолетов. Карсон показала, что он почти не разлагается и копится по пищевой цепи. В птице его в десятки тысяч раз больше, чем в воде.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Комитет президента Кеннеди подтвердил ее выводы, а в 1972 году ДДТ в сельском хозяйстве запретили. Белоголовых орланов было чуть больше 400 пар, а сейчас больше 70 тысяч.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Барри Коммонер известен четырьмя законами экологии, они звучат как поговорки. Их у нас издали в Ленинграде уже в 1974 году.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 еще он собрал 320 тысяч детских молочных зубов. В них нашли стронций-90 от ядерных испытаний, и это помогло запретить испытания в атмосфере. Договор подписали в Москве в 1963 году.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1972 году вышли «Пределы роста», основной текст написала Донелла Медоуз. Будущее планеты одними из первых посчитали на компьютере. Вывод: если все будет расти как раньше, за сто лет человечество упрется в пределы планеты.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это случается неожиданно? Кувшинка удваивается каждый день и за 30 дней закрывает пруд. Половину она закроет на двадцать девятый день: еще вчера места было полно.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четвертая: взгляд на всю планету.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Джеймса Лавлока НАСА спросило, как искать жизнь на Марсе. Он ответил: посмотрите на атмосферу. На мертвой планете все давно прореагировало, а у нас рядом кислород и метан, их все время производит жизнь.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Потом Лавлок назвал Землю Геей, системой, которая сама себя регулирует. А у нас похожее еще в 1926 году писал Вернадский в «Биосфере». Лавлок о нем не знал и потом назвал своим предшественником.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Эдвард Уилсон стал главным знатоком муравьев. Его теория островов: чем остров меньше и дальше, тем видов меньше. А островом может быть и лес среди полей.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Джейн Гудолл первой увидела, как шимпанзе делает орудие из веточки. Она умерла совсем недавно, 1 октября 2025 года. А из фильмов Кусто мир узнал, что океан надо беречь.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 я собирал материал, все время встречал наши фамилии. Первый заповедник, Баргузинский, появился в январе 1917 года, на семь лет раньше территории дикой природы Леопольда.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положить понятия на одну шкалу, видно: наука шла одновременно в разных странах. Но без перевода о работе могут не узнать, как случилось с Вернадским.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Итак: природу сначала описывали, потом считали, а потом начали предупреждать. И делить экологов на зарубежных и наших можно только условно.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последнее. Почти все главные книги вышли с 1925 по 1980 год, так что точной науке около ста лет. А экологи живут долго: Лавлок 103 года, Коммонер 95. Случайность или свежий воздух?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27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jpg"/><Relationship Id="rId6" Type="http://schemas.openxmlformats.org/officeDocument/2006/relationships/image" Target="../media/image52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53.pn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png"/><Relationship Id="rId1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png"/><Relationship Id="rId4" Type="http://schemas.openxmlformats.org/officeDocument/2006/relationships/image" Target="../media/image62.jpg"/><Relationship Id="rId5" Type="http://schemas.openxmlformats.org/officeDocument/2006/relationships/image" Target="../media/image63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72.png"/><Relationship Id="rId4" Type="http://schemas.openxmlformats.org/officeDocument/2006/relationships/image" Target="../media/image73.jpg"/><Relationship Id="rId5" Type="http://schemas.openxmlformats.org/officeDocument/2006/relationships/image" Target="../media/image74.jp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81.png"/><Relationship Id="rId4" Type="http://schemas.openxmlformats.org/officeDocument/2006/relationships/image" Target="../media/image82.jpg"/><Relationship Id="rId5" Type="http://schemas.openxmlformats.org/officeDocument/2006/relationships/image" Target="../media/image83.jpg"/><Relationship Id="rId6" Type="http://schemas.openxmlformats.org/officeDocument/2006/relationships/image" Target="../media/image84.jpg"/><Relationship Id="rId7" Type="http://schemas.openxmlformats.org/officeDocument/2006/relationships/image" Target="../media/image85.jpg"/><Relationship Id="rId8" Type="http://schemas.openxmlformats.org/officeDocument/2006/relationships/image" Target="../media/image86.jpg"/><Relationship Id="rId9" Type="http://schemas.openxmlformats.org/officeDocument/2006/relationships/image" Target="../media/image87.png"/><Relationship Id="rId10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image" Target="../media/image89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92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Relationship Id="rId3" Type="http://schemas.openxmlformats.org/officeDocument/2006/relationships/image" Target="../media/image95.png"/><Relationship Id="rId4" Type="http://schemas.openxmlformats.org/officeDocument/2006/relationships/image" Target="../media/image105.png"/><Relationship Id="rId5" Type="http://schemas.openxmlformats.org/officeDocument/2006/relationships/image" Target="../media/image94.png"/><Relationship Id="rId6" Type="http://schemas.openxmlformats.org/officeDocument/2006/relationships/image" Target="../media/image106.png"/><Relationship Id="rId7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Relationship Id="rId3" Type="http://schemas.openxmlformats.org/officeDocument/2006/relationships/image" Target="../media/image108.jp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jpg"/><Relationship Id="rId4" Type="http://schemas.openxmlformats.org/officeDocument/2006/relationships/image" Target="../media/image114.jpg"/><Relationship Id="rId5" Type="http://schemas.openxmlformats.org/officeDocument/2006/relationships/image" Target="../media/image115.png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Relationship Id="rId3" Type="http://schemas.openxmlformats.org/officeDocument/2006/relationships/image" Target="../media/image117.jp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19.png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Relationship Id="rId3" Type="http://schemas.openxmlformats.org/officeDocument/2006/relationships/image" Target="../media/image124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jpg"/><Relationship Id="rId5" Type="http://schemas.openxmlformats.org/officeDocument/2006/relationships/image" Target="../media/image132.jpg"/><Relationship Id="rId6" Type="http://schemas.openxmlformats.org/officeDocument/2006/relationships/image" Target="../media/image133.png"/><Relationship Id="rId7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Relationship Id="rId3" Type="http://schemas.openxmlformats.org/officeDocument/2006/relationships/image" Target="../media/image139.jpg"/><Relationship Id="rId4" Type="http://schemas.openxmlformats.org/officeDocument/2006/relationships/image" Target="../media/image140.png"/><Relationship Id="rId5" Type="http://schemas.openxmlformats.org/officeDocument/2006/relationships/image" Target="../media/image141.jpg"/><Relationship Id="rId6" Type="http://schemas.openxmlformats.org/officeDocument/2006/relationships/image" Target="../media/image142.jpg"/><Relationship Id="rId7" Type="http://schemas.openxmlformats.org/officeDocument/2006/relationships/image" Target="../media/image143.png"/><Relationship Id="rId8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Relationship Id="rId3" Type="http://schemas.openxmlformats.org/officeDocument/2006/relationships/image" Target="../media/image145.jpg"/><Relationship Id="rId4" Type="http://schemas.openxmlformats.org/officeDocument/2006/relationships/image" Target="../media/image146.png"/><Relationship Id="rId5" Type="http://schemas.openxmlformats.org/officeDocument/2006/relationships/image" Target="../media/image147.jpg"/><Relationship Id="rId6" Type="http://schemas.openxmlformats.org/officeDocument/2006/relationships/image" Target="../media/image148.png"/><Relationship Id="rId7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54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Relationship Id="rId3" Type="http://schemas.openxmlformats.org/officeDocument/2006/relationships/image" Target="../media/image160.jpg"/><Relationship Id="rId4" Type="http://schemas.openxmlformats.org/officeDocument/2006/relationships/image" Target="../media/image161.png"/><Relationship Id="rId5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УНИВЕРСИТЕТ ИТМО · ФАКУЛЬТЕТ ЭКОТЕХНОЛОГ"/>
          <p:cNvSpPr txBox="1"/>
          <p:nvPr/>
        </p:nvSpPr>
        <p:spPr>
          <a:xfrm>
            <a:off x="660400" y="537718"/>
            <a:ext cx="492856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УНИВЕРСИТЕТ ИТМО · ФАКУЛЬТЕТ ЭКОТЕХНОЛОГИЙ · ДИСЦИПЛИНА «ЭКОЛОГИЯ»</a:t>
            </a:r>
          </a:p>
        </p:txBody>
      </p:sp>
      <p:sp>
        <p:nvSpPr>
          <p:cNvPr id="3" name="Текст: ДОКЛАД ПО РЕФЕРАТУ"/>
          <p:cNvSpPr txBox="1"/>
          <p:nvPr/>
        </p:nvSpPr>
        <p:spPr>
          <a:xfrm>
            <a:off x="10159698" y="537718"/>
            <a:ext cx="137190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ДОКЛАД ПО РЕФЕРАТУ</a:t>
            </a:r>
          </a:p>
        </p:txBody>
      </p:sp>
      <p:pic>
        <p:nvPicPr>
          <p:cNvPr id="4" name="Графика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809625"/>
            <a:ext cx="10877550" cy="28575"/>
          </a:xfrm>
          <a:prstGeom prst="rect">
            <a:avLst/>
          </a:prstGeom>
        </p:spPr>
      </p:pic>
      <p:sp>
        <p:nvSpPr>
          <p:cNvPr id="5" name="Текст: Известные зарубежные экологи"/>
          <p:cNvSpPr txBox="1"/>
          <p:nvPr/>
        </p:nvSpPr>
        <p:spPr>
          <a:xfrm>
            <a:off x="609600" y="1159510"/>
            <a:ext cx="5747361" cy="2628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900"/>
              </a:lnSpc>
            </a:pPr>
            <a:r>
              <a:rPr lang="ru-RU" sz="7500" b="0" i="0" spc="-338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Известные</a:t>
            </a:r>
            <a:br>
              <a:rPr lang="ru-RU" sz="7500" b="0" i="0" spc="-338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7500" b="0" i="0" spc="-338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зарубежные</a:t>
            </a:r>
            <a:br>
              <a:rPr lang="ru-RU" sz="7500" b="0" i="0" spc="-338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7500" b="0" i="0" spc="-338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экологи</a:t>
            </a:r>
          </a:p>
        </p:txBody>
      </p:sp>
      <p:sp>
        <p:nvSpPr>
          <p:cNvPr id="6" name="Текст: От Гумбольдта до Гудолл: как люди научил"/>
          <p:cNvSpPr txBox="1"/>
          <p:nvPr/>
        </p:nvSpPr>
        <p:spPr>
          <a:xfrm>
            <a:off x="7112000" y="2485152"/>
            <a:ext cx="4017113" cy="9200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15"/>
              </a:lnSpc>
            </a:pPr>
            <a:r>
              <a:rPr lang="ru-RU" sz="2300" b="0" i="1" spc="-34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От Гумбольдта до Гудолл: как</a:t>
            </a:r>
            <a:br>
              <a:rPr lang="ru-RU" sz="2300" b="0" i="1" spc="-34">
                <a:solidFill>
                  <a:srgbClr val="0F0F0E"/>
                </a:solidFill>
                <a:latin typeface="Spectral"/>
                <a:ea typeface="Spectral"/>
                <a:cs typeface="Spectral"/>
              </a:rPr>
            </a:br>
            <a:r>
              <a:rPr lang="ru-RU" sz="2300" b="0" i="1" spc="-34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люди научились видеть связи в</a:t>
            </a:r>
            <a:br>
              <a:rPr lang="ru-RU" sz="2300" b="0" i="1" spc="-34">
                <a:solidFill>
                  <a:srgbClr val="0F0F0E"/>
                </a:solidFill>
                <a:latin typeface="Spectral"/>
                <a:ea typeface="Spectral"/>
                <a:cs typeface="Spectral"/>
              </a:rPr>
            </a:br>
            <a:r>
              <a:rPr lang="ru-RU" sz="2300" b="0" i="1" spc="-34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природе</a:t>
            </a:r>
          </a:p>
        </p:txBody>
      </p:sp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062412"/>
            <a:ext cx="10877550" cy="1081088"/>
          </a:xfrm>
          <a:prstGeom prst="rect">
            <a:avLst/>
          </a:prstGeom>
        </p:spPr>
      </p:pic>
      <p:sp>
        <p:nvSpPr>
          <p:cNvPr id="8" name="Текст: ЧЭ"/>
          <p:cNvSpPr txBox="1"/>
          <p:nvPr/>
        </p:nvSpPr>
        <p:spPr>
          <a:xfrm>
            <a:off x="2418854" y="4724908"/>
            <a:ext cx="484902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6F6C66"/>
                </a:solidFill>
                <a:latin typeface="Inter Tight ExtraBold"/>
                <a:ea typeface="Inter Tight ExtraBold"/>
                <a:cs typeface="Inter Tight ExtraBold"/>
              </a:rPr>
              <a:t>ЧЭ</a:t>
            </a:r>
          </a:p>
        </p:txBody>
      </p:sp>
      <p:sp>
        <p:nvSpPr>
          <p:cNvPr id="9" name="Текст: ЮО"/>
          <p:cNvSpPr txBox="1"/>
          <p:nvPr/>
        </p:nvSpPr>
        <p:spPr>
          <a:xfrm>
            <a:off x="4942185" y="4724908"/>
            <a:ext cx="623070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6F6C66"/>
                </a:solidFill>
                <a:latin typeface="Inter Tight ExtraBold"/>
                <a:ea typeface="Inter Tight ExtraBold"/>
                <a:cs typeface="Inter Tight ExtraBold"/>
              </a:rPr>
              <a:t>ЮО</a:t>
            </a:r>
          </a:p>
        </p:txBody>
      </p:sp>
      <p:sp>
        <p:nvSpPr>
          <p:cNvPr id="10" name="Текст: ДМ"/>
          <p:cNvSpPr txBox="1"/>
          <p:nvPr/>
        </p:nvSpPr>
        <p:spPr>
          <a:xfrm>
            <a:off x="8306693" y="4724908"/>
            <a:ext cx="576429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6F6C66"/>
                </a:solidFill>
                <a:latin typeface="Inter Tight ExtraBold"/>
                <a:ea typeface="Inter Tight ExtraBold"/>
                <a:cs typeface="Inter Tight ExtraBold"/>
              </a:rPr>
              <a:t>ДМ</a:t>
            </a:r>
          </a:p>
        </p:txBody>
      </p:sp>
      <p:pic>
        <p:nvPicPr>
          <p:cNvPr id="11" name="Графика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5510212"/>
            <a:ext cx="10877550" cy="9525"/>
          </a:xfrm>
          <a:prstGeom prst="rect">
            <a:avLst/>
          </a:prstGeom>
        </p:spPr>
      </p:pic>
      <p:sp>
        <p:nvSpPr>
          <p:cNvPr id="12" name="Текст: ДОКЛАД"/>
          <p:cNvSpPr txBox="1"/>
          <p:nvPr/>
        </p:nvSpPr>
        <p:spPr>
          <a:xfrm>
            <a:off x="660400" y="5719318"/>
            <a:ext cx="48273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ДОКЛАД</a:t>
            </a:r>
          </a:p>
        </p:txBody>
      </p:sp>
      <p:sp>
        <p:nvSpPr>
          <p:cNvPr id="13" name="Текст: Аладько Иван Игоревич"/>
          <p:cNvSpPr txBox="1"/>
          <p:nvPr/>
        </p:nvSpPr>
        <p:spPr>
          <a:xfrm>
            <a:off x="660400" y="5924915"/>
            <a:ext cx="2079665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14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Аладько Иван Игоревич</a:t>
            </a:r>
          </a:p>
        </p:txBody>
      </p:sp>
      <p:sp>
        <p:nvSpPr>
          <p:cNvPr id="14" name="Текст: группа G3110 · ИСУ 561292"/>
          <p:cNvSpPr txBox="1"/>
          <p:nvPr/>
        </p:nvSpPr>
        <p:spPr>
          <a:xfrm>
            <a:off x="660400" y="6182471"/>
            <a:ext cx="172212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группа G3110 · ИСУ 561292</a:t>
            </a:r>
          </a:p>
        </p:txBody>
      </p:sp>
      <p:sp>
        <p:nvSpPr>
          <p:cNvPr id="15" name="Текст: ПРЕПОДАВАТЕЛЬ"/>
          <p:cNvSpPr txBox="1"/>
          <p:nvPr/>
        </p:nvSpPr>
        <p:spPr>
          <a:xfrm>
            <a:off x="4572000" y="57193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ПРЕПОДАВАТЕЛЬ</a:t>
            </a:r>
          </a:p>
        </p:txBody>
      </p:sp>
      <p:sp>
        <p:nvSpPr>
          <p:cNvPr id="16" name="Текст: Румянцева Ольга Николаевна"/>
          <p:cNvSpPr txBox="1"/>
          <p:nvPr/>
        </p:nvSpPr>
        <p:spPr>
          <a:xfrm>
            <a:off x="4572000" y="5924915"/>
            <a:ext cx="2539778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14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Румянцева Ольга Николаевна</a:t>
            </a:r>
          </a:p>
        </p:txBody>
      </p:sp>
      <p:sp>
        <p:nvSpPr>
          <p:cNvPr id="17" name="Текст: САНКТ-ПЕТЕРБУРГ"/>
          <p:cNvSpPr txBox="1"/>
          <p:nvPr/>
        </p:nvSpPr>
        <p:spPr>
          <a:xfrm>
            <a:off x="10381964" y="5719318"/>
            <a:ext cx="114963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САНКТ-ПЕТЕРБУРГ</a:t>
            </a:r>
          </a:p>
        </p:txBody>
      </p:sp>
      <p:sp>
        <p:nvSpPr>
          <p:cNvPr id="18" name="Текст: 2026"/>
          <p:cNvSpPr txBox="1"/>
          <p:nvPr/>
        </p:nvSpPr>
        <p:spPr>
          <a:xfrm>
            <a:off x="10809986" y="5884529"/>
            <a:ext cx="721614" cy="335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2640"/>
              </a:lnSpc>
            </a:pPr>
            <a:r>
              <a:rPr lang="ru-RU" sz="2200" b="0" i="0" spc="-110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СНАЧАЛА О СЛОВАХ"/>
          <p:cNvSpPr txBox="1"/>
          <p:nvPr/>
        </p:nvSpPr>
        <p:spPr>
          <a:xfrm>
            <a:off x="660400" y="537718"/>
            <a:ext cx="122372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СНАЧАЛА О СЛОВАХ</a:t>
            </a:r>
          </a:p>
        </p:txBody>
      </p:sp>
      <p:sp>
        <p:nvSpPr>
          <p:cNvPr id="3" name="Текст: ecologist"/>
          <p:cNvSpPr txBox="1"/>
          <p:nvPr/>
        </p:nvSpPr>
        <p:spPr>
          <a:xfrm>
            <a:off x="609600" y="1054100"/>
            <a:ext cx="3394273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1" spc="-112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ecologist</a:t>
            </a:r>
          </a:p>
        </p:txBody>
      </p:sp>
      <p:sp>
        <p:nvSpPr>
          <p:cNvPr id="4" name="Текст: УЧЕНЫЙ: ИЗУЧАЕТ, КАК ЖИВОЕ СВЯЗАНО ДРУГ "/>
          <p:cNvSpPr txBox="1"/>
          <p:nvPr/>
        </p:nvSpPr>
        <p:spPr>
          <a:xfrm>
            <a:off x="660400" y="2303018"/>
            <a:ext cx="448393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УЧЕНЫЙ: ИЗУЧАЕТ, КАК ЖИВОЕ СВЯЗАНО ДРУГ С ДРУГОМ И СО СРЕДОЙ</a:t>
            </a:r>
          </a:p>
        </p:txBody>
      </p:sp>
      <p:sp>
        <p:nvSpPr>
          <p:cNvPr id="5" name="Текст: environmentalist"/>
          <p:cNvSpPr txBox="1"/>
          <p:nvPr/>
        </p:nvSpPr>
        <p:spPr>
          <a:xfrm>
            <a:off x="609600" y="2832100"/>
            <a:ext cx="6549334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1" spc="-112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environmentalist</a:t>
            </a:r>
          </a:p>
        </p:txBody>
      </p:sp>
      <p:sp>
        <p:nvSpPr>
          <p:cNvPr id="6" name="Текст: ЗАЩИТНИК ПРИРОДЫ: СПАСАЕТ ЛЕС, РЕКУ, ВИД"/>
          <p:cNvSpPr txBox="1"/>
          <p:nvPr/>
        </p:nvSpPr>
        <p:spPr>
          <a:xfrm>
            <a:off x="660400" y="4081018"/>
            <a:ext cx="30020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ЗАЩИТНИК ПРИРОДЫ: СПАСАЕТ ЛЕС, РЕКУ, ВИД</a:t>
            </a:r>
          </a:p>
        </p:txBody>
      </p:sp>
      <p:pic>
        <p:nvPicPr>
          <p:cNvPr id="7" name="Графика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12" y="1266825"/>
            <a:ext cx="28575" cy="3052762"/>
          </a:xfrm>
          <a:prstGeom prst="rect">
            <a:avLst/>
          </a:prstGeom>
        </p:spPr>
      </p:pic>
      <p:sp>
        <p:nvSpPr>
          <p:cNvPr id="8" name="Текст: эколог"/>
          <p:cNvSpPr txBox="1"/>
          <p:nvPr/>
        </p:nvSpPr>
        <p:spPr>
          <a:xfrm>
            <a:off x="8572500" y="2255266"/>
            <a:ext cx="2112685" cy="792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240"/>
              </a:lnSpc>
            </a:pPr>
            <a:r>
              <a:rPr lang="ru-RU" sz="5200" b="0" i="0" spc="-234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эколог</a:t>
            </a:r>
          </a:p>
        </p:txBody>
      </p:sp>
      <p:sp>
        <p:nvSpPr>
          <p:cNvPr id="9" name="Текст: У нас на оба смысла одно слово"/>
          <p:cNvSpPr txBox="1"/>
          <p:nvPr/>
        </p:nvSpPr>
        <p:spPr>
          <a:xfrm>
            <a:off x="8585200" y="3106896"/>
            <a:ext cx="2581775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У нас на оба смысла одно</a:t>
            </a:r>
            <a:br>
              <a:rPr lang="ru-RU" sz="1700" b="0" i="0" spc="-26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слово</a:t>
            </a:r>
          </a:p>
        </p:txBody>
      </p:sp>
      <p:pic>
        <p:nvPicPr>
          <p:cNvPr id="10" name="Графика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924425"/>
            <a:ext cx="10877550" cy="9525"/>
          </a:xfrm>
          <a:prstGeom prst="rect">
            <a:avLst/>
          </a:prstGeom>
        </p:spPr>
      </p:pic>
      <p:sp>
        <p:nvSpPr>
          <p:cNvPr id="11" name="Текст: В докладе будут и те, и другие: почти вс"/>
          <p:cNvSpPr txBox="1"/>
          <p:nvPr/>
        </p:nvSpPr>
        <p:spPr>
          <a:xfrm>
            <a:off x="660400" y="5120386"/>
            <a:ext cx="9881052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 докладе будут </a:t>
            </a:r>
            <a:r>
              <a:rPr lang="ru-RU" sz="1700" b="0" i="0" spc="-26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и те, и другие</a:t>
            </a: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: почти все защитники природы из моего списка сами были учеными</a:t>
            </a:r>
          </a:p>
        </p:txBody>
      </p:sp>
      <p:pic>
        <p:nvPicPr>
          <p:cNvPr id="12" name="Графика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534150"/>
            <a:ext cx="7943850" cy="138112"/>
          </a:xfrm>
          <a:prstGeom prst="rect">
            <a:avLst/>
          </a:prstGeom>
        </p:spPr>
      </p:pic>
      <p:sp>
        <p:nvSpPr>
          <p:cNvPr id="13" name="Текст: ВВЕДЕНИЕ"/>
          <p:cNvSpPr txBox="1"/>
          <p:nvPr/>
        </p:nvSpPr>
        <p:spPr>
          <a:xfrm>
            <a:off x="660400" y="6483985"/>
            <a:ext cx="56115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ВВЕДЕНИЕ</a:t>
            </a:r>
          </a:p>
        </p:txBody>
      </p:sp>
      <p:sp>
        <p:nvSpPr>
          <p:cNvPr id="14" name="Текст: 02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02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КОГО Я ВЫБРАЛ"/>
          <p:cNvSpPr txBox="1"/>
          <p:nvPr/>
        </p:nvSpPr>
        <p:spPr>
          <a:xfrm>
            <a:off x="660400" y="5377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КОГО Я ВЫБРАЛ</a:t>
            </a:r>
          </a:p>
        </p:txBody>
      </p:sp>
      <p:sp>
        <p:nvSpPr>
          <p:cNvPr id="3" name="Текст: 13 главных героев"/>
          <p:cNvSpPr txBox="1"/>
          <p:nvPr/>
        </p:nvSpPr>
        <p:spPr>
          <a:xfrm>
            <a:off x="635000" y="718312"/>
            <a:ext cx="4174474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13 главных героев</a:t>
            </a:r>
          </a:p>
        </p:txBody>
      </p:sp>
      <p:sp>
        <p:nvSpPr>
          <p:cNvPr id="4" name="Текст: В список попал тот, кто дал экологии пон"/>
          <p:cNvSpPr txBox="1"/>
          <p:nvPr/>
        </p:nvSpPr>
        <p:spPr>
          <a:xfrm>
            <a:off x="6858000" y="652224"/>
            <a:ext cx="4889667" cy="57834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18"/>
              </a:lnSpc>
            </a:pPr>
            <a:r>
              <a:rPr lang="ru-RU" sz="1100" b="0" i="0" spc="-6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В список попал тот, кто дал экологии понятие, которым пользуются до сих</a:t>
            </a:r>
            <a:br>
              <a:rPr lang="ru-RU" sz="1100" b="0" i="0" spc="-6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00" b="0" i="0" spc="-6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пор, </a:t>
            </a:r>
            <a:r>
              <a:rPr lang="ru-RU" sz="1100" b="0" i="0" spc="-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или </a:t>
            </a:r>
            <a:r>
              <a:rPr lang="ru-RU" sz="1100" b="0" i="0" spc="-6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написал книгу, после которой люди стали иначе относиться к</a:t>
            </a:r>
            <a:br>
              <a:rPr lang="ru-RU" sz="1100" b="0" i="0" spc="-6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00" b="0" i="0" spc="-6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природе</a:t>
            </a:r>
          </a:p>
        </p:txBody>
      </p:sp>
      <p:pic>
        <p:nvPicPr>
          <p:cNvPr id="5" name="Графика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662112"/>
            <a:ext cx="10877550" cy="4157662"/>
          </a:xfrm>
          <a:prstGeom prst="rect">
            <a:avLst/>
          </a:prstGeom>
        </p:spPr>
      </p:pic>
      <p:sp>
        <p:nvSpPr>
          <p:cNvPr id="6" name="Текст: 01"/>
          <p:cNvSpPr txBox="1"/>
          <p:nvPr/>
        </p:nvSpPr>
        <p:spPr>
          <a:xfrm>
            <a:off x="698500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01</a:t>
            </a:r>
          </a:p>
        </p:txBody>
      </p:sp>
      <p:sp>
        <p:nvSpPr>
          <p:cNvPr id="7" name="Текст: А. Гумбольдт"/>
          <p:cNvSpPr txBox="1"/>
          <p:nvPr/>
        </p:nvSpPr>
        <p:spPr>
          <a:xfrm>
            <a:off x="660400" y="3307080"/>
            <a:ext cx="85059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А. Гумбольдт</a:t>
            </a:r>
          </a:p>
        </p:txBody>
      </p:sp>
      <p:sp>
        <p:nvSpPr>
          <p:cNvPr id="8" name="Текст: 1769-1859"/>
          <p:cNvSpPr txBox="1"/>
          <p:nvPr/>
        </p:nvSpPr>
        <p:spPr>
          <a:xfrm>
            <a:off x="660400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1769-1859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2264172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02</a:t>
            </a:r>
          </a:p>
        </p:txBody>
      </p:sp>
      <p:sp>
        <p:nvSpPr>
          <p:cNvPr id="10" name="Текст: Э. Геккель"/>
          <p:cNvSpPr txBox="1"/>
          <p:nvPr/>
        </p:nvSpPr>
        <p:spPr>
          <a:xfrm>
            <a:off x="2226072" y="3307080"/>
            <a:ext cx="657741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Э. Геккель</a:t>
            </a:r>
          </a:p>
        </p:txBody>
      </p:sp>
      <p:sp>
        <p:nvSpPr>
          <p:cNvPr id="11" name="Текст: 1834-1919"/>
          <p:cNvSpPr txBox="1"/>
          <p:nvPr/>
        </p:nvSpPr>
        <p:spPr>
          <a:xfrm>
            <a:off x="2226072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1834-1919</a:t>
            </a:r>
          </a:p>
        </p:txBody>
      </p:sp>
      <p:sp>
        <p:nvSpPr>
          <p:cNvPr id="12" name="Текст: ЧЭ"/>
          <p:cNvSpPr txBox="1"/>
          <p:nvPr/>
        </p:nvSpPr>
        <p:spPr>
          <a:xfrm>
            <a:off x="3868043" y="2832608"/>
            <a:ext cx="484902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ЧЭ</a:t>
            </a:r>
          </a:p>
        </p:txBody>
      </p:sp>
      <p:sp>
        <p:nvSpPr>
          <p:cNvPr id="13" name="Текст: 03"/>
          <p:cNvSpPr txBox="1"/>
          <p:nvPr/>
        </p:nvSpPr>
        <p:spPr>
          <a:xfrm>
            <a:off x="3829943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03</a:t>
            </a:r>
          </a:p>
        </p:txBody>
      </p:sp>
      <p:sp>
        <p:nvSpPr>
          <p:cNvPr id="14" name="Текст: Ч. Элтон"/>
          <p:cNvSpPr txBox="1"/>
          <p:nvPr/>
        </p:nvSpPr>
        <p:spPr>
          <a:xfrm>
            <a:off x="3791843" y="3307080"/>
            <a:ext cx="55114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Ч. Элтон</a:t>
            </a:r>
          </a:p>
        </p:txBody>
      </p:sp>
      <p:sp>
        <p:nvSpPr>
          <p:cNvPr id="15" name="Текст: 1900-1991"/>
          <p:cNvSpPr txBox="1"/>
          <p:nvPr/>
        </p:nvSpPr>
        <p:spPr>
          <a:xfrm>
            <a:off x="3791843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1900-1991</a:t>
            </a:r>
          </a:p>
        </p:txBody>
      </p:sp>
      <p:sp>
        <p:nvSpPr>
          <p:cNvPr id="16" name="Текст: 04"/>
          <p:cNvSpPr txBox="1"/>
          <p:nvPr/>
        </p:nvSpPr>
        <p:spPr>
          <a:xfrm>
            <a:off x="5395615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04</a:t>
            </a:r>
          </a:p>
        </p:txBody>
      </p:sp>
      <p:sp>
        <p:nvSpPr>
          <p:cNvPr id="17" name="Текст: А. Тенсли"/>
          <p:cNvSpPr txBox="1"/>
          <p:nvPr/>
        </p:nvSpPr>
        <p:spPr>
          <a:xfrm>
            <a:off x="5357515" y="3307080"/>
            <a:ext cx="61832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А. Тенсли</a:t>
            </a:r>
          </a:p>
        </p:txBody>
      </p:sp>
      <p:sp>
        <p:nvSpPr>
          <p:cNvPr id="18" name="Текст: 1871-1955"/>
          <p:cNvSpPr txBox="1"/>
          <p:nvPr/>
        </p:nvSpPr>
        <p:spPr>
          <a:xfrm>
            <a:off x="5357515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1871-1955</a:t>
            </a:r>
          </a:p>
        </p:txBody>
      </p:sp>
      <p:sp>
        <p:nvSpPr>
          <p:cNvPr id="19" name="Текст: 05"/>
          <p:cNvSpPr txBox="1"/>
          <p:nvPr/>
        </p:nvSpPr>
        <p:spPr>
          <a:xfrm>
            <a:off x="6961386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05</a:t>
            </a:r>
          </a:p>
        </p:txBody>
      </p:sp>
      <p:sp>
        <p:nvSpPr>
          <p:cNvPr id="20" name="Текст: В. Вольтерра"/>
          <p:cNvSpPr txBox="1"/>
          <p:nvPr/>
        </p:nvSpPr>
        <p:spPr>
          <a:xfrm>
            <a:off x="6923286" y="3307080"/>
            <a:ext cx="82573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В. Вольтерра</a:t>
            </a:r>
          </a:p>
        </p:txBody>
      </p:sp>
      <p:sp>
        <p:nvSpPr>
          <p:cNvPr id="21" name="Текст: 1860-1940"/>
          <p:cNvSpPr txBox="1"/>
          <p:nvPr/>
        </p:nvSpPr>
        <p:spPr>
          <a:xfrm>
            <a:off x="6923286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1860-1940</a:t>
            </a:r>
          </a:p>
        </p:txBody>
      </p:sp>
      <p:sp>
        <p:nvSpPr>
          <p:cNvPr id="22" name="Текст: ЮО"/>
          <p:cNvSpPr txBox="1"/>
          <p:nvPr/>
        </p:nvSpPr>
        <p:spPr>
          <a:xfrm>
            <a:off x="8565158" y="2832608"/>
            <a:ext cx="623070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ЮО</a:t>
            </a:r>
          </a:p>
        </p:txBody>
      </p:sp>
      <p:sp>
        <p:nvSpPr>
          <p:cNvPr id="23" name="Текст: 06"/>
          <p:cNvSpPr txBox="1"/>
          <p:nvPr/>
        </p:nvSpPr>
        <p:spPr>
          <a:xfrm>
            <a:off x="8527058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06</a:t>
            </a:r>
          </a:p>
        </p:txBody>
      </p:sp>
      <p:sp>
        <p:nvSpPr>
          <p:cNvPr id="24" name="Текст: Ю. Одум"/>
          <p:cNvSpPr txBox="1"/>
          <p:nvPr/>
        </p:nvSpPr>
        <p:spPr>
          <a:xfrm>
            <a:off x="8488958" y="3307080"/>
            <a:ext cx="56373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Ю. Одум</a:t>
            </a:r>
          </a:p>
        </p:txBody>
      </p:sp>
      <p:sp>
        <p:nvSpPr>
          <p:cNvPr id="25" name="Текст: 1913-2002"/>
          <p:cNvSpPr txBox="1"/>
          <p:nvPr/>
        </p:nvSpPr>
        <p:spPr>
          <a:xfrm>
            <a:off x="8488958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1913-2002</a:t>
            </a:r>
          </a:p>
        </p:txBody>
      </p:sp>
      <p:sp>
        <p:nvSpPr>
          <p:cNvPr id="26" name="Текст: 07"/>
          <p:cNvSpPr txBox="1"/>
          <p:nvPr/>
        </p:nvSpPr>
        <p:spPr>
          <a:xfrm>
            <a:off x="10092829" y="1686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07</a:t>
            </a:r>
          </a:p>
        </p:txBody>
      </p:sp>
      <p:sp>
        <p:nvSpPr>
          <p:cNvPr id="27" name="Текст: О. Леопольд"/>
          <p:cNvSpPr txBox="1"/>
          <p:nvPr/>
        </p:nvSpPr>
        <p:spPr>
          <a:xfrm>
            <a:off x="10054729" y="3307080"/>
            <a:ext cx="79219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О. Леопольд</a:t>
            </a:r>
          </a:p>
        </p:txBody>
      </p:sp>
      <p:sp>
        <p:nvSpPr>
          <p:cNvPr id="28" name="Текст: 1887-1948"/>
          <p:cNvSpPr txBox="1"/>
          <p:nvPr/>
        </p:nvSpPr>
        <p:spPr>
          <a:xfrm>
            <a:off x="10054729" y="3476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1887-1948</a:t>
            </a:r>
          </a:p>
        </p:txBody>
      </p:sp>
      <p:sp>
        <p:nvSpPr>
          <p:cNvPr id="29" name="Текст: 08"/>
          <p:cNvSpPr txBox="1"/>
          <p:nvPr/>
        </p:nvSpPr>
        <p:spPr>
          <a:xfrm>
            <a:off x="698500" y="3845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08</a:t>
            </a:r>
          </a:p>
        </p:txBody>
      </p:sp>
      <p:sp>
        <p:nvSpPr>
          <p:cNvPr id="30" name="Текст: Р. Карсон"/>
          <p:cNvSpPr txBox="1"/>
          <p:nvPr/>
        </p:nvSpPr>
        <p:spPr>
          <a:xfrm>
            <a:off x="660400" y="5466080"/>
            <a:ext cx="61853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Р. Карсон</a:t>
            </a:r>
          </a:p>
        </p:txBody>
      </p:sp>
      <p:sp>
        <p:nvSpPr>
          <p:cNvPr id="31" name="Текст: 1907-1964"/>
          <p:cNvSpPr txBox="1"/>
          <p:nvPr/>
        </p:nvSpPr>
        <p:spPr>
          <a:xfrm>
            <a:off x="660400" y="5635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1907-1964</a:t>
            </a:r>
          </a:p>
        </p:txBody>
      </p:sp>
      <p:sp>
        <p:nvSpPr>
          <p:cNvPr id="32" name="Текст: 09"/>
          <p:cNvSpPr txBox="1"/>
          <p:nvPr/>
        </p:nvSpPr>
        <p:spPr>
          <a:xfrm>
            <a:off x="2264172" y="3845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09</a:t>
            </a:r>
          </a:p>
        </p:txBody>
      </p:sp>
      <p:sp>
        <p:nvSpPr>
          <p:cNvPr id="33" name="Текст: Б. Коммонер"/>
          <p:cNvSpPr txBox="1"/>
          <p:nvPr/>
        </p:nvSpPr>
        <p:spPr>
          <a:xfrm>
            <a:off x="2226072" y="5466080"/>
            <a:ext cx="81417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Б. Коммонер</a:t>
            </a:r>
          </a:p>
        </p:txBody>
      </p:sp>
      <p:sp>
        <p:nvSpPr>
          <p:cNvPr id="34" name="Текст: 1917-2012"/>
          <p:cNvSpPr txBox="1"/>
          <p:nvPr/>
        </p:nvSpPr>
        <p:spPr>
          <a:xfrm>
            <a:off x="2226072" y="5635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1917-2012</a:t>
            </a:r>
          </a:p>
        </p:txBody>
      </p:sp>
      <p:sp>
        <p:nvSpPr>
          <p:cNvPr id="35" name="Текст: ДМ"/>
          <p:cNvSpPr txBox="1"/>
          <p:nvPr/>
        </p:nvSpPr>
        <p:spPr>
          <a:xfrm>
            <a:off x="3868043" y="4991608"/>
            <a:ext cx="576429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ДМ</a:t>
            </a:r>
          </a:p>
        </p:txBody>
      </p:sp>
      <p:sp>
        <p:nvSpPr>
          <p:cNvPr id="36" name="Текст: 10"/>
          <p:cNvSpPr txBox="1"/>
          <p:nvPr/>
        </p:nvSpPr>
        <p:spPr>
          <a:xfrm>
            <a:off x="3829943" y="3845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10</a:t>
            </a:r>
          </a:p>
        </p:txBody>
      </p:sp>
      <p:sp>
        <p:nvSpPr>
          <p:cNvPr id="37" name="Текст: Д. Медоуз"/>
          <p:cNvSpPr txBox="1"/>
          <p:nvPr/>
        </p:nvSpPr>
        <p:spPr>
          <a:xfrm>
            <a:off x="3791843" y="5466080"/>
            <a:ext cx="66238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Д. Медоуз</a:t>
            </a:r>
          </a:p>
        </p:txBody>
      </p:sp>
      <p:sp>
        <p:nvSpPr>
          <p:cNvPr id="38" name="Текст: 1941-2001"/>
          <p:cNvSpPr txBox="1"/>
          <p:nvPr/>
        </p:nvSpPr>
        <p:spPr>
          <a:xfrm>
            <a:off x="3791843" y="5635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1941-2001</a:t>
            </a:r>
          </a:p>
        </p:txBody>
      </p:sp>
      <p:sp>
        <p:nvSpPr>
          <p:cNvPr id="39" name="Текст: 11"/>
          <p:cNvSpPr txBox="1"/>
          <p:nvPr/>
        </p:nvSpPr>
        <p:spPr>
          <a:xfrm>
            <a:off x="5395615" y="3845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11</a:t>
            </a:r>
          </a:p>
        </p:txBody>
      </p:sp>
      <p:sp>
        <p:nvSpPr>
          <p:cNvPr id="40" name="Текст: Дж. Лавлок"/>
          <p:cNvSpPr txBox="1"/>
          <p:nvPr/>
        </p:nvSpPr>
        <p:spPr>
          <a:xfrm>
            <a:off x="5357515" y="5466080"/>
            <a:ext cx="74565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Дж. Лавлок</a:t>
            </a:r>
          </a:p>
        </p:txBody>
      </p:sp>
      <p:sp>
        <p:nvSpPr>
          <p:cNvPr id="41" name="Текст: 1919-2022"/>
          <p:cNvSpPr txBox="1"/>
          <p:nvPr/>
        </p:nvSpPr>
        <p:spPr>
          <a:xfrm>
            <a:off x="5357515" y="5635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1919-2022</a:t>
            </a:r>
          </a:p>
        </p:txBody>
      </p:sp>
      <p:sp>
        <p:nvSpPr>
          <p:cNvPr id="42" name="Текст: 12"/>
          <p:cNvSpPr txBox="1"/>
          <p:nvPr/>
        </p:nvSpPr>
        <p:spPr>
          <a:xfrm>
            <a:off x="6961386" y="3845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12</a:t>
            </a:r>
          </a:p>
        </p:txBody>
      </p:sp>
      <p:sp>
        <p:nvSpPr>
          <p:cNvPr id="43" name="Текст: Э. Уилсон"/>
          <p:cNvSpPr txBox="1"/>
          <p:nvPr/>
        </p:nvSpPr>
        <p:spPr>
          <a:xfrm>
            <a:off x="6923286" y="5466080"/>
            <a:ext cx="61471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Э. Уилсон</a:t>
            </a:r>
          </a:p>
        </p:txBody>
      </p:sp>
      <p:sp>
        <p:nvSpPr>
          <p:cNvPr id="44" name="Текст: 1929-2021"/>
          <p:cNvSpPr txBox="1"/>
          <p:nvPr/>
        </p:nvSpPr>
        <p:spPr>
          <a:xfrm>
            <a:off x="6923286" y="5635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1929-2021</a:t>
            </a:r>
          </a:p>
        </p:txBody>
      </p:sp>
      <p:sp>
        <p:nvSpPr>
          <p:cNvPr id="45" name="Текст: 13"/>
          <p:cNvSpPr txBox="1"/>
          <p:nvPr/>
        </p:nvSpPr>
        <p:spPr>
          <a:xfrm>
            <a:off x="8527058" y="3845052"/>
            <a:ext cx="14118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13</a:t>
            </a:r>
          </a:p>
        </p:txBody>
      </p:sp>
      <p:sp>
        <p:nvSpPr>
          <p:cNvPr id="46" name="Текст: Дж. Гудолл"/>
          <p:cNvSpPr txBox="1"/>
          <p:nvPr/>
        </p:nvSpPr>
        <p:spPr>
          <a:xfrm>
            <a:off x="8488958" y="5466080"/>
            <a:ext cx="72770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lang="ru-RU" sz="1000" b="0" i="0" spc="-1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Дж. Гудолл</a:t>
            </a:r>
          </a:p>
        </p:txBody>
      </p:sp>
      <p:sp>
        <p:nvSpPr>
          <p:cNvPr id="47" name="Текст: 1934-2025"/>
          <p:cNvSpPr txBox="1"/>
          <p:nvPr/>
        </p:nvSpPr>
        <p:spPr>
          <a:xfrm>
            <a:off x="8488958" y="5635752"/>
            <a:ext cx="50172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1934-2025</a:t>
            </a:r>
          </a:p>
        </p:txBody>
      </p:sp>
      <p:sp>
        <p:nvSpPr>
          <p:cNvPr id="48" name="Текст: И ЕЩЕ"/>
          <p:cNvSpPr txBox="1"/>
          <p:nvPr/>
        </p:nvSpPr>
        <p:spPr>
          <a:xfrm>
            <a:off x="10054729" y="3852418"/>
            <a:ext cx="40864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И ЕЩЕ</a:t>
            </a:r>
          </a:p>
        </p:txBody>
      </p:sp>
      <p:sp>
        <p:nvSpPr>
          <p:cNvPr id="49" name="Текст: Либих, Мебиус, Зюсс, Шелфорд, Лотка, Гау"/>
          <p:cNvSpPr txBox="1"/>
          <p:nvPr/>
        </p:nvSpPr>
        <p:spPr>
          <a:xfrm>
            <a:off x="10054729" y="4057412"/>
            <a:ext cx="1359003" cy="4994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11"/>
              </a:lnSpc>
            </a:pPr>
            <a:r>
              <a:rPr lang="ru-RU" sz="9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Либих, Мебиус, Зюсс,</a:t>
            </a:r>
            <a:br>
              <a:rPr lang="ru-RU" sz="9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9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Шелфорд, Лотка, Гаузе,</a:t>
            </a:r>
            <a:br>
              <a:rPr lang="ru-RU" sz="9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9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Линдеман, Кусто</a:t>
            </a:r>
          </a:p>
        </p:txBody>
      </p:sp>
      <p:sp>
        <p:nvSpPr>
          <p:cNvPr id="50" name="Текст: и наши: Вернадский, Сукачев, Кожевников"/>
          <p:cNvSpPr txBox="1"/>
          <p:nvPr/>
        </p:nvSpPr>
        <p:spPr>
          <a:xfrm>
            <a:off x="10054729" y="4620379"/>
            <a:ext cx="1251998" cy="33297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11"/>
              </a:lnSpc>
            </a:pPr>
            <a:r>
              <a:rPr lang="ru-RU" sz="9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и наши: Вернадский,</a:t>
            </a:r>
            <a:br>
              <a:rPr lang="ru-RU" sz="9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9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Сукачев, Кожевников</a:t>
            </a:r>
          </a:p>
        </p:txBody>
      </p:sp>
      <p:pic>
        <p:nvPicPr>
          <p:cNvPr id="51" name="Графика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534150"/>
            <a:ext cx="7943850" cy="138112"/>
          </a:xfrm>
          <a:prstGeom prst="rect">
            <a:avLst/>
          </a:prstGeom>
        </p:spPr>
      </p:pic>
      <p:sp>
        <p:nvSpPr>
          <p:cNvPr id="52" name="Текст: ВВЕДЕНИЕ"/>
          <p:cNvSpPr txBox="1"/>
          <p:nvPr/>
        </p:nvSpPr>
        <p:spPr>
          <a:xfrm>
            <a:off x="660400" y="6483985"/>
            <a:ext cx="56115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ВВЕДЕНИЕ</a:t>
            </a:r>
          </a:p>
        </p:txBody>
      </p:sp>
      <p:sp>
        <p:nvSpPr>
          <p:cNvPr id="53" name="Текст: 03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03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ПЛАН ДОКЛАДА"/>
          <p:cNvSpPr txBox="1"/>
          <p:nvPr/>
        </p:nvSpPr>
        <p:spPr>
          <a:xfrm>
            <a:off x="660400" y="537718"/>
            <a:ext cx="92726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ПЛАН ДОКЛАДА</a:t>
            </a:r>
          </a:p>
        </p:txBody>
      </p:sp>
      <p:sp>
        <p:nvSpPr>
          <p:cNvPr id="3" name="Текст: История в три шага"/>
          <p:cNvSpPr txBox="1"/>
          <p:nvPr/>
        </p:nvSpPr>
        <p:spPr>
          <a:xfrm>
            <a:off x="635000" y="718312"/>
            <a:ext cx="4447096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История в три шага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966912"/>
            <a:ext cx="10877550" cy="66675"/>
          </a:xfrm>
          <a:prstGeom prst="rect">
            <a:avLst/>
          </a:prstGeom>
        </p:spPr>
      </p:pic>
      <p:sp>
        <p:nvSpPr>
          <p:cNvPr id="5" name="Текст: I · XIX ВЕК"/>
          <p:cNvSpPr txBox="1"/>
          <p:nvPr/>
        </p:nvSpPr>
        <p:spPr>
          <a:xfrm>
            <a:off x="660400" y="2176018"/>
            <a:ext cx="853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· XIX ВЕК</a:t>
            </a:r>
          </a:p>
        </p:txBody>
      </p:sp>
      <p:sp>
        <p:nvSpPr>
          <p:cNvPr id="6" name="Текст: Описывать"/>
          <p:cNvSpPr txBox="1"/>
          <p:nvPr/>
        </p:nvSpPr>
        <p:spPr>
          <a:xfrm>
            <a:off x="660400" y="2392537"/>
            <a:ext cx="1629354" cy="3505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60"/>
              </a:lnSpc>
            </a:pPr>
            <a:r>
              <a:rPr lang="ru-RU" sz="2300" b="0" i="0" spc="-69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Описывать</a:t>
            </a:r>
          </a:p>
        </p:txBody>
      </p:sp>
      <p:sp>
        <p:nvSpPr>
          <p:cNvPr id="7" name="Текст: Что где растет и живет, и как все связан"/>
          <p:cNvSpPr txBox="1"/>
          <p:nvPr/>
        </p:nvSpPr>
        <p:spPr>
          <a:xfrm>
            <a:off x="660400" y="2784792"/>
            <a:ext cx="2262100" cy="4030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7"/>
              </a:lnSpc>
            </a:pP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Что где растет и живет, и как все</a:t>
            </a:r>
            <a:b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связано</a:t>
            </a:r>
          </a:p>
        </p:txBody>
      </p:sp>
      <p:sp>
        <p:nvSpPr>
          <p:cNvPr id="8" name="Текст: II · 1920-1950-Е"/>
          <p:cNvSpPr txBox="1"/>
          <p:nvPr/>
        </p:nvSpPr>
        <p:spPr>
          <a:xfrm>
            <a:off x="3441700" y="2176018"/>
            <a:ext cx="122372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· 1920-1950-Е</a:t>
            </a:r>
          </a:p>
        </p:txBody>
      </p:sp>
      <p:sp>
        <p:nvSpPr>
          <p:cNvPr id="9" name="Текст: Считать"/>
          <p:cNvSpPr txBox="1"/>
          <p:nvPr/>
        </p:nvSpPr>
        <p:spPr>
          <a:xfrm>
            <a:off x="3441700" y="2392537"/>
            <a:ext cx="1202880" cy="3505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60"/>
              </a:lnSpc>
            </a:pPr>
            <a:r>
              <a:rPr lang="ru-RU" sz="2300" b="0" i="0" spc="-69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Считать</a:t>
            </a:r>
          </a:p>
        </p:txBody>
      </p:sp>
      <p:sp>
        <p:nvSpPr>
          <p:cNvPr id="10" name="Текст: Цифры, графики, уравнения: экология стан"/>
          <p:cNvSpPr txBox="1"/>
          <p:nvPr/>
        </p:nvSpPr>
        <p:spPr>
          <a:xfrm>
            <a:off x="3441700" y="2784792"/>
            <a:ext cx="2590546" cy="4030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7"/>
              </a:lnSpc>
            </a:pP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Цифры, графики, уравнения: экология</a:t>
            </a:r>
            <a:b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становится наукой</a:t>
            </a:r>
          </a:p>
        </p:txBody>
      </p:sp>
      <p:sp>
        <p:nvSpPr>
          <p:cNvPr id="11" name="Текст: III · С СЕРЕДИНЫ XX ВЕКА"/>
          <p:cNvSpPr txBox="1"/>
          <p:nvPr/>
        </p:nvSpPr>
        <p:spPr>
          <a:xfrm>
            <a:off x="6223000" y="2176018"/>
            <a:ext cx="181643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· С СЕРЕДИНЫ XX ВЕКА</a:t>
            </a:r>
          </a:p>
        </p:txBody>
      </p:sp>
      <p:sp>
        <p:nvSpPr>
          <p:cNvPr id="12" name="Текст: Предупреждать"/>
          <p:cNvSpPr txBox="1"/>
          <p:nvPr/>
        </p:nvSpPr>
        <p:spPr>
          <a:xfrm>
            <a:off x="6223000" y="2392537"/>
            <a:ext cx="2376019" cy="3505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60"/>
              </a:lnSpc>
            </a:pPr>
            <a:r>
              <a:rPr lang="ru-RU" sz="2300" b="0" i="0" spc="-69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Предупреждать</a:t>
            </a:r>
          </a:p>
        </p:txBody>
      </p:sp>
      <p:sp>
        <p:nvSpPr>
          <p:cNvPr id="13" name="Текст: Книги, после которых мир испугался за пр"/>
          <p:cNvSpPr txBox="1"/>
          <p:nvPr/>
        </p:nvSpPr>
        <p:spPr>
          <a:xfrm>
            <a:off x="6223000" y="2784792"/>
            <a:ext cx="2513465" cy="4030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7"/>
              </a:lnSpc>
            </a:pP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Книги, после которых мир испугался</a:t>
            </a:r>
            <a:b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за природу</a:t>
            </a:r>
          </a:p>
        </p:txBody>
      </p:sp>
      <p:sp>
        <p:nvSpPr>
          <p:cNvPr id="14" name="Текст: IV · ДАЛЬШЕ"/>
          <p:cNvSpPr txBox="1"/>
          <p:nvPr/>
        </p:nvSpPr>
        <p:spPr>
          <a:xfrm>
            <a:off x="9004300" y="2176018"/>
            <a:ext cx="853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A7400"/>
                </a:solidFill>
                <a:latin typeface="IBM Plex Mono Medium"/>
                <a:ea typeface="IBM Plex Mono Medium"/>
                <a:cs typeface="IBM Plex Mono Medium"/>
              </a:rPr>
              <a:t>IV · ДАЛЬШЕ</a:t>
            </a:r>
          </a:p>
        </p:txBody>
      </p:sp>
      <p:sp>
        <p:nvSpPr>
          <p:cNvPr id="15" name="Текст: Вся планета"/>
          <p:cNvSpPr txBox="1"/>
          <p:nvPr/>
        </p:nvSpPr>
        <p:spPr>
          <a:xfrm>
            <a:off x="9004300" y="2392537"/>
            <a:ext cx="1727795" cy="3505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60"/>
              </a:lnSpc>
            </a:pPr>
            <a:r>
              <a:rPr lang="ru-RU" sz="2300" b="0" i="0" spc="-69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Вся планета</a:t>
            </a:r>
          </a:p>
        </p:txBody>
      </p:sp>
      <p:sp>
        <p:nvSpPr>
          <p:cNvPr id="16" name="Текст: Земля как одна система. И при чем тут на"/>
          <p:cNvSpPr txBox="1"/>
          <p:nvPr/>
        </p:nvSpPr>
        <p:spPr>
          <a:xfrm>
            <a:off x="9004300" y="2784792"/>
            <a:ext cx="2429677" cy="4030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7"/>
              </a:lnSpc>
            </a:pP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Земля как одна система. И при чем</a:t>
            </a:r>
            <a:b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50" b="0" i="0" spc="-12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тут наша наука</a:t>
            </a:r>
          </a:p>
        </p:txBody>
      </p:sp>
      <p:pic>
        <p:nvPicPr>
          <p:cNvPr id="17" name="Графика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953000"/>
            <a:ext cx="10877550" cy="842962"/>
          </a:xfrm>
          <a:prstGeom prst="rect">
            <a:avLst/>
          </a:prstGeom>
        </p:spPr>
      </p:pic>
      <p:pic>
        <p:nvPicPr>
          <p:cNvPr id="18" name="Графика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534150"/>
            <a:ext cx="7943850" cy="138112"/>
          </a:xfrm>
          <a:prstGeom prst="rect">
            <a:avLst/>
          </a:prstGeom>
        </p:spPr>
      </p:pic>
      <p:sp>
        <p:nvSpPr>
          <p:cNvPr id="19" name="Текст: ВВЕДЕНИЕ"/>
          <p:cNvSpPr txBox="1"/>
          <p:nvPr/>
        </p:nvSpPr>
        <p:spPr>
          <a:xfrm>
            <a:off x="660400" y="6483985"/>
            <a:ext cx="56115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ВВЕДЕНИЕ</a:t>
            </a:r>
          </a:p>
        </p:txBody>
      </p:sp>
      <p:sp>
        <p:nvSpPr>
          <p:cNvPr id="20" name="Текст: 04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04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B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412" y="0"/>
            <a:ext cx="5462588" cy="6858000"/>
          </a:xfrm>
          <a:prstGeom prst="rect">
            <a:avLst/>
          </a:prstGeom>
        </p:spPr>
      </p:pic>
      <p:sp>
        <p:nvSpPr>
          <p:cNvPr id="3" name="Текст: А. Гумбольдт, Э. Бонплан. «Картина приро"/>
          <p:cNvSpPr txBox="1"/>
          <p:nvPr/>
        </p:nvSpPr>
        <p:spPr>
          <a:xfrm>
            <a:off x="8559205" y="6635579"/>
            <a:ext cx="365771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2A2A28"/>
                </a:solidFill>
                <a:latin typeface="IBM Plex Mono"/>
                <a:ea typeface="IBM Plex Mono"/>
                <a:cs typeface="IBM Plex Mono"/>
              </a:rPr>
              <a:t>А. Гумбольдт, Э. Бонплан. «Картина природы», гравюра · Public domain</a:t>
            </a:r>
          </a:p>
        </p:txBody>
      </p:sp>
      <p:sp>
        <p:nvSpPr>
          <p:cNvPr id="4" name="Текст: ЧАСТЬ I · XIX ВЕК"/>
          <p:cNvSpPr txBox="1"/>
          <p:nvPr/>
        </p:nvSpPr>
        <p:spPr>
          <a:xfrm>
            <a:off x="660400" y="537718"/>
            <a:ext cx="129781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ЧАСТЬ I · XIX ВЕК</a:t>
            </a:r>
          </a:p>
        </p:txBody>
      </p:sp>
      <p:sp>
        <p:nvSpPr>
          <p:cNvPr id="5" name="Текст: I"/>
          <p:cNvSpPr txBox="1"/>
          <p:nvPr/>
        </p:nvSpPr>
        <p:spPr>
          <a:xfrm>
            <a:off x="609600" y="610870"/>
            <a:ext cx="800862" cy="2514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800"/>
              </a:lnSpc>
            </a:pPr>
            <a:r>
              <a:rPr lang="ru-RU" sz="16500" b="0" i="1" spc="-248">
                <a:solidFill>
                  <a:srgbClr val="F1EFEA">
                    <a:alpha val="35000"/>
                  </a:srgbClr>
                </a:solidFill>
                <a:latin typeface="Spectral"/>
                <a:ea typeface="Spectral"/>
                <a:cs typeface="Spectral"/>
              </a:rPr>
              <a:t>I</a:t>
            </a:r>
          </a:p>
        </p:txBody>
      </p:sp>
      <p:sp>
        <p:nvSpPr>
          <p:cNvPr id="6" name="Текст: Описывать"/>
          <p:cNvSpPr txBox="1"/>
          <p:nvPr/>
        </p:nvSpPr>
        <p:spPr>
          <a:xfrm>
            <a:off x="609600" y="3232150"/>
            <a:ext cx="5092946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38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Описывать</a:t>
            </a:r>
          </a:p>
        </p:txBody>
      </p:sp>
      <p:sp>
        <p:nvSpPr>
          <p:cNvPr id="7" name="Текст: Экологии еще нет, но ее уже придумывают"/>
          <p:cNvSpPr txBox="1"/>
          <p:nvPr/>
        </p:nvSpPr>
        <p:spPr>
          <a:xfrm>
            <a:off x="660400" y="4574286"/>
            <a:ext cx="4299021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Экологии еще нет, но ее уже придумывают</a:t>
            </a:r>
          </a:p>
        </p:txBody>
      </p:sp>
      <p:sp>
        <p:nvSpPr>
          <p:cNvPr id="8" name="Текст: ГУМБОЛЬДТ · ГЕККЕЛЬ · ЛИБИХ"/>
          <p:cNvSpPr txBox="1"/>
          <p:nvPr/>
        </p:nvSpPr>
        <p:spPr>
          <a:xfrm>
            <a:off x="660400" y="5147818"/>
            <a:ext cx="203880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ГУМБОЛЬДТ · ГЕККЕЛЬ · ЛИБИХ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429375"/>
            <a:ext cx="2886075" cy="242888"/>
          </a:xfrm>
          <a:prstGeom prst="rect">
            <a:avLst/>
          </a:prstGeom>
        </p:spPr>
      </p:pic>
      <p:sp>
        <p:nvSpPr>
          <p:cNvPr id="10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11" name="Текст: 05 / 44"/>
          <p:cNvSpPr txBox="1"/>
          <p:nvPr/>
        </p:nvSpPr>
        <p:spPr>
          <a:xfrm>
            <a:off x="59811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05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3814762" cy="4953000"/>
          </a:xfrm>
          <a:prstGeom prst="rect">
            <a:avLst/>
          </a:prstGeom>
        </p:spPr>
      </p:pic>
      <p:sp>
        <p:nvSpPr>
          <p:cNvPr id="3" name="Текст: Й. Штилер. Портрет Гумбольдта, 1843 · Pu"/>
          <p:cNvSpPr txBox="1"/>
          <p:nvPr/>
        </p:nvSpPr>
        <p:spPr>
          <a:xfrm>
            <a:off x="660400" y="5553202"/>
            <a:ext cx="2752757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Й. Штилер. Портрет Гумбольдта, 1843 · Public domain</a:t>
            </a:r>
          </a:p>
        </p:txBody>
      </p:sp>
      <p:sp>
        <p:nvSpPr>
          <p:cNvPr id="4" name="Текст: 01 · 1769-1859 · ГЕРМАНИЯ · ПУТЕШЕСТВЕНН"/>
          <p:cNvSpPr txBox="1"/>
          <p:nvPr/>
        </p:nvSpPr>
        <p:spPr>
          <a:xfrm>
            <a:off x="5080000" y="537718"/>
            <a:ext cx="315033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01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1769-1859 · ГЕРМАНИЯ · ПУТЕШЕСТВЕННИК</a:t>
            </a:r>
          </a:p>
        </p:txBody>
      </p:sp>
      <p:sp>
        <p:nvSpPr>
          <p:cNvPr id="5" name="Текст: Александр фон Гумбольдт"/>
          <p:cNvSpPr txBox="1"/>
          <p:nvPr/>
        </p:nvSpPr>
        <p:spPr>
          <a:xfrm>
            <a:off x="5054600" y="829310"/>
            <a:ext cx="3599410" cy="911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588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Александр</a:t>
            </a:r>
            <a:b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фон Гумбольдт</a:t>
            </a:r>
          </a:p>
        </p:txBody>
      </p:sp>
      <p:sp>
        <p:nvSpPr>
          <p:cNvPr id="6" name="Текст: «Все есть взаимодействие»"/>
          <p:cNvSpPr txBox="1"/>
          <p:nvPr/>
        </p:nvSpPr>
        <p:spPr>
          <a:xfrm>
            <a:off x="5080000" y="2025904"/>
            <a:ext cx="5846215" cy="579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560"/>
              </a:lnSpc>
            </a:pPr>
            <a:r>
              <a:rPr lang="ru-RU" sz="3800" b="0" i="1" spc="-57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«Все есть взаимодействие»</a:t>
            </a:r>
          </a:p>
        </p:txBody>
      </p:sp>
      <p:sp>
        <p:nvSpPr>
          <p:cNvPr id="7" name="Текст: ЗАПИСЬ ИЗ ДНЕВНИКА"/>
          <p:cNvSpPr txBox="1"/>
          <p:nvPr/>
        </p:nvSpPr>
        <p:spPr>
          <a:xfrm>
            <a:off x="5080000" y="2722118"/>
            <a:ext cx="137190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ЗАПИСЬ ИЗ ДНЕВНИКА</a:t>
            </a:r>
          </a:p>
        </p:txBody>
      </p:sp>
      <p:pic>
        <p:nvPicPr>
          <p:cNvPr id="8" name="Графика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4062412"/>
            <a:ext cx="6457950" cy="9525"/>
          </a:xfrm>
          <a:prstGeom prst="rect">
            <a:avLst/>
          </a:prstGeom>
        </p:spPr>
      </p:pic>
      <p:sp>
        <p:nvSpPr>
          <p:cNvPr id="9" name="Текст: 1800 · ВЕНЕСУЭЛА: ОЗЕРО ВАЛЕНСИЯ МЕЛЕЕТ."/>
          <p:cNvSpPr txBox="1"/>
          <p:nvPr/>
        </p:nvSpPr>
        <p:spPr>
          <a:xfrm>
            <a:off x="5080000" y="4220718"/>
            <a:ext cx="359487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1800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ВЕНЕСУЭЛА: ОЗЕРО ВАЛЕНСИЯ МЕЛЕЕТ. ПОЧЕМУ?</a:t>
            </a:r>
          </a:p>
        </p:txBody>
      </p:sp>
      <p:sp>
        <p:nvSpPr>
          <p:cNvPr id="10" name="Текст: вырубили лес"/>
          <p:cNvSpPr txBox="1"/>
          <p:nvPr/>
        </p:nvSpPr>
        <p:spPr>
          <a:xfrm>
            <a:off x="5080000" y="4528058"/>
            <a:ext cx="1136428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вырубили лес</a:t>
            </a:r>
          </a:p>
        </p:txBody>
      </p:sp>
      <p:sp>
        <p:nvSpPr>
          <p:cNvPr id="11" name="Текст: →"/>
          <p:cNvSpPr txBox="1"/>
          <p:nvPr/>
        </p:nvSpPr>
        <p:spPr>
          <a:xfrm>
            <a:off x="6237684" y="45344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2" name="Текст: почва пересохла, ручьи пропали"/>
          <p:cNvSpPr txBox="1"/>
          <p:nvPr/>
        </p:nvSpPr>
        <p:spPr>
          <a:xfrm>
            <a:off x="6440488" y="4528058"/>
            <a:ext cx="2618716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почва пересохла, ручьи пропали</a:t>
            </a:r>
          </a:p>
        </p:txBody>
      </p:sp>
      <p:sp>
        <p:nvSpPr>
          <p:cNvPr id="13" name="Текст: →"/>
          <p:cNvSpPr txBox="1"/>
          <p:nvPr/>
        </p:nvSpPr>
        <p:spPr>
          <a:xfrm>
            <a:off x="9023449" y="45344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4" name="Текст: озеро мелеет"/>
          <p:cNvSpPr txBox="1"/>
          <p:nvPr/>
        </p:nvSpPr>
        <p:spPr>
          <a:xfrm>
            <a:off x="9226252" y="4528058"/>
            <a:ext cx="1161090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1E5B3A"/>
                </a:solidFill>
                <a:latin typeface="Inter Tight SemiBold"/>
                <a:ea typeface="Inter Tight SemiBold"/>
                <a:cs typeface="Inter Tight SemiBold"/>
              </a:rPr>
              <a:t>озеро мелеет</a:t>
            </a:r>
          </a:p>
        </p:txBody>
      </p:sp>
      <p:sp>
        <p:nvSpPr>
          <p:cNvPr id="15" name="Текст: Человек сам меняет природу вокруг себя"/>
          <p:cNvSpPr txBox="1"/>
          <p:nvPr/>
        </p:nvSpPr>
        <p:spPr>
          <a:xfrm>
            <a:off x="5080000" y="5082286"/>
            <a:ext cx="4215852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Человек </a:t>
            </a:r>
            <a:r>
              <a:rPr lang="ru-RU" sz="1700" b="0" i="0" spc="-26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сам меняет </a:t>
            </a: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природу вокруг себя</a:t>
            </a:r>
          </a:p>
        </p:txBody>
      </p:sp>
      <p:pic>
        <p:nvPicPr>
          <p:cNvPr id="16" name="Графика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7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18" name="Текст: 06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06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1802 · ВУЛКАН ЧИМБОРАСО, АНДЫ"/>
          <p:cNvSpPr txBox="1"/>
          <p:nvPr/>
        </p:nvSpPr>
        <p:spPr>
          <a:xfrm>
            <a:off x="660400" y="537718"/>
            <a:ext cx="218698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1802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ВУЛКАН ЧИМБОРАСО, АНДЫ</a:t>
            </a:r>
          </a:p>
        </p:txBody>
      </p:sp>
      <p:sp>
        <p:nvSpPr>
          <p:cNvPr id="3" name="Текст: Гора в разрезе"/>
          <p:cNvSpPr txBox="1"/>
          <p:nvPr/>
        </p:nvSpPr>
        <p:spPr>
          <a:xfrm>
            <a:off x="635000" y="718312"/>
            <a:ext cx="3379827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Гора в разрезе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8" y="1900238"/>
            <a:ext cx="6757988" cy="4819650"/>
          </a:xfrm>
          <a:prstGeom prst="rect">
            <a:avLst/>
          </a:prstGeom>
        </p:spPr>
      </p:pic>
      <p:sp>
        <p:nvSpPr>
          <p:cNvPr id="5" name="Текст: СЮДА ДОШЕЛ ГУМБОЛЬДТ"/>
          <p:cNvSpPr txBox="1"/>
          <p:nvPr/>
        </p:nvSpPr>
        <p:spPr>
          <a:xfrm>
            <a:off x="900398" y="1753676"/>
            <a:ext cx="1258602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840"/>
              </a:lnSpc>
            </a:pPr>
            <a:r>
              <a:rPr lang="ru-RU" sz="700" b="0" i="0" spc="42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СЮДА ДОШЕЛ ГУМБОЛЬДТ</a:t>
            </a:r>
          </a:p>
        </p:txBody>
      </p:sp>
      <p:sp>
        <p:nvSpPr>
          <p:cNvPr id="6" name="Текст: почти 5900 м"/>
          <p:cNvSpPr txBox="1"/>
          <p:nvPr/>
        </p:nvSpPr>
        <p:spPr>
          <a:xfrm>
            <a:off x="1157129" y="1866646"/>
            <a:ext cx="1001871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1E5B3A"/>
                </a:solidFill>
                <a:latin typeface="Inter Tight Medium"/>
                <a:ea typeface="Inter Tight Medium"/>
                <a:cs typeface="Inter Tight Medium"/>
              </a:rPr>
              <a:t>почти 5900 м</a:t>
            </a:r>
          </a:p>
        </p:txBody>
      </p:sp>
      <p:sp>
        <p:nvSpPr>
          <p:cNvPr id="7" name="Текст: снег"/>
          <p:cNvSpPr txBox="1"/>
          <p:nvPr/>
        </p:nvSpPr>
        <p:spPr>
          <a:xfrm>
            <a:off x="6604000" y="2443256"/>
            <a:ext cx="354266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снег</a:t>
            </a:r>
          </a:p>
        </p:txBody>
      </p:sp>
      <p:sp>
        <p:nvSpPr>
          <p:cNvPr id="8" name="Текст: лишайники"/>
          <p:cNvSpPr txBox="1"/>
          <p:nvPr/>
        </p:nvSpPr>
        <p:spPr>
          <a:xfrm>
            <a:off x="6604000" y="2900456"/>
            <a:ext cx="842653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лишайники</a:t>
            </a:r>
          </a:p>
        </p:txBody>
      </p:sp>
      <p:sp>
        <p:nvSpPr>
          <p:cNvPr id="9" name="Текст: луга"/>
          <p:cNvSpPr txBox="1"/>
          <p:nvPr/>
        </p:nvSpPr>
        <p:spPr>
          <a:xfrm>
            <a:off x="6604000" y="3357656"/>
            <a:ext cx="345805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луга</a:t>
            </a:r>
          </a:p>
        </p:txBody>
      </p:sp>
      <p:sp>
        <p:nvSpPr>
          <p:cNvPr id="10" name="Текст: леса как в Европе"/>
          <p:cNvSpPr txBox="1"/>
          <p:nvPr/>
        </p:nvSpPr>
        <p:spPr>
          <a:xfrm>
            <a:off x="6604000" y="3814856"/>
            <a:ext cx="1311331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леса как в Европе</a:t>
            </a:r>
          </a:p>
        </p:txBody>
      </p:sp>
      <p:sp>
        <p:nvSpPr>
          <p:cNvPr id="11" name="Текст: тропический лес"/>
          <p:cNvSpPr txBox="1"/>
          <p:nvPr/>
        </p:nvSpPr>
        <p:spPr>
          <a:xfrm>
            <a:off x="6654800" y="4405406"/>
            <a:ext cx="1254681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тропический лес</a:t>
            </a:r>
          </a:p>
        </p:txBody>
      </p:sp>
      <p:pic>
        <p:nvPicPr>
          <p:cNvPr id="12" name="Графика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785812"/>
            <a:ext cx="2390775" cy="1628775"/>
          </a:xfrm>
          <a:prstGeom prst="rect">
            <a:avLst/>
          </a:prstGeom>
        </p:spPr>
      </p:pic>
      <p:sp>
        <p:nvSpPr>
          <p:cNvPr id="13" name="Текст: «Картина природы» Гумбольдта и Бонплана "/>
          <p:cNvSpPr txBox="1"/>
          <p:nvPr/>
        </p:nvSpPr>
        <p:spPr>
          <a:xfrm>
            <a:off x="9144000" y="2482612"/>
            <a:ext cx="2220516" cy="2228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77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«Картина природы» Гумбольдта и Бонплана ·</a:t>
            </a:r>
            <a:b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</a:b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Public domain</a:t>
            </a:r>
          </a:p>
        </p:txBody>
      </p:sp>
      <p:sp>
        <p:nvSpPr>
          <p:cNvPr id="14" name="Текст: Одна из первых схем, где видно, как жизн"/>
          <p:cNvSpPr txBox="1"/>
          <p:nvPr/>
        </p:nvSpPr>
        <p:spPr>
          <a:xfrm>
            <a:off x="9144000" y="2816939"/>
            <a:ext cx="2490145" cy="4030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7"/>
              </a:lnSpc>
            </a:pPr>
            <a: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Одна из первых схем, где видно, как</a:t>
            </a:r>
            <a:b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жизнь </a:t>
            </a:r>
            <a:r>
              <a:rPr lang="ru-RU" sz="1150" b="0" i="0" spc="-1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зависит от климата</a:t>
            </a:r>
          </a:p>
        </p:txBody>
      </p:sp>
      <p:pic>
        <p:nvPicPr>
          <p:cNvPr id="15" name="Графика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443412"/>
            <a:ext cx="2390775" cy="28575"/>
          </a:xfrm>
          <a:prstGeom prst="rect">
            <a:avLst/>
          </a:prstGeom>
        </p:spPr>
      </p:pic>
      <p:sp>
        <p:nvSpPr>
          <p:cNvPr id="16" name="Текст: Подъем в гору = путь от экватора к полюс"/>
          <p:cNvSpPr txBox="1"/>
          <p:nvPr/>
        </p:nvSpPr>
        <p:spPr>
          <a:xfrm>
            <a:off x="9144000" y="4592717"/>
            <a:ext cx="1901666" cy="75574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84"/>
              </a:lnSpc>
            </a:pPr>
            <a:r>
              <a:rPr lang="ru-RU" sz="1600" b="0" i="0" spc="-2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Подъем в гору</a:t>
            </a:r>
            <a:br>
              <a:rPr lang="ru-RU" sz="1600" b="0" i="0" spc="-2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600" b="0" i="0" spc="-2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= путь от экватора к</a:t>
            </a:r>
            <a:br>
              <a:rPr lang="ru-RU" sz="1600" b="0" i="0" spc="-2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600" b="0" i="0" spc="-24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полюсу</a:t>
            </a:r>
          </a:p>
        </p:txBody>
      </p:sp>
      <p:pic>
        <p:nvPicPr>
          <p:cNvPr id="17" name="Графика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8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19" name="Текст: 07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07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975" y="0"/>
            <a:ext cx="7058025" cy="6858000"/>
          </a:xfrm>
          <a:prstGeom prst="rect">
            <a:avLst/>
          </a:prstGeom>
        </p:spPr>
      </p:pic>
      <p:sp>
        <p:nvSpPr>
          <p:cNvPr id="3" name="Текст: Петербург"/>
          <p:cNvSpPr txBox="1"/>
          <p:nvPr/>
        </p:nvSpPr>
        <p:spPr>
          <a:xfrm>
            <a:off x="7022064" y="1164028"/>
            <a:ext cx="797663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Петербург</a:t>
            </a:r>
          </a:p>
        </p:txBody>
      </p:sp>
      <p:sp>
        <p:nvSpPr>
          <p:cNvPr id="4" name="Текст: Москва"/>
          <p:cNvSpPr txBox="1"/>
          <p:nvPr/>
        </p:nvSpPr>
        <p:spPr>
          <a:xfrm>
            <a:off x="7320264" y="2425396"/>
            <a:ext cx="584891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Москва</a:t>
            </a:r>
          </a:p>
        </p:txBody>
      </p:sp>
      <p:sp>
        <p:nvSpPr>
          <p:cNvPr id="5" name="Текст: Казань"/>
          <p:cNvSpPr txBox="1"/>
          <p:nvPr/>
        </p:nvSpPr>
        <p:spPr>
          <a:xfrm>
            <a:off x="8353647" y="2722259"/>
            <a:ext cx="537940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Казань</a:t>
            </a:r>
          </a:p>
        </p:txBody>
      </p:sp>
      <p:sp>
        <p:nvSpPr>
          <p:cNvPr id="6" name="Текст: Урал"/>
          <p:cNvSpPr txBox="1"/>
          <p:nvPr/>
        </p:nvSpPr>
        <p:spPr>
          <a:xfrm>
            <a:off x="9719866" y="1290731"/>
            <a:ext cx="382746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Урал</a:t>
            </a:r>
          </a:p>
        </p:txBody>
      </p:sp>
      <p:sp>
        <p:nvSpPr>
          <p:cNvPr id="7" name="Текст: Алтай"/>
          <p:cNvSpPr txBox="1"/>
          <p:nvPr/>
        </p:nvSpPr>
        <p:spPr>
          <a:xfrm>
            <a:off x="11119743" y="2753116"/>
            <a:ext cx="464058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Алтай</a:t>
            </a:r>
          </a:p>
        </p:txBody>
      </p:sp>
      <p:sp>
        <p:nvSpPr>
          <p:cNvPr id="8" name="Текст: 1829 · ПО ПРИГЛАШЕНИЮ МИНИСТРА Е. Ф. КАН"/>
          <p:cNvSpPr txBox="1"/>
          <p:nvPr/>
        </p:nvSpPr>
        <p:spPr>
          <a:xfrm>
            <a:off x="660400" y="537718"/>
            <a:ext cx="337260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1829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ПО ПРИГЛАШЕНИЮ МИНИСТРА Е. Ф. КАНКРИНА</a:t>
            </a:r>
          </a:p>
        </p:txBody>
      </p:sp>
      <p:sp>
        <p:nvSpPr>
          <p:cNvPr id="9" name="Текст: Гумбольдт в России"/>
          <p:cNvSpPr txBox="1"/>
          <p:nvPr/>
        </p:nvSpPr>
        <p:spPr>
          <a:xfrm>
            <a:off x="635000" y="829310"/>
            <a:ext cx="2582704" cy="911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588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Гумбольдт</a:t>
            </a:r>
            <a:b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в России</a:t>
            </a:r>
          </a:p>
        </p:txBody>
      </p:sp>
      <p:sp>
        <p:nvSpPr>
          <p:cNvPr id="10" name="Текст: 15 000+"/>
          <p:cNvSpPr txBox="1"/>
          <p:nvPr/>
        </p:nvSpPr>
        <p:spPr>
          <a:xfrm>
            <a:off x="609600" y="2317750"/>
            <a:ext cx="3590433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15 000+</a:t>
            </a:r>
          </a:p>
        </p:txBody>
      </p:sp>
      <p:sp>
        <p:nvSpPr>
          <p:cNvPr id="11" name="Текст: километров: от Петербурга до Алтая и обр"/>
          <p:cNvSpPr txBox="1"/>
          <p:nvPr/>
        </p:nvSpPr>
        <p:spPr>
          <a:xfrm>
            <a:off x="660400" y="3424396"/>
            <a:ext cx="3829002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километров: от Петербурга до Алтая и</a:t>
            </a:r>
            <a:b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обратно</a:t>
            </a:r>
          </a:p>
        </p:txBody>
      </p:sp>
      <p:pic>
        <p:nvPicPr>
          <p:cNvPr id="12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314825"/>
            <a:ext cx="3943350" cy="9525"/>
          </a:xfrm>
          <a:prstGeom prst="rect">
            <a:avLst/>
          </a:prstGeom>
        </p:spPr>
      </p:pic>
      <p:sp>
        <p:nvSpPr>
          <p:cNvPr id="13" name="Текст: В дороге ему исполнилось 60 лет"/>
          <p:cNvSpPr txBox="1"/>
          <p:nvPr/>
        </p:nvSpPr>
        <p:spPr>
          <a:xfrm>
            <a:off x="660400" y="4450842"/>
            <a:ext cx="2306058" cy="1752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80"/>
              </a:lnSpc>
            </a:pPr>
            <a: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 дороге ему исполнилось 60 лет</a:t>
            </a:r>
          </a:p>
        </p:txBody>
      </p:sp>
      <p:pic>
        <p:nvPicPr>
          <p:cNvPr id="14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772025"/>
            <a:ext cx="3943350" cy="9525"/>
          </a:xfrm>
          <a:prstGeom prst="rect">
            <a:avLst/>
          </a:prstGeom>
        </p:spPr>
      </p:pic>
      <p:sp>
        <p:nvSpPr>
          <p:cNvPr id="15" name="Текст: Обещал алмазы на Урале. Первый русский а"/>
          <p:cNvSpPr txBox="1"/>
          <p:nvPr/>
        </p:nvSpPr>
        <p:spPr>
          <a:xfrm>
            <a:off x="660400" y="4887039"/>
            <a:ext cx="4130413" cy="4030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7"/>
              </a:lnSpc>
            </a:pPr>
            <a: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Обещал алмазы на Урале. Первый русский алмаз нашли тем</a:t>
            </a:r>
            <a:b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же летом: его поднял 14-летний Павел Попов</a:t>
            </a:r>
          </a:p>
        </p:txBody>
      </p:sp>
      <p:pic>
        <p:nvPicPr>
          <p:cNvPr id="16" name="Графика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5524500"/>
            <a:ext cx="3943350" cy="9525"/>
          </a:xfrm>
          <a:prstGeom prst="rect">
            <a:avLst/>
          </a:prstGeom>
        </p:spPr>
      </p:pic>
      <p:sp>
        <p:nvSpPr>
          <p:cNvPr id="17" name="Текст: С 1818 года почетный член Петербургской "/>
          <p:cNvSpPr txBox="1"/>
          <p:nvPr/>
        </p:nvSpPr>
        <p:spPr>
          <a:xfrm>
            <a:off x="660400" y="5657342"/>
            <a:ext cx="3911036" cy="1752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80"/>
              </a:lnSpc>
            </a:pPr>
            <a:r>
              <a:rPr lang="ru-RU" sz="11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 1818 года почетный член Петербургской академии наук</a:t>
            </a:r>
          </a:p>
        </p:txBody>
      </p:sp>
      <p:pic>
        <p:nvPicPr>
          <p:cNvPr id="18" name="Графика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9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20" name="Текст: 08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08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3562350" cy="4829175"/>
          </a:xfrm>
          <a:prstGeom prst="rect">
            <a:avLst/>
          </a:prstGeom>
        </p:spPr>
      </p:pic>
      <p:sp>
        <p:nvSpPr>
          <p:cNvPr id="3" name="Текст: Эрнст Геккель · Public domain"/>
          <p:cNvSpPr txBox="1"/>
          <p:nvPr/>
        </p:nvSpPr>
        <p:spPr>
          <a:xfrm>
            <a:off x="660400" y="5426202"/>
            <a:ext cx="1581785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Эрнст Геккель · Public domain</a:t>
            </a:r>
          </a:p>
        </p:txBody>
      </p:sp>
      <p:sp>
        <p:nvSpPr>
          <p:cNvPr id="4" name="Текст: 02 · 1834-1919 · ГЕРМАНИЯ · ЗООЛОГ, ЙЕНА"/>
          <p:cNvSpPr txBox="1"/>
          <p:nvPr/>
        </p:nvSpPr>
        <p:spPr>
          <a:xfrm>
            <a:off x="4826000" y="537718"/>
            <a:ext cx="30020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02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1834-1919 · ГЕРМАНИЯ · ЗООЛОГ, ЙЕНА</a:t>
            </a:r>
          </a:p>
        </p:txBody>
      </p:sp>
      <p:sp>
        <p:nvSpPr>
          <p:cNvPr id="5" name="Текст: Эрнст Геккель"/>
          <p:cNvSpPr txBox="1"/>
          <p:nvPr/>
        </p:nvSpPr>
        <p:spPr>
          <a:xfrm>
            <a:off x="4800600" y="718312"/>
            <a:ext cx="3364452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Эрнст Геккель</a:t>
            </a:r>
          </a:p>
        </p:txBody>
      </p:sp>
      <p:sp>
        <p:nvSpPr>
          <p:cNvPr id="6" name="Текст: 1866"/>
          <p:cNvSpPr txBox="1"/>
          <p:nvPr/>
        </p:nvSpPr>
        <p:spPr>
          <a:xfrm>
            <a:off x="4775200" y="1543050"/>
            <a:ext cx="2185948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1866</a:t>
            </a:r>
          </a:p>
        </p:txBody>
      </p:sp>
      <p:sp>
        <p:nvSpPr>
          <p:cNvPr id="7" name="Текст: придумал слово «экология»"/>
          <p:cNvSpPr txBox="1"/>
          <p:nvPr/>
        </p:nvSpPr>
        <p:spPr>
          <a:xfrm>
            <a:off x="7556500" y="1900396"/>
            <a:ext cx="1653500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придумал слово</a:t>
            </a:r>
            <a:br>
              <a:rPr lang="ru-RU" sz="1700" b="0" i="0" spc="-26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700" b="0" i="0" spc="-26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«экология»</a:t>
            </a:r>
          </a:p>
        </p:txBody>
      </p:sp>
      <p:pic>
        <p:nvPicPr>
          <p:cNvPr id="8" name="Графика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412" y="3171825"/>
            <a:ext cx="6710362" cy="9525"/>
          </a:xfrm>
          <a:prstGeom prst="rect">
            <a:avLst/>
          </a:prstGeom>
        </p:spPr>
      </p:pic>
      <p:sp>
        <p:nvSpPr>
          <p:cNvPr id="9" name="Текст: οἶκος"/>
          <p:cNvSpPr txBox="1"/>
          <p:nvPr/>
        </p:nvSpPr>
        <p:spPr>
          <a:xfrm>
            <a:off x="4826000" y="3369818"/>
            <a:ext cx="1431647" cy="701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520"/>
              </a:lnSpc>
            </a:pPr>
            <a:r>
              <a:rPr lang="ru-RU" sz="4600" b="0" i="0" spc="-9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οἶκος</a:t>
            </a:r>
          </a:p>
        </p:txBody>
      </p:sp>
      <p:sp>
        <p:nvSpPr>
          <p:cNvPr id="10" name="Текст: ОЙКОС · ДОМ"/>
          <p:cNvSpPr txBox="1"/>
          <p:nvPr/>
        </p:nvSpPr>
        <p:spPr>
          <a:xfrm>
            <a:off x="4851400" y="4195318"/>
            <a:ext cx="853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ОЙКОС · ДОМ</a:t>
            </a:r>
          </a:p>
        </p:txBody>
      </p:sp>
      <p:sp>
        <p:nvSpPr>
          <p:cNvPr id="11" name="Текст: +"/>
          <p:cNvSpPr txBox="1"/>
          <p:nvPr/>
        </p:nvSpPr>
        <p:spPr>
          <a:xfrm>
            <a:off x="6667500" y="3417570"/>
            <a:ext cx="359426" cy="609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800"/>
              </a:lnSpc>
            </a:pPr>
            <a:r>
              <a:rPr lang="ru-RU" sz="4000" b="0" i="0" spc="-200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+</a:t>
            </a:r>
          </a:p>
        </p:txBody>
      </p:sp>
      <p:sp>
        <p:nvSpPr>
          <p:cNvPr id="12" name="Текст: λόγος"/>
          <p:cNvSpPr txBox="1"/>
          <p:nvPr/>
        </p:nvSpPr>
        <p:spPr>
          <a:xfrm>
            <a:off x="7302500" y="3369818"/>
            <a:ext cx="1566926" cy="701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520"/>
              </a:lnSpc>
            </a:pPr>
            <a:r>
              <a:rPr lang="ru-RU" sz="4600" b="0" i="0" spc="-9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λόγος</a:t>
            </a:r>
          </a:p>
        </p:txBody>
      </p:sp>
      <p:sp>
        <p:nvSpPr>
          <p:cNvPr id="13" name="Текст: ЛОГОС · УЧЕНИЕ"/>
          <p:cNvSpPr txBox="1"/>
          <p:nvPr/>
        </p:nvSpPr>
        <p:spPr>
          <a:xfrm>
            <a:off x="7327900" y="4195318"/>
            <a:ext cx="107554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ЛОГОС · УЧЕНИЕ</a:t>
            </a:r>
          </a:p>
        </p:txBody>
      </p:sp>
      <p:sp>
        <p:nvSpPr>
          <p:cNvPr id="14" name="Текст: ="/>
          <p:cNvSpPr txBox="1"/>
          <p:nvPr/>
        </p:nvSpPr>
        <p:spPr>
          <a:xfrm>
            <a:off x="9080500" y="3417570"/>
            <a:ext cx="359426" cy="609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800"/>
              </a:lnSpc>
            </a:pPr>
            <a:r>
              <a:rPr lang="ru-RU" sz="4000" b="0" i="0" spc="-200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=</a:t>
            </a:r>
          </a:p>
        </p:txBody>
      </p:sp>
      <p:sp>
        <p:nvSpPr>
          <p:cNvPr id="15" name="Текст: наука о доме"/>
          <p:cNvSpPr txBox="1"/>
          <p:nvPr/>
        </p:nvSpPr>
        <p:spPr>
          <a:xfrm>
            <a:off x="9652000" y="3354388"/>
            <a:ext cx="1201333" cy="8532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359"/>
              </a:lnSpc>
            </a:pPr>
            <a:r>
              <a:rPr lang="ru-RU" sz="3200" b="0" i="1" spc="-48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наука</a:t>
            </a:r>
            <a:br>
              <a:rPr lang="ru-RU" sz="3200" b="0" i="1" spc="-48">
                <a:solidFill>
                  <a:srgbClr val="0F0F0E"/>
                </a:solidFill>
                <a:latin typeface="Spectral"/>
                <a:ea typeface="Spectral"/>
                <a:cs typeface="Spectral"/>
              </a:rPr>
            </a:br>
            <a:r>
              <a:rPr lang="ru-RU" sz="3200" b="0" i="1" spc="-48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о доме</a:t>
            </a:r>
          </a:p>
        </p:txBody>
      </p:sp>
      <p:sp>
        <p:nvSpPr>
          <p:cNvPr id="16" name="Текст: Определение Геккеля: общая наука об отно"/>
          <p:cNvSpPr txBox="1"/>
          <p:nvPr/>
        </p:nvSpPr>
        <p:spPr>
          <a:xfrm>
            <a:off x="4826000" y="4894834"/>
            <a:ext cx="5427996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Определение Геккеля: общая наука об отношениях организмов с окружающей средой</a:t>
            </a:r>
          </a:p>
        </p:txBody>
      </p:sp>
      <p:pic>
        <p:nvPicPr>
          <p:cNvPr id="17" name="Графика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8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19" name="Текст: 09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09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ПАРАДОКС"/>
          <p:cNvSpPr txBox="1"/>
          <p:nvPr/>
        </p:nvSpPr>
        <p:spPr>
          <a:xfrm>
            <a:off x="660400" y="537718"/>
            <a:ext cx="63091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ПАРАДОКС</a:t>
            </a:r>
          </a:p>
        </p:txBody>
      </p:sp>
      <p:sp>
        <p:nvSpPr>
          <p:cNvPr id="3" name="Текст: Сам экологией почти не занимался"/>
          <p:cNvSpPr txBox="1"/>
          <p:nvPr/>
        </p:nvSpPr>
        <p:spPr>
          <a:xfrm>
            <a:off x="635000" y="814467"/>
            <a:ext cx="3834987" cy="630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84"/>
              </a:lnSpc>
            </a:pP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Сам экологией почти не</a:t>
            </a:r>
            <a:b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занимался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095500"/>
            <a:ext cx="3943350" cy="9525"/>
          </a:xfrm>
          <a:prstGeom prst="rect">
            <a:avLst/>
          </a:prstGeom>
        </p:spPr>
      </p:pic>
      <p:sp>
        <p:nvSpPr>
          <p:cNvPr id="5" name="Текст: Изучал медуз и губок"/>
          <p:cNvSpPr txBox="1"/>
          <p:nvPr/>
        </p:nvSpPr>
        <p:spPr>
          <a:xfrm>
            <a:off x="660400" y="2235454"/>
            <a:ext cx="1679916" cy="198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60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Изучал медуз и губок</a:t>
            </a:r>
          </a:p>
        </p:txBody>
      </p:sp>
      <p:pic>
        <p:nvPicPr>
          <p:cNvPr id="6" name="Графика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600325"/>
            <a:ext cx="3943350" cy="9525"/>
          </a:xfrm>
          <a:prstGeom prst="rect">
            <a:avLst/>
          </a:prstGeom>
        </p:spPr>
      </p:pic>
      <p:sp>
        <p:nvSpPr>
          <p:cNvPr id="7" name="Текст: Главный защитник Дарвина в Германии"/>
          <p:cNvSpPr txBox="1"/>
          <p:nvPr/>
        </p:nvSpPr>
        <p:spPr>
          <a:xfrm>
            <a:off x="660400" y="2743454"/>
            <a:ext cx="3066963" cy="198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60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Главный защитник Дарвина в Германии</a:t>
            </a:r>
          </a:p>
        </p:txBody>
      </p:sp>
      <p:pic>
        <p:nvPicPr>
          <p:cNvPr id="8" name="Графика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109912"/>
            <a:ext cx="3943350" cy="9525"/>
          </a:xfrm>
          <a:prstGeom prst="rect">
            <a:avLst/>
          </a:prstGeom>
        </p:spPr>
      </p:pic>
      <p:sp>
        <p:nvSpPr>
          <p:cNvPr id="9" name="Текст: Прекрасно рисовал: альбом «Красота форм "/>
          <p:cNvSpPr txBox="1"/>
          <p:nvPr/>
        </p:nvSpPr>
        <p:spPr>
          <a:xfrm>
            <a:off x="660400" y="3227705"/>
            <a:ext cx="3509121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Прекрасно рисовал: альбом «Красота форм в</a:t>
            </a:r>
            <a:b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природе» переиздают до сих пор</a:t>
            </a:r>
          </a:p>
        </p:txBody>
      </p:sp>
      <p:pic>
        <p:nvPicPr>
          <p:cNvPr id="10" name="Графика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848100"/>
            <a:ext cx="3943350" cy="9525"/>
          </a:xfrm>
          <a:prstGeom prst="rect">
            <a:avLst/>
          </a:prstGeom>
        </p:spPr>
      </p:pic>
      <p:pic>
        <p:nvPicPr>
          <p:cNvPr id="11" name="Графика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4443412"/>
            <a:ext cx="3943350" cy="28575"/>
          </a:xfrm>
          <a:prstGeom prst="rect">
            <a:avLst/>
          </a:prstGeom>
        </p:spPr>
      </p:pic>
      <p:sp>
        <p:nvSpPr>
          <p:cNvPr id="12" name="Текст: Словом «экология» лет 30 почти никто не "/>
          <p:cNvSpPr txBox="1"/>
          <p:nvPr/>
        </p:nvSpPr>
        <p:spPr>
          <a:xfrm>
            <a:off x="660400" y="4592638"/>
            <a:ext cx="3816929" cy="4881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2"/>
              </a:lnSpc>
            </a:pPr>
            <a:r>
              <a:rPr lang="ru-RU" sz="1550" b="0" i="0" spc="-2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Словом «экология» лет 30 почти никто не</a:t>
            </a:r>
            <a:br>
              <a:rPr lang="ru-RU" sz="1550" b="0" i="0" spc="-2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50" b="0" i="0" spc="-2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пользовался</a:t>
            </a:r>
          </a:p>
        </p:txBody>
      </p:sp>
      <p:sp>
        <p:nvSpPr>
          <p:cNvPr id="13" name="Текст: Первый учебник экологии растений: Эугени"/>
          <p:cNvSpPr txBox="1"/>
          <p:nvPr/>
        </p:nvSpPr>
        <p:spPr>
          <a:xfrm>
            <a:off x="660400" y="5199634"/>
            <a:ext cx="3793712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Первый учебник экологии растений: Эугениус Варминг, 1895</a:t>
            </a:r>
          </a:p>
        </p:txBody>
      </p:sp>
      <p:pic>
        <p:nvPicPr>
          <p:cNvPr id="14" name="Графика 1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825" y="533400"/>
            <a:ext cx="2038350" cy="2914650"/>
          </a:xfrm>
          <a:prstGeom prst="rect">
            <a:avLst/>
          </a:prstGeom>
        </p:spPr>
      </p:pic>
      <p:pic>
        <p:nvPicPr>
          <p:cNvPr id="15" name="Графика 14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6625" y="533400"/>
            <a:ext cx="2038350" cy="2857500"/>
          </a:xfrm>
          <a:prstGeom prst="rect">
            <a:avLst/>
          </a:prstGeom>
        </p:spPr>
      </p:pic>
      <p:pic>
        <p:nvPicPr>
          <p:cNvPr id="16" name="Графика 1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425" y="533400"/>
            <a:ext cx="2038350" cy="2852738"/>
          </a:xfrm>
          <a:prstGeom prst="rect">
            <a:avLst/>
          </a:prstGeom>
        </p:spPr>
      </p:pic>
      <p:sp>
        <p:nvSpPr>
          <p:cNvPr id="17" name="Текст: ТАБЛИЦА 8 МЕДУЗЫ"/>
          <p:cNvSpPr txBox="1"/>
          <p:nvPr/>
        </p:nvSpPr>
        <p:spPr>
          <a:xfrm>
            <a:off x="5080000" y="3547428"/>
            <a:ext cx="705001" cy="2913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7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ТАБЛИЦА 8</a:t>
            </a:r>
            <a:b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</a:b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МЕДУЗЫ</a:t>
            </a:r>
          </a:p>
        </p:txBody>
      </p:sp>
      <p:sp>
        <p:nvSpPr>
          <p:cNvPr id="18" name="Текст: ТАБЛИЦА 85 АСЦИДИИ"/>
          <p:cNvSpPr txBox="1"/>
          <p:nvPr/>
        </p:nvSpPr>
        <p:spPr>
          <a:xfrm>
            <a:off x="7289800" y="3547428"/>
            <a:ext cx="779089" cy="2913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7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ТАБЛИЦА 85</a:t>
            </a:r>
            <a:b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</a:b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АСЦИДИИ</a:t>
            </a:r>
          </a:p>
        </p:txBody>
      </p:sp>
      <p:sp>
        <p:nvSpPr>
          <p:cNvPr id="19" name="Текст: ТАБЛИЦА 99 КОЛИБРИ"/>
          <p:cNvSpPr txBox="1"/>
          <p:nvPr/>
        </p:nvSpPr>
        <p:spPr>
          <a:xfrm>
            <a:off x="9499600" y="3547428"/>
            <a:ext cx="779089" cy="2913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7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ТАБЛИЦА 99</a:t>
            </a:r>
            <a:b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</a:b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КОЛИБРИ</a:t>
            </a:r>
          </a:p>
        </p:txBody>
      </p:sp>
      <p:sp>
        <p:nvSpPr>
          <p:cNvPr id="20" name="Текст: Литографии из альбома Э. Геккеля «Красот"/>
          <p:cNvSpPr txBox="1"/>
          <p:nvPr/>
        </p:nvSpPr>
        <p:spPr>
          <a:xfrm>
            <a:off x="5080000" y="4067302"/>
            <a:ext cx="3923832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Литографии из альбома Э. Геккеля «Красота форм в природе» · Public domain</a:t>
            </a:r>
          </a:p>
        </p:txBody>
      </p:sp>
      <p:sp>
        <p:nvSpPr>
          <p:cNvPr id="21" name="Текст: Позже Геккеля критиковали: подправлял ри"/>
          <p:cNvSpPr txBox="1"/>
          <p:nvPr/>
        </p:nvSpPr>
        <p:spPr>
          <a:xfrm>
            <a:off x="5080000" y="5338572"/>
            <a:ext cx="6176828" cy="1371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lang="ru-RU" sz="900" b="0" i="0" spc="-4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Позже Геккеля критиковали: подправлял рисунки зародышей, а его рассуждения о расах сейчас читать неприятно</a:t>
            </a:r>
          </a:p>
        </p:txBody>
      </p:sp>
      <p:pic>
        <p:nvPicPr>
          <p:cNvPr id="22" name="Графика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3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24" name="Текст: 10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4705350" cy="5291138"/>
          </a:xfrm>
          <a:prstGeom prst="rect">
            <a:avLst/>
          </a:prstGeom>
        </p:spPr>
      </p:pic>
      <p:sp>
        <p:nvSpPr>
          <p:cNvPr id="3" name="Текст: Эрнст Геккель и Николай Миклухо-Маклай, "/>
          <p:cNvSpPr txBox="1"/>
          <p:nvPr/>
        </p:nvSpPr>
        <p:spPr>
          <a:xfrm>
            <a:off x="660400" y="5896102"/>
            <a:ext cx="323185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Эрнст Геккель и Николай Миклухо-Маклай, 1866 · Public domain</a:t>
            </a:r>
          </a:p>
        </p:txBody>
      </p:sp>
      <p:sp>
        <p:nvSpPr>
          <p:cNvPr id="4" name="Текст: ОСЕНЬ 1866 · КАНАРСКИЕ ОСТРОВА"/>
          <p:cNvSpPr txBox="1"/>
          <p:nvPr/>
        </p:nvSpPr>
        <p:spPr>
          <a:xfrm>
            <a:off x="5969000" y="537718"/>
            <a:ext cx="226106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ОСЕНЬ 1866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КАНАРСКИЕ ОСТРОВА</a:t>
            </a:r>
          </a:p>
        </p:txBody>
      </p:sp>
      <p:sp>
        <p:nvSpPr>
          <p:cNvPr id="5" name="Текст: Первая экспедиция Миклухо-Маклая"/>
          <p:cNvSpPr txBox="1"/>
          <p:nvPr/>
        </p:nvSpPr>
        <p:spPr>
          <a:xfrm>
            <a:off x="5943600" y="829310"/>
            <a:ext cx="4603528" cy="911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588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Первая экспедиция</a:t>
            </a:r>
            <a:b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Миклухо-Маклая</a:t>
            </a:r>
          </a:p>
        </p:txBody>
      </p:sp>
      <p:sp>
        <p:nvSpPr>
          <p:cNvPr id="6" name="Текст: Геккель едет изучать морских животных и "/>
          <p:cNvSpPr txBox="1"/>
          <p:nvPr/>
        </p:nvSpPr>
        <p:spPr>
          <a:xfrm>
            <a:off x="5969000" y="2535396"/>
            <a:ext cx="4860155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Геккель едет изучать морских животных и берет</a:t>
            </a:r>
            <a:b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помощником своего студента из России</a:t>
            </a:r>
          </a:p>
        </p:txBody>
      </p:sp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412" y="3743325"/>
            <a:ext cx="5567362" cy="9525"/>
          </a:xfrm>
          <a:prstGeom prst="rect">
            <a:avLst/>
          </a:prstGeom>
        </p:spPr>
      </p:pic>
      <p:sp>
        <p:nvSpPr>
          <p:cNvPr id="8" name="Текст: 20"/>
          <p:cNvSpPr txBox="1"/>
          <p:nvPr/>
        </p:nvSpPr>
        <p:spPr>
          <a:xfrm>
            <a:off x="5943600" y="3841750"/>
            <a:ext cx="1218462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20</a:t>
            </a:r>
          </a:p>
        </p:txBody>
      </p:sp>
      <p:sp>
        <p:nvSpPr>
          <p:cNvPr id="9" name="Текст: лет было Миклухо-Маклаю"/>
          <p:cNvSpPr txBox="1"/>
          <p:nvPr/>
        </p:nvSpPr>
        <p:spPr>
          <a:xfrm>
            <a:off x="5969000" y="4902454"/>
            <a:ext cx="2124551" cy="198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60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лет было Миклухо-Маклаю</a:t>
            </a:r>
          </a:p>
        </p:txBody>
      </p:sp>
      <p:sp>
        <p:nvSpPr>
          <p:cNvPr id="10" name="Текст: 1-я"/>
          <p:cNvSpPr txBox="1"/>
          <p:nvPr/>
        </p:nvSpPr>
        <p:spPr>
          <a:xfrm>
            <a:off x="8610600" y="3841750"/>
            <a:ext cx="1294201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1-я</a:t>
            </a:r>
          </a:p>
        </p:txBody>
      </p:sp>
      <p:sp>
        <p:nvSpPr>
          <p:cNvPr id="11" name="Текст: экспедиция в его жизни"/>
          <p:cNvSpPr txBox="1"/>
          <p:nvPr/>
        </p:nvSpPr>
        <p:spPr>
          <a:xfrm>
            <a:off x="8636000" y="4902454"/>
            <a:ext cx="1864828" cy="198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60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экспедиция в его жизни</a:t>
            </a:r>
          </a:p>
        </p:txBody>
      </p:sp>
      <p:pic>
        <p:nvPicPr>
          <p:cNvPr id="12" name="Графика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3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14" name="Текст: 11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ЧТО ЕЩЕ УСПЕЛ XIX ВЕК"/>
          <p:cNvSpPr txBox="1"/>
          <p:nvPr/>
        </p:nvSpPr>
        <p:spPr>
          <a:xfrm>
            <a:off x="660400" y="537718"/>
            <a:ext cx="159416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ЧТО ЕЩЕ УСПЕЛ XIX ВЕК</a:t>
            </a:r>
          </a:p>
        </p:txBody>
      </p:sp>
      <p:sp>
        <p:nvSpPr>
          <p:cNvPr id="3" name="Текст: Слово есть. Законы тоже"/>
          <p:cNvSpPr txBox="1"/>
          <p:nvPr/>
        </p:nvSpPr>
        <p:spPr>
          <a:xfrm>
            <a:off x="635000" y="718312"/>
            <a:ext cx="5878306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Слово есть. Законы тоже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838325"/>
            <a:ext cx="10877550" cy="3667125"/>
          </a:xfrm>
          <a:prstGeom prst="rect">
            <a:avLst/>
          </a:prstGeom>
        </p:spPr>
      </p:pic>
      <p:sp>
        <p:nvSpPr>
          <p:cNvPr id="5" name="Текст: 1840"/>
          <p:cNvSpPr txBox="1"/>
          <p:nvPr/>
        </p:nvSpPr>
        <p:spPr>
          <a:xfrm>
            <a:off x="660400" y="4077208"/>
            <a:ext cx="797354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1840</a:t>
            </a:r>
          </a:p>
        </p:txBody>
      </p:sp>
      <p:sp>
        <p:nvSpPr>
          <p:cNvPr id="6" name="Текст: Закон минимума"/>
          <p:cNvSpPr txBox="1"/>
          <p:nvPr/>
        </p:nvSpPr>
        <p:spPr>
          <a:xfrm>
            <a:off x="660400" y="4501126"/>
            <a:ext cx="1452388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28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Закон минимума</a:t>
            </a:r>
          </a:p>
        </p:txBody>
      </p:sp>
      <p:sp>
        <p:nvSpPr>
          <p:cNvPr id="7" name="Текст: ЮСТУС ЛИБИХ · ГЕРМАНИЯ"/>
          <p:cNvSpPr txBox="1"/>
          <p:nvPr/>
        </p:nvSpPr>
        <p:spPr>
          <a:xfrm>
            <a:off x="660400" y="4757920"/>
            <a:ext cx="1380569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40"/>
              </a:lnSpc>
            </a:pPr>
            <a:r>
              <a:rPr lang="ru-RU" sz="700" b="0" i="0" spc="42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ЮСТУС ЛИБИХ · ГЕРМАНИЯ</a:t>
            </a:r>
          </a:p>
        </p:txBody>
      </p:sp>
      <p:sp>
        <p:nvSpPr>
          <p:cNvPr id="8" name="Текст: Урожай зависит от того, чего не хватает "/>
          <p:cNvSpPr txBox="1"/>
          <p:nvPr/>
        </p:nvSpPr>
        <p:spPr>
          <a:xfrm>
            <a:off x="660400" y="4936708"/>
            <a:ext cx="2525847" cy="5518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Урожай зависит от того, чего не хватает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больше всего: вода уйдет через самую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короткую доску</a:t>
            </a:r>
          </a:p>
        </p:txBody>
      </p:sp>
      <p:sp>
        <p:nvSpPr>
          <p:cNvPr id="9" name="Текст: 1875"/>
          <p:cNvSpPr txBox="1"/>
          <p:nvPr/>
        </p:nvSpPr>
        <p:spPr>
          <a:xfrm>
            <a:off x="3587750" y="4102608"/>
            <a:ext cx="743490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1875</a:t>
            </a:r>
          </a:p>
        </p:txBody>
      </p:sp>
      <p:sp>
        <p:nvSpPr>
          <p:cNvPr id="10" name="Текст: «Биосфера»"/>
          <p:cNvSpPr txBox="1"/>
          <p:nvPr/>
        </p:nvSpPr>
        <p:spPr>
          <a:xfrm>
            <a:off x="3587750" y="4526526"/>
            <a:ext cx="1082977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28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«Биосфера»</a:t>
            </a:r>
          </a:p>
        </p:txBody>
      </p:sp>
      <p:sp>
        <p:nvSpPr>
          <p:cNvPr id="11" name="Текст: ЭДУАРД ЗЮСС · АВСТРИЯ"/>
          <p:cNvSpPr txBox="1"/>
          <p:nvPr/>
        </p:nvSpPr>
        <p:spPr>
          <a:xfrm>
            <a:off x="3587750" y="4783320"/>
            <a:ext cx="1319586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40"/>
              </a:lnSpc>
            </a:pPr>
            <a:r>
              <a:rPr lang="ru-RU" sz="700" b="0" i="0" spc="42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ЭДУАРД ЗЮСС · АВСТРИЯ</a:t>
            </a:r>
          </a:p>
        </p:txBody>
      </p:sp>
      <p:sp>
        <p:nvSpPr>
          <p:cNvPr id="12" name="Текст: Пока просто название оболочки Земли, где"/>
          <p:cNvSpPr txBox="1"/>
          <p:nvPr/>
        </p:nvSpPr>
        <p:spPr>
          <a:xfrm>
            <a:off x="3587750" y="4962108"/>
            <a:ext cx="2031579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Пока просто название оболочки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Земли, где есть жизнь</a:t>
            </a:r>
          </a:p>
        </p:txBody>
      </p:sp>
      <p:sp>
        <p:nvSpPr>
          <p:cNvPr id="13" name="Текст: 1877"/>
          <p:cNvSpPr txBox="1"/>
          <p:nvPr/>
        </p:nvSpPr>
        <p:spPr>
          <a:xfrm>
            <a:off x="6305550" y="4077208"/>
            <a:ext cx="729766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1877</a:t>
            </a:r>
          </a:p>
        </p:txBody>
      </p:sp>
      <p:sp>
        <p:nvSpPr>
          <p:cNvPr id="14" name="Текст: «Биоценоз»"/>
          <p:cNvSpPr txBox="1"/>
          <p:nvPr/>
        </p:nvSpPr>
        <p:spPr>
          <a:xfrm>
            <a:off x="6305550" y="4501126"/>
            <a:ext cx="1049441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28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«Биоценоз»</a:t>
            </a:r>
          </a:p>
        </p:txBody>
      </p:sp>
      <p:sp>
        <p:nvSpPr>
          <p:cNvPr id="15" name="Текст: КАРЛ МЕБИУС · ГЕРМАНИЯ"/>
          <p:cNvSpPr txBox="1"/>
          <p:nvPr/>
        </p:nvSpPr>
        <p:spPr>
          <a:xfrm>
            <a:off x="6305550" y="4757920"/>
            <a:ext cx="1380569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40"/>
              </a:lnSpc>
            </a:pPr>
            <a:r>
              <a:rPr lang="ru-RU" sz="700" b="0" i="0" spc="42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КАРЛ МЕБИУС · ГЕРМАНИЯ</a:t>
            </a:r>
          </a:p>
        </p:txBody>
      </p:sp>
      <p:sp>
        <p:nvSpPr>
          <p:cNvPr id="16" name="Текст: Устрицы живут не сами по себе, а с посто"/>
          <p:cNvSpPr txBox="1"/>
          <p:nvPr/>
        </p:nvSpPr>
        <p:spPr>
          <a:xfrm>
            <a:off x="6305550" y="4936708"/>
            <a:ext cx="2258489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Устрицы живут не сами по себе, а с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постоянным набором соседей</a:t>
            </a:r>
          </a:p>
        </p:txBody>
      </p:sp>
      <p:sp>
        <p:nvSpPr>
          <p:cNvPr id="17" name="Текст: 1913"/>
          <p:cNvSpPr txBox="1"/>
          <p:nvPr/>
        </p:nvSpPr>
        <p:spPr>
          <a:xfrm>
            <a:off x="9023350" y="4102608"/>
            <a:ext cx="696746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1E5B3A"/>
                </a:solidFill>
                <a:latin typeface="Inter Tight ExtraBold"/>
                <a:ea typeface="Inter Tight ExtraBold"/>
                <a:cs typeface="Inter Tight ExtraBold"/>
              </a:rPr>
              <a:t>1913</a:t>
            </a:r>
          </a:p>
        </p:txBody>
      </p:sp>
      <p:sp>
        <p:nvSpPr>
          <p:cNvPr id="18" name="Текст: Закон толерантности"/>
          <p:cNvSpPr txBox="1"/>
          <p:nvPr/>
        </p:nvSpPr>
        <p:spPr>
          <a:xfrm>
            <a:off x="9023350" y="4526526"/>
            <a:ext cx="1827165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28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Закон толерантности</a:t>
            </a:r>
          </a:p>
        </p:txBody>
      </p:sp>
      <p:sp>
        <p:nvSpPr>
          <p:cNvPr id="19" name="Текст: ВИКТОР ШЕЛФОРД · США"/>
          <p:cNvSpPr txBox="1"/>
          <p:nvPr/>
        </p:nvSpPr>
        <p:spPr>
          <a:xfrm>
            <a:off x="9023350" y="4783320"/>
            <a:ext cx="1258602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40"/>
              </a:lnSpc>
            </a:pPr>
            <a:r>
              <a:rPr lang="ru-RU" sz="700" b="0" i="0" spc="42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ВИКТОР ШЕЛФОРД · США</a:t>
            </a:r>
          </a:p>
        </p:txBody>
      </p:sp>
      <p:sp>
        <p:nvSpPr>
          <p:cNvPr id="20" name="Текст: Вредит не только нехватка, но и избыток "/>
          <p:cNvSpPr txBox="1"/>
          <p:nvPr/>
        </p:nvSpPr>
        <p:spPr>
          <a:xfrm>
            <a:off x="9023350" y="4962108"/>
            <a:ext cx="2574036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Вредит не только нехватка, но и избыток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тепла или воды</a:t>
            </a:r>
          </a:p>
        </p:txBody>
      </p:sp>
      <p:sp>
        <p:nvSpPr>
          <p:cNvPr id="21" name="Текст: Устричная банка: Jstuby · Public domain"/>
          <p:cNvSpPr txBox="1"/>
          <p:nvPr/>
        </p:nvSpPr>
        <p:spPr>
          <a:xfrm>
            <a:off x="9535517" y="587502"/>
            <a:ext cx="211402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Устричная банка: Jstuby · Public domain</a:t>
            </a:r>
          </a:p>
        </p:txBody>
      </p:sp>
      <p:pic>
        <p:nvPicPr>
          <p:cNvPr id="22" name="Графика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3" name="Текст: I ОПИСЫВАТЬ"/>
          <p:cNvSpPr txBox="1"/>
          <p:nvPr/>
        </p:nvSpPr>
        <p:spPr>
          <a:xfrm>
            <a:off x="660400" y="6483985"/>
            <a:ext cx="75742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E5B3A"/>
                </a:solidFill>
                <a:latin typeface="IBM Plex Mono Medium"/>
                <a:ea typeface="IBM Plex Mono Medium"/>
                <a:cs typeface="IBM Plex Mono Medium"/>
              </a:rPr>
              <a:t>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ОПИСЫВАТЬ</a:t>
            </a:r>
          </a:p>
        </p:txBody>
      </p:sp>
      <p:sp>
        <p:nvSpPr>
          <p:cNvPr id="24" name="Текст: 12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1485900"/>
            <a:ext cx="5972175" cy="2147888"/>
          </a:xfrm>
          <a:prstGeom prst="rect">
            <a:avLst/>
          </a:prstGeom>
        </p:spPr>
      </p:pic>
      <p:sp>
        <p:nvSpPr>
          <p:cNvPr id="3" name="Текст: ━ ЖЕРТВА ━ ХИЩНИК DN/DT = AN − BNP · DP/"/>
          <p:cNvSpPr txBox="1"/>
          <p:nvPr/>
        </p:nvSpPr>
        <p:spPr>
          <a:xfrm>
            <a:off x="5588000" y="3941318"/>
            <a:ext cx="440994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━ ЖЕРТВА </a:t>
            </a: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━ ХИЩНИК </a:t>
            </a:r>
            <a:r>
              <a:rPr lang="ru-RU" sz="850" b="0" i="0" spc="51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DN/DT = AN − BNP · DP/DT = DNP − CP</a:t>
            </a:r>
          </a:p>
        </p:txBody>
      </p:sp>
      <p:sp>
        <p:nvSpPr>
          <p:cNvPr id="4" name="Текст: ЧАСТЬ II · 1920-1950-Е"/>
          <p:cNvSpPr txBox="1"/>
          <p:nvPr/>
        </p:nvSpPr>
        <p:spPr>
          <a:xfrm>
            <a:off x="660400" y="537718"/>
            <a:ext cx="166825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ЧАСТЬ II · 1920-1950-Е</a:t>
            </a:r>
          </a:p>
        </p:txBody>
      </p:sp>
      <p:sp>
        <p:nvSpPr>
          <p:cNvPr id="5" name="Текст: II"/>
          <p:cNvSpPr txBox="1"/>
          <p:nvPr/>
        </p:nvSpPr>
        <p:spPr>
          <a:xfrm>
            <a:off x="609600" y="610870"/>
            <a:ext cx="1563624" cy="2514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800"/>
              </a:lnSpc>
            </a:pPr>
            <a:r>
              <a:rPr lang="ru-RU" sz="16500" b="0" i="1" spc="-248">
                <a:solidFill>
                  <a:srgbClr val="F1EFEA">
                    <a:alpha val="35000"/>
                  </a:srgbClr>
                </a:solidFill>
                <a:latin typeface="Spectral"/>
                <a:ea typeface="Spectral"/>
                <a:cs typeface="Spectral"/>
              </a:rPr>
              <a:t>II</a:t>
            </a:r>
          </a:p>
        </p:txBody>
      </p:sp>
      <p:sp>
        <p:nvSpPr>
          <p:cNvPr id="6" name="Текст: Считать"/>
          <p:cNvSpPr txBox="1"/>
          <p:nvPr/>
        </p:nvSpPr>
        <p:spPr>
          <a:xfrm>
            <a:off x="609600" y="3232150"/>
            <a:ext cx="3732006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38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Считать</a:t>
            </a:r>
          </a:p>
        </p:txBody>
      </p:sp>
      <p:sp>
        <p:nvSpPr>
          <p:cNvPr id="7" name="Текст: Экология становится точной наукой: цифры"/>
          <p:cNvSpPr txBox="1"/>
          <p:nvPr/>
        </p:nvSpPr>
        <p:spPr>
          <a:xfrm>
            <a:off x="660400" y="4567396"/>
            <a:ext cx="4387763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Экология становится точной наукой: цифры,</a:t>
            </a:r>
            <a:b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графики, уравнения</a:t>
            </a:r>
          </a:p>
        </p:txBody>
      </p:sp>
      <p:sp>
        <p:nvSpPr>
          <p:cNvPr id="8" name="Текст: ЭЛТОН · ТЕНСЛИ · ЛОТКА И ВОЛЬТЕРРА · ГАУ"/>
          <p:cNvSpPr txBox="1"/>
          <p:nvPr/>
        </p:nvSpPr>
        <p:spPr>
          <a:xfrm>
            <a:off x="660400" y="5401818"/>
            <a:ext cx="366885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ЭЛТОН · ТЕНСЛИ · ЛОТКА И ВОЛЬТЕРРА · ГАУЗЕ · ОДУМ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0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1" name="Текст: 13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3 · 1900-1991 · ВЕЛИКОБРИТАНИЯ · ОКСФОР"/>
          <p:cNvSpPr txBox="1"/>
          <p:nvPr/>
        </p:nvSpPr>
        <p:spPr>
          <a:xfrm>
            <a:off x="660400" y="537718"/>
            <a:ext cx="307625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03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1900-1991 · ВЕЛИКОБРИТАНИЯ · ОКСФОРД</a:t>
            </a:r>
          </a:p>
        </p:txBody>
      </p:sp>
      <p:sp>
        <p:nvSpPr>
          <p:cNvPr id="4" name="Текст: Чарльз Элтон"/>
          <p:cNvSpPr txBox="1"/>
          <p:nvPr/>
        </p:nvSpPr>
        <p:spPr>
          <a:xfrm>
            <a:off x="635000" y="718312"/>
            <a:ext cx="3199249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Чарльз Элтон</a:t>
            </a:r>
          </a:p>
        </p:txBody>
      </p:sp>
      <p:sp>
        <p:nvSpPr>
          <p:cNvPr id="5" name="Текст: 1921"/>
          <p:cNvSpPr txBox="1"/>
          <p:nvPr/>
        </p:nvSpPr>
        <p:spPr>
          <a:xfrm>
            <a:off x="609600" y="1555750"/>
            <a:ext cx="1909302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1F3FD6"/>
                </a:solidFill>
                <a:latin typeface="Inter Tight ExtraBold"/>
                <a:ea typeface="Inter Tight ExtraBold"/>
                <a:cs typeface="Inter Tight ExtraBold"/>
              </a:rPr>
              <a:t>1921</a:t>
            </a:r>
          </a:p>
        </p:txBody>
      </p:sp>
      <p:sp>
        <p:nvSpPr>
          <p:cNvPr id="6" name="Текст: студентом едет на Шпицберген"/>
          <p:cNvSpPr txBox="1"/>
          <p:nvPr/>
        </p:nvSpPr>
        <p:spPr>
          <a:xfrm>
            <a:off x="660400" y="2669286"/>
            <a:ext cx="3146933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студентом едет на Шпицберген</a:t>
            </a:r>
          </a:p>
        </p:txBody>
      </p:sp>
      <p:sp>
        <p:nvSpPr>
          <p:cNvPr id="7" name="Текст: Видов в Арктике мало: можно проследить, "/>
          <p:cNvSpPr txBox="1"/>
          <p:nvPr/>
        </p:nvSpPr>
        <p:spPr>
          <a:xfrm>
            <a:off x="660400" y="3297396"/>
            <a:ext cx="4265795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Видов в Арктике мало: можно проследить,</a:t>
            </a:r>
            <a:br>
              <a:rPr lang="ru-RU" sz="1700" b="0" i="0" spc="-26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700" b="0" i="0" spc="-26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кто кого ест</a:t>
            </a:r>
          </a:p>
        </p:txBody>
      </p:sp>
      <p:pic>
        <p:nvPicPr>
          <p:cNvPr id="8" name="Графика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633912"/>
            <a:ext cx="4448175" cy="28575"/>
          </a:xfrm>
          <a:prstGeom prst="rect">
            <a:avLst/>
          </a:prstGeom>
        </p:spPr>
      </p:pic>
      <p:sp>
        <p:nvSpPr>
          <p:cNvPr id="9" name="Текст: ВОПРОС ЕГО УЧИТЕЛЯ ДЖУЛИАНА ХАКСЛИ"/>
          <p:cNvSpPr txBox="1"/>
          <p:nvPr/>
        </p:nvSpPr>
        <p:spPr>
          <a:xfrm>
            <a:off x="660400" y="4779518"/>
            <a:ext cx="255742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ВОПРОС ЕГО УЧИТЕЛЯ ДЖУЛИАНА ХАКСЛИ</a:t>
            </a:r>
          </a:p>
        </p:txBody>
      </p:sp>
      <p:sp>
        <p:nvSpPr>
          <p:cNvPr id="10" name="Текст: «А что это вообще такое, экология?»"/>
          <p:cNvSpPr txBox="1"/>
          <p:nvPr/>
        </p:nvSpPr>
        <p:spPr>
          <a:xfrm>
            <a:off x="660400" y="5018564"/>
            <a:ext cx="3921458" cy="69334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30"/>
              </a:lnSpc>
            </a:pPr>
            <a:r>
              <a:rPr lang="ru-RU" sz="2600" b="0" i="1" spc="-39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«А что это вообще такое,</a:t>
            </a:r>
            <a:br>
              <a:rPr lang="ru-RU" sz="2600" b="0" i="1" spc="-39">
                <a:solidFill>
                  <a:srgbClr val="0F0F0E"/>
                </a:solidFill>
                <a:latin typeface="Spectral"/>
                <a:ea typeface="Spectral"/>
                <a:cs typeface="Spectral"/>
              </a:rPr>
            </a:br>
            <a:r>
              <a:rPr lang="ru-RU" sz="2600" b="0" i="1" spc="-39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экология?»</a:t>
            </a:r>
          </a:p>
        </p:txBody>
      </p:sp>
      <p:pic>
        <p:nvPicPr>
          <p:cNvPr id="11" name="Графика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33400"/>
            <a:ext cx="5819775" cy="5462588"/>
          </a:xfrm>
          <a:prstGeom prst="rect">
            <a:avLst/>
          </a:prstGeom>
        </p:spPr>
      </p:pic>
      <p:sp>
        <p:nvSpPr>
          <p:cNvPr id="12" name="Текст: ШПИЦБЕРГЕН: КТО КОГО ЕСТ"/>
          <p:cNvSpPr txBox="1"/>
          <p:nvPr/>
        </p:nvSpPr>
        <p:spPr>
          <a:xfrm>
            <a:off x="5918200" y="702818"/>
            <a:ext cx="181643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ШПИЦБЕРГЕН: КТО КОГО ЕСТ</a:t>
            </a:r>
          </a:p>
        </p:txBody>
      </p:sp>
      <p:sp>
        <p:nvSpPr>
          <p:cNvPr id="13" name="Текст: УПРОЩЕННАЯ СХЕМА · СТРЕЛКА ВЕДЕТ ОТ ЕДЫ "/>
          <p:cNvSpPr txBox="1"/>
          <p:nvPr/>
        </p:nvSpPr>
        <p:spPr>
          <a:xfrm>
            <a:off x="5918200" y="867918"/>
            <a:ext cx="433575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УПРОЩЕННАЯ СХЕМА · СТРЕЛКА ВЕДЕТ ОТ ЕДЫ К ТОМУ, КТО ЕЕ ЕСТ</a:t>
            </a:r>
          </a:p>
        </p:txBody>
      </p:sp>
      <p:sp>
        <p:nvSpPr>
          <p:cNvPr id="14" name="Текст: МОРЕ"/>
          <p:cNvSpPr txBox="1"/>
          <p:nvPr/>
        </p:nvSpPr>
        <p:spPr>
          <a:xfrm>
            <a:off x="5918200" y="5592318"/>
            <a:ext cx="3345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МОРЕ</a:t>
            </a:r>
          </a:p>
        </p:txBody>
      </p:sp>
      <p:sp>
        <p:nvSpPr>
          <p:cNvPr id="15" name="Текст: СУША"/>
          <p:cNvSpPr txBox="1"/>
          <p:nvPr/>
        </p:nvSpPr>
        <p:spPr>
          <a:xfrm>
            <a:off x="9144000" y="5592318"/>
            <a:ext cx="3345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СУША</a:t>
            </a:r>
          </a:p>
        </p:txBody>
      </p:sp>
      <p:pic>
        <p:nvPicPr>
          <p:cNvPr id="16" name="Графика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5" y="1290638"/>
            <a:ext cx="5043488" cy="3695700"/>
          </a:xfrm>
          <a:prstGeom prst="rect">
            <a:avLst/>
          </a:prstGeom>
        </p:spPr>
      </p:pic>
      <p:pic>
        <p:nvPicPr>
          <p:cNvPr id="17" name="Графика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8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9" name="Текст: 14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1927 · КНИГА ЭЛТОНА «ЭКОЛОГИЯ ЖИВОТНЫХ»"/>
          <p:cNvSpPr txBox="1"/>
          <p:nvPr/>
        </p:nvSpPr>
        <p:spPr>
          <a:xfrm>
            <a:off x="660400" y="537718"/>
            <a:ext cx="2927969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1927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КНИГА ЭЛТОНА «ЭКОЛОГИЯ ЖИВОТНЫХ»</a:t>
            </a:r>
          </a:p>
        </p:txBody>
      </p:sp>
      <p:sp>
        <p:nvSpPr>
          <p:cNvPr id="4" name="Текст: 85"/>
          <p:cNvSpPr txBox="1"/>
          <p:nvPr/>
        </p:nvSpPr>
        <p:spPr>
          <a:xfrm>
            <a:off x="584200" y="571500"/>
            <a:ext cx="2388092" cy="2286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0"/>
              </a:lnSpc>
            </a:pPr>
            <a:r>
              <a:rPr lang="ru-RU" sz="15000" b="0" i="0" spc="-750">
                <a:solidFill>
                  <a:srgbClr val="1F3FD6"/>
                </a:solidFill>
                <a:latin typeface="Inter Tight ExtraBold"/>
                <a:ea typeface="Inter Tight ExtraBold"/>
                <a:cs typeface="Inter Tight ExtraBold"/>
              </a:rPr>
              <a:t>85</a:t>
            </a:r>
          </a:p>
        </p:txBody>
      </p:sp>
      <p:sp>
        <p:nvSpPr>
          <p:cNvPr id="5" name="Текст: дней ушло на книгу"/>
          <p:cNvSpPr txBox="1"/>
          <p:nvPr/>
        </p:nvSpPr>
        <p:spPr>
          <a:xfrm>
            <a:off x="660400" y="2669286"/>
            <a:ext cx="1958626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дней ушло на книгу</a:t>
            </a:r>
          </a:p>
        </p:txBody>
      </p:sp>
      <p:pic>
        <p:nvPicPr>
          <p:cNvPr id="6" name="Графика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429000"/>
            <a:ext cx="4957762" cy="28575"/>
          </a:xfrm>
          <a:prstGeom prst="rect">
            <a:avLst/>
          </a:prstGeom>
        </p:spPr>
      </p:pic>
      <p:sp>
        <p:nvSpPr>
          <p:cNvPr id="7" name="Текст: 01"/>
          <p:cNvSpPr txBox="1"/>
          <p:nvPr/>
        </p:nvSpPr>
        <p:spPr>
          <a:xfrm>
            <a:off x="660400" y="3598418"/>
            <a:ext cx="18638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01</a:t>
            </a:r>
          </a:p>
        </p:txBody>
      </p:sp>
      <p:sp>
        <p:nvSpPr>
          <p:cNvPr id="8" name="Текст: Пищевая цепь"/>
          <p:cNvSpPr txBox="1"/>
          <p:nvPr/>
        </p:nvSpPr>
        <p:spPr>
          <a:xfrm>
            <a:off x="1079500" y="3557778"/>
            <a:ext cx="1420193" cy="2438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0"/>
              </a:lnSpc>
            </a:pPr>
            <a:r>
              <a:rPr lang="ru-RU" sz="1600" b="0" i="0" spc="-3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Пищевая цепь</a:t>
            </a:r>
          </a:p>
        </p:txBody>
      </p:sp>
      <p:sp>
        <p:nvSpPr>
          <p:cNvPr id="9" name="Текст: растение → травоядное → хищник → крупный"/>
          <p:cNvSpPr txBox="1"/>
          <p:nvPr/>
        </p:nvSpPr>
        <p:spPr>
          <a:xfrm>
            <a:off x="1079500" y="3840734"/>
            <a:ext cx="3417078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растение → травоядное → хищник → крупный хищник</a:t>
            </a:r>
          </a:p>
        </p:txBody>
      </p:sp>
      <p:pic>
        <p:nvPicPr>
          <p:cNvPr id="10" name="Графика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191000"/>
            <a:ext cx="4957762" cy="9525"/>
          </a:xfrm>
          <a:prstGeom prst="rect">
            <a:avLst/>
          </a:prstGeom>
        </p:spPr>
      </p:pic>
      <p:sp>
        <p:nvSpPr>
          <p:cNvPr id="11" name="Текст: 02"/>
          <p:cNvSpPr txBox="1"/>
          <p:nvPr/>
        </p:nvSpPr>
        <p:spPr>
          <a:xfrm>
            <a:off x="660400" y="4360418"/>
            <a:ext cx="18638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02</a:t>
            </a:r>
          </a:p>
        </p:txBody>
      </p:sp>
      <p:sp>
        <p:nvSpPr>
          <p:cNvPr id="12" name="Текст: Пирамида чисел"/>
          <p:cNvSpPr txBox="1"/>
          <p:nvPr/>
        </p:nvSpPr>
        <p:spPr>
          <a:xfrm>
            <a:off x="1079500" y="4319778"/>
            <a:ext cx="1637919" cy="2438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0"/>
              </a:lnSpc>
            </a:pPr>
            <a:r>
              <a:rPr lang="ru-RU" sz="1600" b="0" i="0" spc="-3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Пирамида чисел</a:t>
            </a:r>
          </a:p>
        </p:txBody>
      </p:sp>
      <p:sp>
        <p:nvSpPr>
          <p:cNvPr id="13" name="Текст: мелких животных обычно намного больше, ч"/>
          <p:cNvSpPr txBox="1"/>
          <p:nvPr/>
        </p:nvSpPr>
        <p:spPr>
          <a:xfrm>
            <a:off x="1079500" y="4602734"/>
            <a:ext cx="3574129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мелких животных обычно намного больше, чем крупных</a:t>
            </a:r>
          </a:p>
        </p:txBody>
      </p:sp>
      <p:pic>
        <p:nvPicPr>
          <p:cNvPr id="14" name="Графика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953000"/>
            <a:ext cx="4957762" cy="9525"/>
          </a:xfrm>
          <a:prstGeom prst="rect">
            <a:avLst/>
          </a:prstGeom>
        </p:spPr>
      </p:pic>
      <p:sp>
        <p:nvSpPr>
          <p:cNvPr id="15" name="Текст: 03"/>
          <p:cNvSpPr txBox="1"/>
          <p:nvPr/>
        </p:nvSpPr>
        <p:spPr>
          <a:xfrm>
            <a:off x="660400" y="5122418"/>
            <a:ext cx="18638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03</a:t>
            </a:r>
          </a:p>
        </p:txBody>
      </p:sp>
      <p:sp>
        <p:nvSpPr>
          <p:cNvPr id="16" name="Текст: Экологическая ниша"/>
          <p:cNvSpPr txBox="1"/>
          <p:nvPr/>
        </p:nvSpPr>
        <p:spPr>
          <a:xfrm>
            <a:off x="1079500" y="5081778"/>
            <a:ext cx="2032818" cy="2438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0"/>
              </a:lnSpc>
            </a:pPr>
            <a:r>
              <a:rPr lang="ru-RU" sz="1600" b="0" i="0" spc="-3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Экологическая ниша</a:t>
            </a:r>
          </a:p>
        </p:txBody>
      </p:sp>
      <p:sp>
        <p:nvSpPr>
          <p:cNvPr id="17" name="Текст: роль вида в сообществе: что ест он и кто"/>
          <p:cNvSpPr txBox="1"/>
          <p:nvPr/>
        </p:nvSpPr>
        <p:spPr>
          <a:xfrm>
            <a:off x="1079500" y="5364734"/>
            <a:ext cx="3057160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роль вида в сообществе: что ест он и кто ест его</a:t>
            </a:r>
          </a:p>
        </p:txBody>
      </p:sp>
      <p:pic>
        <p:nvPicPr>
          <p:cNvPr id="18" name="Графика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00200"/>
            <a:ext cx="3524250" cy="3495675"/>
          </a:xfrm>
          <a:prstGeom prst="rect">
            <a:avLst/>
          </a:prstGeom>
        </p:spPr>
      </p:pic>
      <p:sp>
        <p:nvSpPr>
          <p:cNvPr id="19" name="Текст: крупный хищник"/>
          <p:cNvSpPr txBox="1"/>
          <p:nvPr/>
        </p:nvSpPr>
        <p:spPr>
          <a:xfrm>
            <a:off x="10044311" y="1817781"/>
            <a:ext cx="1240028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крупный хищник</a:t>
            </a:r>
          </a:p>
        </p:txBody>
      </p:sp>
      <p:sp>
        <p:nvSpPr>
          <p:cNvPr id="20" name="Текст: хищники"/>
          <p:cNvSpPr txBox="1"/>
          <p:nvPr/>
        </p:nvSpPr>
        <p:spPr>
          <a:xfrm>
            <a:off x="10310614" y="2571843"/>
            <a:ext cx="675283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хищники</a:t>
            </a:r>
          </a:p>
        </p:txBody>
      </p:sp>
      <p:sp>
        <p:nvSpPr>
          <p:cNvPr id="21" name="Текст: травоядные"/>
          <p:cNvSpPr txBox="1"/>
          <p:nvPr/>
        </p:nvSpPr>
        <p:spPr>
          <a:xfrm>
            <a:off x="10606881" y="3266077"/>
            <a:ext cx="914575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травоядные</a:t>
            </a:r>
          </a:p>
        </p:txBody>
      </p:sp>
      <p:sp>
        <p:nvSpPr>
          <p:cNvPr id="22" name="Текст: растения"/>
          <p:cNvSpPr txBox="1"/>
          <p:nvPr/>
        </p:nvSpPr>
        <p:spPr>
          <a:xfrm>
            <a:off x="10900172" y="3907129"/>
            <a:ext cx="698190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растения</a:t>
            </a:r>
          </a:p>
        </p:txBody>
      </p:sp>
      <p:pic>
        <p:nvPicPr>
          <p:cNvPr id="23" name="Графика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4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25" name="Текст: 15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Графика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43888" cy="6858000"/>
          </a:xfrm>
          <a:prstGeom prst="rect">
            <a:avLst/>
          </a:prstGeom>
        </p:spPr>
      </p:pic>
      <p:sp>
        <p:nvSpPr>
          <p:cNvPr id="4" name="Текст: Барсук: Charles J. Sharp · CC BY-SA 4.0"/>
          <p:cNvSpPr txBox="1"/>
          <p:nvPr/>
        </p:nvSpPr>
        <p:spPr>
          <a:xfrm>
            <a:off x="10043517" y="130302"/>
            <a:ext cx="211402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Барсук: Charles J. Sharp · CC BY-SA 4.0</a:t>
            </a:r>
          </a:p>
        </p:txBody>
      </p:sp>
      <p:sp>
        <p:nvSpPr>
          <p:cNvPr id="5" name="Текст: НИША ПО ЭЛТОНУ"/>
          <p:cNvSpPr txBox="1"/>
          <p:nvPr/>
        </p:nvSpPr>
        <p:spPr>
          <a:xfrm>
            <a:off x="660400" y="537718"/>
            <a:ext cx="107554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НИША ПО ЭЛТОНУ</a:t>
            </a:r>
          </a:p>
        </p:txBody>
      </p:sp>
      <p:sp>
        <p:nvSpPr>
          <p:cNvPr id="6" name="Текст: «Вон идет барсук»"/>
          <p:cNvSpPr txBox="1"/>
          <p:nvPr/>
        </p:nvSpPr>
        <p:spPr>
          <a:xfrm>
            <a:off x="635000" y="693166"/>
            <a:ext cx="5861074" cy="792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240"/>
              </a:lnSpc>
            </a:pPr>
            <a:r>
              <a:rPr lang="ru-RU" sz="5200" b="0" i="0" spc="-234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  <a:t>«Вон идет барсук»</a:t>
            </a:r>
          </a:p>
        </p:txBody>
      </p:sp>
      <p:sp>
        <p:nvSpPr>
          <p:cNvPr id="7" name="Текст: Эколог должен сразу представлять его рол"/>
          <p:cNvSpPr txBox="1"/>
          <p:nvPr/>
        </p:nvSpPr>
        <p:spPr>
          <a:xfrm>
            <a:off x="660400" y="1836896"/>
            <a:ext cx="5283740" cy="8030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Эколог должен сразу представлять его роль в</a:t>
            </a:r>
            <a:b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сообществе. Как при словах </a:t>
            </a:r>
            <a:r>
              <a:rPr lang="ru-RU" sz="1700" b="0" i="0" spc="-26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</a:rPr>
              <a:t>«вон идет викарий» </a:t>
            </a:r>
            <a: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мы</a:t>
            </a:r>
            <a:b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понимаем, чем занят этот человек</a:t>
            </a:r>
          </a:p>
        </p:txBody>
      </p:sp>
      <p:pic>
        <p:nvPicPr>
          <p:cNvPr id="8" name="Графика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062412"/>
            <a:ext cx="2543175" cy="1081088"/>
          </a:xfrm>
          <a:prstGeom prst="rect">
            <a:avLst/>
          </a:prstGeom>
        </p:spPr>
      </p:pic>
      <p:sp>
        <p:nvSpPr>
          <p:cNvPr id="9" name="Текст: МЕСТООБИТАНИЕ"/>
          <p:cNvSpPr txBox="1"/>
          <p:nvPr/>
        </p:nvSpPr>
        <p:spPr>
          <a:xfrm>
            <a:off x="838200" y="42207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>
                    <a:alpha val="80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МЕСТООБИТАНИЕ</a:t>
            </a:r>
          </a:p>
        </p:txBody>
      </p:sp>
      <p:sp>
        <p:nvSpPr>
          <p:cNvPr id="10" name="Текст: «адрес»"/>
          <p:cNvSpPr txBox="1"/>
          <p:nvPr/>
        </p:nvSpPr>
        <p:spPr>
          <a:xfrm>
            <a:off x="825500" y="4471416"/>
            <a:ext cx="1438148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  <a:t>«адрес»</a:t>
            </a:r>
          </a:p>
        </p:txBody>
      </p:sp>
      <p:pic>
        <p:nvPicPr>
          <p:cNvPr id="11" name="Графика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4062412"/>
            <a:ext cx="2924175" cy="1081088"/>
          </a:xfrm>
          <a:prstGeom prst="rect">
            <a:avLst/>
          </a:prstGeom>
        </p:spPr>
      </p:pic>
      <p:sp>
        <p:nvSpPr>
          <p:cNvPr id="12" name="Текст: НИША"/>
          <p:cNvSpPr txBox="1"/>
          <p:nvPr/>
        </p:nvSpPr>
        <p:spPr>
          <a:xfrm>
            <a:off x="3530600" y="4220718"/>
            <a:ext cx="3345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НИША</a:t>
            </a:r>
          </a:p>
        </p:txBody>
      </p:sp>
      <p:sp>
        <p:nvSpPr>
          <p:cNvPr id="13" name="Текст: «профессия»"/>
          <p:cNvSpPr txBox="1"/>
          <p:nvPr/>
        </p:nvSpPr>
        <p:spPr>
          <a:xfrm>
            <a:off x="3517900" y="4471416"/>
            <a:ext cx="225343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«профессия»</a:t>
            </a:r>
          </a:p>
        </p:txBody>
      </p:sp>
      <p:sp>
        <p:nvSpPr>
          <p:cNvPr id="14" name="Текст: Так позже коротко сказал Юджин Одум"/>
          <p:cNvSpPr txBox="1"/>
          <p:nvPr/>
        </p:nvSpPr>
        <p:spPr>
          <a:xfrm>
            <a:off x="660400" y="5313934"/>
            <a:ext cx="2518315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FFFFFF">
                    <a:alpha val="80000"/>
                  </a:srgbClr>
                </a:solidFill>
                <a:latin typeface="Inter Tight"/>
                <a:ea typeface="Inter Tight"/>
                <a:cs typeface="Inter Tight"/>
              </a:rPr>
              <a:t>Так позже коротко сказал Юджин Одум</a:t>
            </a:r>
          </a:p>
        </p:txBody>
      </p:sp>
      <p:pic>
        <p:nvPicPr>
          <p:cNvPr id="15" name="Графика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6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7" name="Текст: 16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ОМПАНИЯ ГУДЗОНОВА ЗАЛИВА С XVII ВЕКА ЗА"/>
          <p:cNvSpPr txBox="1"/>
          <p:nvPr/>
        </p:nvSpPr>
        <p:spPr>
          <a:xfrm>
            <a:off x="660400" y="537718"/>
            <a:ext cx="589182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КОМПАНИЯ ГУДЗОНОВА ЗАЛИВА С XVII ВЕКА ЗАПИСЫВАЛА, СКОЛЬКО ШКУРОК СДАЛИ ОХОТНИКИ</a:t>
            </a:r>
          </a:p>
        </p:txBody>
      </p:sp>
      <p:sp>
        <p:nvSpPr>
          <p:cNvPr id="4" name="Текст: Волны в старых конторских книгах"/>
          <p:cNvSpPr txBox="1"/>
          <p:nvPr/>
        </p:nvSpPr>
        <p:spPr>
          <a:xfrm>
            <a:off x="635000" y="718312"/>
            <a:ext cx="8101378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Волны в старых конторских книгах</a:t>
            </a:r>
          </a:p>
        </p:txBody>
      </p:sp>
      <p:sp>
        <p:nvSpPr>
          <p:cNvPr id="5" name="Текст: ТЫС. ШКУРОК В ГОД"/>
          <p:cNvSpPr txBox="1"/>
          <p:nvPr/>
        </p:nvSpPr>
        <p:spPr>
          <a:xfrm>
            <a:off x="660400" y="1718818"/>
            <a:ext cx="129781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ТЫС. ШКУРОК В ГОД</a:t>
            </a:r>
          </a:p>
        </p:txBody>
      </p:sp>
      <p:pic>
        <p:nvPicPr>
          <p:cNvPr id="6" name="Графика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" y="1990725"/>
            <a:ext cx="7629525" cy="3752850"/>
          </a:xfrm>
          <a:prstGeom prst="rect">
            <a:avLst/>
          </a:prstGeom>
        </p:spPr>
      </p:pic>
      <p:pic>
        <p:nvPicPr>
          <p:cNvPr id="7" name="Графика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325" y="1905000"/>
            <a:ext cx="704850" cy="700088"/>
          </a:xfrm>
          <a:prstGeom prst="rect">
            <a:avLst/>
          </a:prstGeom>
        </p:spPr>
      </p:pic>
      <p:sp>
        <p:nvSpPr>
          <p:cNvPr id="8" name="Текст: заяц"/>
          <p:cNvSpPr txBox="1"/>
          <p:nvPr/>
        </p:nvSpPr>
        <p:spPr>
          <a:xfrm>
            <a:off x="9944100" y="2021078"/>
            <a:ext cx="478298" cy="2438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0"/>
              </a:lnSpc>
            </a:pPr>
            <a:r>
              <a:rPr lang="ru-RU" sz="1600" b="0" i="0" spc="-3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заяц</a:t>
            </a:r>
          </a:p>
        </p:txBody>
      </p:sp>
      <p:pic>
        <p:nvPicPr>
          <p:cNvPr id="9" name="Графика 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2295525"/>
            <a:ext cx="381000" cy="38100"/>
          </a:xfrm>
          <a:prstGeom prst="rect">
            <a:avLst/>
          </a:prstGeom>
        </p:spPr>
      </p:pic>
      <p:pic>
        <p:nvPicPr>
          <p:cNvPr id="10" name="Графика 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325" y="2767012"/>
            <a:ext cx="704850" cy="700088"/>
          </a:xfrm>
          <a:prstGeom prst="rect">
            <a:avLst/>
          </a:prstGeom>
        </p:spPr>
      </p:pic>
      <p:sp>
        <p:nvSpPr>
          <p:cNvPr id="11" name="Текст: рысь"/>
          <p:cNvSpPr txBox="1"/>
          <p:nvPr/>
        </p:nvSpPr>
        <p:spPr>
          <a:xfrm>
            <a:off x="9944100" y="2884678"/>
            <a:ext cx="533400" cy="2438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0"/>
              </a:lnSpc>
            </a:pPr>
            <a:r>
              <a:rPr lang="ru-RU" sz="1600" b="0" i="0" spc="-32">
                <a:solidFill>
                  <a:srgbClr val="1F3FD6"/>
                </a:solidFill>
                <a:latin typeface="Inter Tight SemiBold"/>
                <a:ea typeface="Inter Tight SemiBold"/>
                <a:cs typeface="Inter Tight SemiBold"/>
              </a:rPr>
              <a:t>рысь</a:t>
            </a:r>
          </a:p>
        </p:txBody>
      </p:sp>
      <p:pic>
        <p:nvPicPr>
          <p:cNvPr id="12" name="Графика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3162300"/>
            <a:ext cx="381000" cy="33338"/>
          </a:xfrm>
          <a:prstGeom prst="rect">
            <a:avLst/>
          </a:prstGeom>
        </p:spPr>
      </p:pic>
      <p:pic>
        <p:nvPicPr>
          <p:cNvPr id="13" name="Графика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3871912"/>
            <a:ext cx="2457450" cy="28575"/>
          </a:xfrm>
          <a:prstGeom prst="rect">
            <a:avLst/>
          </a:prstGeom>
        </p:spPr>
      </p:pic>
      <p:sp>
        <p:nvSpPr>
          <p:cNvPr id="14" name="Текст: Период около 10 лет"/>
          <p:cNvSpPr txBox="1"/>
          <p:nvPr/>
        </p:nvSpPr>
        <p:spPr>
          <a:xfrm>
            <a:off x="9080500" y="4027170"/>
            <a:ext cx="184708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Период около </a:t>
            </a:r>
            <a:r>
              <a:rPr lang="ru-RU" sz="1500" b="0" i="0" spc="-2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10 лет</a:t>
            </a:r>
          </a:p>
        </p:txBody>
      </p:sp>
      <p:sp>
        <p:nvSpPr>
          <p:cNvPr id="15" name="Текст: Пик у рыси на 1-2 года позже, чем у зайц"/>
          <p:cNvSpPr txBox="1"/>
          <p:nvPr/>
        </p:nvSpPr>
        <p:spPr>
          <a:xfrm>
            <a:off x="9080500" y="4440238"/>
            <a:ext cx="2008568" cy="4722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9"/>
              </a:lnSpc>
            </a:pP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Пик у рыси </a:t>
            </a:r>
            <a:r>
              <a:rPr lang="ru-RU" sz="1500" b="0" i="0" spc="-2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на 1-2 года</a:t>
            </a:r>
            <a:br>
              <a:rPr lang="ru-RU" sz="1500" b="0" i="0" spc="-2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500" b="0" i="0" spc="-2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позже</a:t>
            </a: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, чем у зайца</a:t>
            </a:r>
          </a:p>
        </p:txBody>
      </p:sp>
      <p:sp>
        <p:nvSpPr>
          <p:cNvPr id="16" name="Текст: Заяц: W. Siegmund, CC BY-SA 3.0 · Рысь: "/>
          <p:cNvSpPr txBox="1"/>
          <p:nvPr/>
        </p:nvSpPr>
        <p:spPr>
          <a:xfrm>
            <a:off x="6822877" y="587502"/>
            <a:ext cx="4935172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Заяц: W. Siegmund, CC BY-SA 3.0 · Рысь: Keith Williams, CC BY 2.0 · Данные: учебник Ю. Одума</a:t>
            </a:r>
          </a:p>
        </p:txBody>
      </p:sp>
      <p:pic>
        <p:nvPicPr>
          <p:cNvPr id="17" name="Графика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8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9" name="Текст: 17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Графика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43888" cy="6858000"/>
          </a:xfrm>
          <a:prstGeom prst="rect">
            <a:avLst/>
          </a:prstGeom>
        </p:spPr>
      </p:pic>
      <p:sp>
        <p:nvSpPr>
          <p:cNvPr id="4" name="Текст: Борщевик Сосновского (снято в Польше): K"/>
          <p:cNvSpPr txBox="1"/>
          <p:nvPr/>
        </p:nvSpPr>
        <p:spPr>
          <a:xfrm>
            <a:off x="7945041" y="130302"/>
            <a:ext cx="4296442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Борщевик Сосновского (снято в Польше): Krzysztof Ziarnek, Kenraiz · CC BY-SA 4.0</a:t>
            </a:r>
          </a:p>
        </p:txBody>
      </p:sp>
      <p:sp>
        <p:nvSpPr>
          <p:cNvPr id="5" name="Текст: 1958 · ЭЛТОН, «ЭКОЛОГИЯ НАШЕСТВИЙ ЖИВОТН"/>
          <p:cNvSpPr txBox="1"/>
          <p:nvPr/>
        </p:nvSpPr>
        <p:spPr>
          <a:xfrm>
            <a:off x="660400" y="537718"/>
            <a:ext cx="403940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rPr>
              <a:t>1958 </a:t>
            </a:r>
            <a:r>
              <a:rPr lang="ru-RU" sz="850" b="0" i="0" spc="51">
                <a:solidFill>
                  <a:srgbClr val="FFFFFF">
                    <a:alpha val="80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· ЭЛТОН, «ЭКОЛОГИЯ НАШЕСТВИЙ ЖИВОТНЫХ И РАСТЕНИЙ»</a:t>
            </a:r>
          </a:p>
        </p:txBody>
      </p:sp>
      <p:sp>
        <p:nvSpPr>
          <p:cNvPr id="6" name="Текст: Чужой на новом материке"/>
          <p:cNvSpPr txBox="1"/>
          <p:nvPr/>
        </p:nvSpPr>
        <p:spPr>
          <a:xfrm>
            <a:off x="635000" y="841137"/>
            <a:ext cx="3024759" cy="182254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84"/>
              </a:lnSpc>
            </a:pPr>
            <a:r>
              <a:rPr lang="ru-RU" sz="5200" b="0" i="0" spc="-234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  <a:t>Чужой</a:t>
            </a:r>
            <a:br>
              <a:rPr lang="ru-RU" sz="5200" b="0" i="0" spc="-234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5200" b="0" i="0" spc="-234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  <a:t>на новом</a:t>
            </a:r>
            <a:br>
              <a:rPr lang="ru-RU" sz="5200" b="0" i="0" spc="-234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5200" b="0" i="0" spc="-234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  <a:t>материке</a:t>
            </a:r>
          </a:p>
        </p:txBody>
      </p:sp>
      <p:sp>
        <p:nvSpPr>
          <p:cNvPr id="7" name="Текст: С этой книги началась наука об инвазивны"/>
          <p:cNvSpPr txBox="1"/>
          <p:nvPr/>
        </p:nvSpPr>
        <p:spPr>
          <a:xfrm>
            <a:off x="660400" y="2923286"/>
            <a:ext cx="5060752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С этой книги началась наука об </a:t>
            </a:r>
            <a:r>
              <a:rPr lang="ru-RU" sz="1700" b="0" i="0" spc="-26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</a:rPr>
              <a:t>инвазивных видах</a:t>
            </a:r>
          </a:p>
        </p:txBody>
      </p:sp>
      <p:pic>
        <p:nvPicPr>
          <p:cNvPr id="8" name="Графика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062412"/>
            <a:ext cx="5210175" cy="1338262"/>
          </a:xfrm>
          <a:prstGeom prst="rect">
            <a:avLst/>
          </a:prstGeom>
        </p:spPr>
      </p:pic>
      <p:sp>
        <p:nvSpPr>
          <p:cNvPr id="9" name="Текст: ПРИМЕР У НАС"/>
          <p:cNvSpPr txBox="1"/>
          <p:nvPr/>
        </p:nvSpPr>
        <p:spPr>
          <a:xfrm>
            <a:off x="850900" y="4220718"/>
            <a:ext cx="92726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ПРИМЕР У НАС</a:t>
            </a:r>
          </a:p>
        </p:txBody>
      </p:sp>
      <p:sp>
        <p:nvSpPr>
          <p:cNvPr id="10" name="Текст: Борщевик Сосновского захватил обочины Ле"/>
          <p:cNvSpPr txBox="1"/>
          <p:nvPr/>
        </p:nvSpPr>
        <p:spPr>
          <a:xfrm>
            <a:off x="850900" y="4434205"/>
            <a:ext cx="4739116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Борщевик Сосновского захватил обочины Ленобласти. С ним</a:t>
            </a:r>
            <a:b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борются каждое лето. </a:t>
            </a:r>
            <a:r>
              <a:rPr lang="ru-RU" sz="1300" b="0" i="0" spc="-13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Пока побеждает борщевик</a:t>
            </a:r>
          </a:p>
        </p:txBody>
      </p:sp>
      <p:pic>
        <p:nvPicPr>
          <p:cNvPr id="11" name="Графика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2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3" name="Текст: 18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Графика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533400"/>
            <a:ext cx="957262" cy="1247775"/>
          </a:xfrm>
          <a:prstGeom prst="rect">
            <a:avLst/>
          </a:prstGeom>
        </p:spPr>
      </p:pic>
      <p:sp>
        <p:nvSpPr>
          <p:cNvPr id="4" name="Текст: 04 · 1871-1955 ВЕЛИКОБРИТАНИЯ · БОТАНИК"/>
          <p:cNvSpPr txBox="1"/>
          <p:nvPr/>
        </p:nvSpPr>
        <p:spPr>
          <a:xfrm>
            <a:off x="1778000" y="524828"/>
            <a:ext cx="1816433" cy="2913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7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04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1871-1955</a:t>
            </a:r>
            <a:b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</a:b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ВЕЛИКОБРИТАНИЯ · БОТАНИК</a:t>
            </a:r>
          </a:p>
        </p:txBody>
      </p:sp>
      <p:sp>
        <p:nvSpPr>
          <p:cNvPr id="5" name="Текст: Артур Тенсли"/>
          <p:cNvSpPr txBox="1"/>
          <p:nvPr/>
        </p:nvSpPr>
        <p:spPr>
          <a:xfrm>
            <a:off x="1752600" y="1055767"/>
            <a:ext cx="1175226" cy="630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84"/>
              </a:lnSpc>
            </a:pP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Артур</a:t>
            </a:r>
            <a:b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Тенсли</a:t>
            </a:r>
          </a:p>
        </p:txBody>
      </p:sp>
      <p:sp>
        <p:nvSpPr>
          <p:cNvPr id="6" name="Текст: На фото ему около 22 лет"/>
          <p:cNvSpPr txBox="1"/>
          <p:nvPr/>
        </p:nvSpPr>
        <p:spPr>
          <a:xfrm>
            <a:off x="660400" y="1844802"/>
            <a:ext cx="131566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На фото ему около 22 лет</a:t>
            </a:r>
          </a:p>
        </p:txBody>
      </p:sp>
      <p:sp>
        <p:nvSpPr>
          <p:cNvPr id="7" name="Текст: 1935"/>
          <p:cNvSpPr txBox="1"/>
          <p:nvPr/>
        </p:nvSpPr>
        <p:spPr>
          <a:xfrm>
            <a:off x="609600" y="2157730"/>
            <a:ext cx="1731200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200"/>
              </a:lnSpc>
            </a:pPr>
            <a:r>
              <a:rPr lang="ru-RU" sz="6000" b="0" i="0" spc="-300">
                <a:solidFill>
                  <a:srgbClr val="1F3FD6"/>
                </a:solidFill>
                <a:latin typeface="Inter Tight ExtraBold"/>
                <a:ea typeface="Inter Tight ExtraBold"/>
                <a:cs typeface="Inter Tight ExtraBold"/>
              </a:rPr>
              <a:t>1935</a:t>
            </a:r>
          </a:p>
        </p:txBody>
      </p:sp>
      <p:sp>
        <p:nvSpPr>
          <p:cNvPr id="8" name="Текст: «экосистема»"/>
          <p:cNvSpPr txBox="1"/>
          <p:nvPr/>
        </p:nvSpPr>
        <p:spPr>
          <a:xfrm>
            <a:off x="660400" y="3073908"/>
            <a:ext cx="2336292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78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«экосистема»</a:t>
            </a:r>
          </a:p>
        </p:txBody>
      </p:sp>
      <p:sp>
        <p:nvSpPr>
          <p:cNvPr id="9" name="Текст: ввел, когда ему было уже за 60"/>
          <p:cNvSpPr txBox="1"/>
          <p:nvPr/>
        </p:nvSpPr>
        <p:spPr>
          <a:xfrm>
            <a:off x="660400" y="3535934"/>
            <a:ext cx="1989066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ввел, когда ему было уже за 60</a:t>
            </a:r>
          </a:p>
        </p:txBody>
      </p:sp>
      <p:pic>
        <p:nvPicPr>
          <p:cNvPr id="10" name="Графика 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000500"/>
            <a:ext cx="3943350" cy="28575"/>
          </a:xfrm>
          <a:prstGeom prst="rect">
            <a:avLst/>
          </a:prstGeom>
        </p:spPr>
      </p:pic>
      <p:sp>
        <p:nvSpPr>
          <p:cNvPr id="11" name="Текст: Организмы нельзя изучать отдельно от сре"/>
          <p:cNvSpPr txBox="1"/>
          <p:nvPr/>
        </p:nvSpPr>
        <p:spPr>
          <a:xfrm>
            <a:off x="660400" y="4148138"/>
            <a:ext cx="4193873" cy="7084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9"/>
              </a:lnSpc>
            </a:pP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Организмы нельзя изучать отдельно от среды:</a:t>
            </a:r>
            <a:b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вместе это </a:t>
            </a:r>
            <a:r>
              <a:rPr lang="ru-RU" sz="1500" b="0" i="0" spc="-22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одна система</a:t>
            </a: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. Размер любой: лужа,</a:t>
            </a:r>
            <a:b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00" b="0" i="0" spc="-2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лес, океан</a:t>
            </a:r>
          </a:p>
        </p:txBody>
      </p:sp>
      <p:sp>
        <p:nvSpPr>
          <p:cNvPr id="12" name="Текст: Спорил с Клементсом: сообщество не орган"/>
          <p:cNvSpPr txBox="1"/>
          <p:nvPr/>
        </p:nvSpPr>
        <p:spPr>
          <a:xfrm>
            <a:off x="660400" y="5322173"/>
            <a:ext cx="3946636" cy="31531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41"/>
              </a:lnSpc>
            </a:pPr>
            <a:r>
              <a:rPr lang="ru-RU" sz="900" b="0" i="0" spc="-4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Спорил с Клементсом: сообщество не организм · 1913: первый президент</a:t>
            </a:r>
            <a:br>
              <a:rPr lang="ru-RU" sz="900" b="0" i="0" spc="-4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</a:br>
            <a:r>
              <a:rPr lang="ru-RU" sz="900" b="0" i="0" spc="-4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первого в мире экологического общества · ездил в Вену к Фрейду</a:t>
            </a:r>
          </a:p>
        </p:txBody>
      </p:sp>
      <p:pic>
        <p:nvPicPr>
          <p:cNvPr id="13" name="Графика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1252538"/>
            <a:ext cx="6415088" cy="5029200"/>
          </a:xfrm>
          <a:prstGeom prst="rect">
            <a:avLst/>
          </a:prstGeom>
        </p:spPr>
      </p:pic>
      <p:sp>
        <p:nvSpPr>
          <p:cNvPr id="14" name="Текст: климат"/>
          <p:cNvSpPr txBox="1"/>
          <p:nvPr/>
        </p:nvSpPr>
        <p:spPr>
          <a:xfrm>
            <a:off x="6273804" y="1262354"/>
            <a:ext cx="55651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климат</a:t>
            </a:r>
          </a:p>
        </p:txBody>
      </p:sp>
      <p:sp>
        <p:nvSpPr>
          <p:cNvPr id="15" name="Текст: дождь"/>
          <p:cNvSpPr txBox="1"/>
          <p:nvPr/>
        </p:nvSpPr>
        <p:spPr>
          <a:xfrm>
            <a:off x="11019135" y="1777300"/>
            <a:ext cx="514929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дождь</a:t>
            </a:r>
          </a:p>
        </p:txBody>
      </p:sp>
      <p:sp>
        <p:nvSpPr>
          <p:cNvPr id="16" name="Текст: растения"/>
          <p:cNvSpPr txBox="1"/>
          <p:nvPr/>
        </p:nvSpPr>
        <p:spPr>
          <a:xfrm>
            <a:off x="10957421" y="3157432"/>
            <a:ext cx="698190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растения</a:t>
            </a:r>
          </a:p>
        </p:txBody>
      </p:sp>
      <p:sp>
        <p:nvSpPr>
          <p:cNvPr id="17" name="Текст: животные"/>
          <p:cNvSpPr txBox="1"/>
          <p:nvPr/>
        </p:nvSpPr>
        <p:spPr>
          <a:xfrm>
            <a:off x="7302929" y="2668681"/>
            <a:ext cx="775065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животные</a:t>
            </a:r>
          </a:p>
        </p:txBody>
      </p:sp>
      <p:sp>
        <p:nvSpPr>
          <p:cNvPr id="18" name="Текст: вода"/>
          <p:cNvSpPr txBox="1"/>
          <p:nvPr/>
        </p:nvSpPr>
        <p:spPr>
          <a:xfrm>
            <a:off x="5553432" y="3706410"/>
            <a:ext cx="382230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вода</a:t>
            </a:r>
          </a:p>
        </p:txBody>
      </p:sp>
      <p:sp>
        <p:nvSpPr>
          <p:cNvPr id="19" name="Текст: почва"/>
          <p:cNvSpPr txBox="1"/>
          <p:nvPr/>
        </p:nvSpPr>
        <p:spPr>
          <a:xfrm>
            <a:off x="11081445" y="5708446"/>
            <a:ext cx="457867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почва</a:t>
            </a:r>
          </a:p>
        </p:txBody>
      </p:sp>
      <p:pic>
        <p:nvPicPr>
          <p:cNvPr id="20" name="Графика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1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22" name="Текст: 19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Графика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0"/>
            <a:ext cx="8248650" cy="6858000"/>
          </a:xfrm>
          <a:prstGeom prst="rect">
            <a:avLst/>
          </a:prstGeom>
        </p:spPr>
      </p:pic>
      <p:sp>
        <p:nvSpPr>
          <p:cNvPr id="4" name="Текст: Голубая акула: Diego Delso · CC BY-SA 4."/>
          <p:cNvSpPr txBox="1"/>
          <p:nvPr/>
        </p:nvSpPr>
        <p:spPr>
          <a:xfrm>
            <a:off x="152400" y="130302"/>
            <a:ext cx="222051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Голубая акула: Diego Delso · CC BY-SA 4.0</a:t>
            </a:r>
          </a:p>
        </p:txBody>
      </p:sp>
      <p:sp>
        <p:nvSpPr>
          <p:cNvPr id="5" name="Текст: 05 · 1860-1940 · ИТАЛИЯ · МАТЕМАТИК"/>
          <p:cNvSpPr txBox="1"/>
          <p:nvPr/>
        </p:nvSpPr>
        <p:spPr>
          <a:xfrm>
            <a:off x="5715000" y="537718"/>
            <a:ext cx="263161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rPr>
              <a:t>05 </a:t>
            </a:r>
            <a:r>
              <a:rPr lang="ru-RU" sz="850" b="0" i="0" spc="51">
                <a:solidFill>
                  <a:srgbClr val="FFFFFF">
                    <a:alpha val="80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· 1860-1940 · ИТАЛИЯ · МАТЕМАТИК</a:t>
            </a:r>
          </a:p>
        </p:txBody>
      </p:sp>
      <p:sp>
        <p:nvSpPr>
          <p:cNvPr id="6" name="Текст: Вито Вольтерра"/>
          <p:cNvSpPr txBox="1"/>
          <p:nvPr/>
        </p:nvSpPr>
        <p:spPr>
          <a:xfrm>
            <a:off x="5689600" y="718312"/>
            <a:ext cx="3683611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FFFFF"/>
                </a:solidFill>
                <a:latin typeface="Inter Tight ExtraBold"/>
                <a:ea typeface="Inter Tight ExtraBold"/>
                <a:cs typeface="Inter Tight ExtraBold"/>
              </a:rPr>
              <a:t>Вито Вольтерра</a:t>
            </a:r>
          </a:p>
        </p:txBody>
      </p:sp>
      <p:sp>
        <p:nvSpPr>
          <p:cNvPr id="7" name="Текст: и Альфред Лотка, статистик страховой ком"/>
          <p:cNvSpPr txBox="1"/>
          <p:nvPr/>
        </p:nvSpPr>
        <p:spPr>
          <a:xfrm>
            <a:off x="5715000" y="1421289"/>
            <a:ext cx="5944862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FFFFF">
                    <a:alpha val="75000"/>
                  </a:srgbClr>
                </a:solidFill>
                <a:latin typeface="Inter Tight"/>
                <a:ea typeface="Inter Tight"/>
                <a:cs typeface="Inter Tight"/>
              </a:rPr>
              <a:t>и Альфред Лотка, статистик страховой компании (США): уравнения вывели независимо, 1925 и</a:t>
            </a:r>
            <a:br>
              <a:rPr lang="ru-RU" sz="1050" b="0" i="0" spc="-5">
                <a:solidFill>
                  <a:srgbClr val="FFFFFF">
                    <a:alpha val="75000"/>
                  </a:srgbClr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FFFFF">
                    <a:alpha val="75000"/>
                  </a:srgbClr>
                </a:solidFill>
                <a:latin typeface="Inter Tight"/>
                <a:ea typeface="Inter Tight"/>
                <a:cs typeface="Inter Tight"/>
              </a:rPr>
              <a:t>1926</a:t>
            </a:r>
          </a:p>
        </p:txBody>
      </p:sp>
      <p:sp>
        <p:nvSpPr>
          <p:cNvPr id="8" name="Текст: Будущий зять рассказал: в Первую мировую"/>
          <p:cNvSpPr txBox="1"/>
          <p:nvPr/>
        </p:nvSpPr>
        <p:spPr>
          <a:xfrm>
            <a:off x="5715000" y="2154317"/>
            <a:ext cx="5600113" cy="75574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84"/>
              </a:lnSpc>
            </a:pPr>
            <a:r>
              <a:rPr lang="ru-RU" sz="1600" b="0" i="0" spc="-24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Будущий зять рассказал: в Первую мировую рыбаки на</a:t>
            </a:r>
            <a:br>
              <a:rPr lang="ru-RU" sz="1600" b="0" i="0" spc="-24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</a:br>
            <a:r>
              <a:rPr lang="ru-RU" sz="1600" b="0" i="0" spc="-24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Адриатике выходили в море реже, а в уловах стало </a:t>
            </a:r>
            <a:r>
              <a:rPr lang="ru-RU" sz="1600" b="0" i="0" spc="-24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</a:rPr>
              <a:t>больше</a:t>
            </a:r>
            <a:br>
              <a:rPr lang="ru-RU" sz="1600" b="0" i="0" spc="-24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600" b="0" i="0" spc="-24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</a:rPr>
              <a:t>акул и скатов</a:t>
            </a:r>
          </a:p>
        </p:txBody>
      </p:sp>
      <p:sp>
        <p:nvSpPr>
          <p:cNvPr id="9" name="Текст: ━ ЖЕРТВА ━ ХИЩНИК СХЕМА ПО УРАВНЕНИЯМ"/>
          <p:cNvSpPr txBox="1"/>
          <p:nvPr/>
        </p:nvSpPr>
        <p:spPr>
          <a:xfrm>
            <a:off x="5715000" y="3814318"/>
            <a:ext cx="322442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rPr>
              <a:t>━ ЖЕРТВА </a:t>
            </a:r>
            <a:r>
              <a:rPr lang="ru-RU" sz="850" b="0" i="0" spc="51">
                <a:solidFill>
                  <a:srgbClr val="8EA4FF"/>
                </a:solidFill>
                <a:latin typeface="IBM Plex Mono Medium"/>
                <a:ea typeface="IBM Plex Mono Medium"/>
                <a:cs typeface="IBM Plex Mono Medium"/>
              </a:rPr>
              <a:t>━ ХИЩНИК </a:t>
            </a:r>
            <a:r>
              <a:rPr lang="ru-RU" sz="850" b="0" i="0" spc="51">
                <a:solidFill>
                  <a:srgbClr val="FFFFFF">
                    <a:alpha val="60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СХЕМА ПО УРАВНЕНИЯМ</a:t>
            </a:r>
          </a:p>
        </p:txBody>
      </p:sp>
      <p:pic>
        <p:nvPicPr>
          <p:cNvPr id="10" name="Графика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2" y="4162425"/>
            <a:ext cx="5838825" cy="1028700"/>
          </a:xfrm>
          <a:prstGeom prst="rect">
            <a:avLst/>
          </a:prstGeom>
        </p:spPr>
      </p:pic>
      <p:sp>
        <p:nvSpPr>
          <p:cNvPr id="11" name="Текст: Хищник все время опаздывает"/>
          <p:cNvSpPr txBox="1"/>
          <p:nvPr/>
        </p:nvSpPr>
        <p:spPr>
          <a:xfrm>
            <a:off x="5715000" y="5374386"/>
            <a:ext cx="3151680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Хищник все время </a:t>
            </a:r>
            <a:r>
              <a:rPr lang="ru-RU" sz="1700" b="0" i="0" spc="-26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</a:rPr>
              <a:t>опаздывает</a:t>
            </a:r>
          </a:p>
        </p:txBody>
      </p:sp>
      <p:pic>
        <p:nvPicPr>
          <p:cNvPr id="12" name="Графика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3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4" name="Текст: 20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1931 · МУССОЛИНИ ТРЕБУЕТ ОТ ПРОФЕССОРОВ "/>
          <p:cNvSpPr txBox="1"/>
          <p:nvPr/>
        </p:nvSpPr>
        <p:spPr>
          <a:xfrm>
            <a:off x="660400" y="537718"/>
            <a:ext cx="515093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1931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МУССОЛИНИ ТРЕБУЕТ ОТ ПРОФЕССОРОВ ПРИСЯГНУТЬ ФАШИСТСКОМУ РЕЖИМУ</a:t>
            </a:r>
          </a:p>
        </p:txBody>
      </p:sp>
      <p:sp>
        <p:nvSpPr>
          <p:cNvPr id="4" name="Текст: 12"/>
          <p:cNvSpPr txBox="1"/>
          <p:nvPr/>
        </p:nvSpPr>
        <p:spPr>
          <a:xfrm>
            <a:off x="584200" y="579120"/>
            <a:ext cx="1442276" cy="1752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800"/>
              </a:lnSpc>
            </a:pPr>
            <a:r>
              <a:rPr lang="ru-RU" sz="11500" b="0" i="0" spc="-575">
                <a:solidFill>
                  <a:srgbClr val="1F3FD6"/>
                </a:solidFill>
                <a:latin typeface="Inter Tight ExtraBold"/>
                <a:ea typeface="Inter Tight ExtraBold"/>
                <a:cs typeface="Inter Tight ExtraBold"/>
              </a:rPr>
              <a:t>12</a:t>
            </a:r>
          </a:p>
        </p:txBody>
      </p:sp>
      <p:sp>
        <p:nvSpPr>
          <p:cNvPr id="5" name="Текст: из 1200 с лишним отказались"/>
          <p:cNvSpPr txBox="1"/>
          <p:nvPr/>
        </p:nvSpPr>
        <p:spPr>
          <a:xfrm>
            <a:off x="2667000" y="1347216"/>
            <a:ext cx="4727869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из 1200 с лишним отказались</a:t>
            </a:r>
          </a:p>
        </p:txBody>
      </p:sp>
      <p:pic>
        <p:nvPicPr>
          <p:cNvPr id="6" name="Графика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676525"/>
            <a:ext cx="6815138" cy="3476625"/>
          </a:xfrm>
          <a:prstGeom prst="rect">
            <a:avLst/>
          </a:prstGeom>
        </p:spPr>
      </p:pic>
      <p:pic>
        <p:nvPicPr>
          <p:cNvPr id="7" name="Графика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071812"/>
            <a:ext cx="719138" cy="185738"/>
          </a:xfrm>
          <a:prstGeom prst="rect">
            <a:avLst/>
          </a:prstGeom>
        </p:spPr>
      </p:pic>
      <p:sp>
        <p:nvSpPr>
          <p:cNvPr id="8" name="Текст: ВОЛЬТЕРРА"/>
          <p:cNvSpPr txBox="1"/>
          <p:nvPr/>
        </p:nvSpPr>
        <p:spPr>
          <a:xfrm>
            <a:off x="2249091" y="3096768"/>
            <a:ext cx="705001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ВОЛЬТЕРРА</a:t>
            </a:r>
          </a:p>
        </p:txBody>
      </p:sp>
      <p:pic>
        <p:nvPicPr>
          <p:cNvPr id="9" name="Графика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728912"/>
            <a:ext cx="3343275" cy="28575"/>
          </a:xfrm>
          <a:prstGeom prst="rect">
            <a:avLst/>
          </a:prstGeom>
        </p:spPr>
      </p:pic>
      <p:sp>
        <p:nvSpPr>
          <p:cNvPr id="10" name="Текст: Вольтерра был одним из двенадцати"/>
          <p:cNvSpPr txBox="1"/>
          <p:nvPr/>
        </p:nvSpPr>
        <p:spPr>
          <a:xfrm>
            <a:off x="8191500" y="2878296"/>
            <a:ext cx="2475182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Вольтерра был одним из</a:t>
            </a:r>
            <a:b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двенадцати</a:t>
            </a:r>
          </a:p>
        </p:txBody>
      </p:sp>
      <p:pic>
        <p:nvPicPr>
          <p:cNvPr id="11" name="Графика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0" y="3681412"/>
            <a:ext cx="3343275" cy="9525"/>
          </a:xfrm>
          <a:prstGeom prst="rect">
            <a:avLst/>
          </a:prstGeom>
        </p:spPr>
      </p:pic>
      <p:sp>
        <p:nvSpPr>
          <p:cNvPr id="12" name="Текст: За это у него отобрали кафедру"/>
          <p:cNvSpPr txBox="1"/>
          <p:nvPr/>
        </p:nvSpPr>
        <p:spPr>
          <a:xfrm>
            <a:off x="8191500" y="3812286"/>
            <a:ext cx="3145695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За это у него отобрали кафедру</a:t>
            </a:r>
          </a:p>
        </p:txBody>
      </p:sp>
      <p:pic>
        <p:nvPicPr>
          <p:cNvPr id="13" name="Графика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4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5" name="Текст: 21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Графика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533400"/>
            <a:ext cx="4829175" cy="5081588"/>
          </a:xfrm>
          <a:prstGeom prst="rect">
            <a:avLst/>
          </a:prstGeom>
        </p:spPr>
      </p:pic>
      <p:sp>
        <p:nvSpPr>
          <p:cNvPr id="4" name="Текст: Инфузория-туфелька под микроскопом · J. "/>
          <p:cNvSpPr txBox="1"/>
          <p:nvPr/>
        </p:nvSpPr>
        <p:spPr>
          <a:xfrm>
            <a:off x="660400" y="5680202"/>
            <a:ext cx="333834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Инфузория-туфелька под микроскопом · J. Reischig, CC BY-SA 3.0</a:t>
            </a:r>
          </a:p>
        </p:txBody>
      </p:sp>
      <p:sp>
        <p:nvSpPr>
          <p:cNvPr id="5" name="Текст: МОСКВА · СССР"/>
          <p:cNvSpPr txBox="1"/>
          <p:nvPr/>
        </p:nvSpPr>
        <p:spPr>
          <a:xfrm>
            <a:off x="6096000" y="5377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МОСКВА · СССР</a:t>
            </a:r>
          </a:p>
        </p:txBody>
      </p:sp>
      <p:sp>
        <p:nvSpPr>
          <p:cNvPr id="6" name="Текст: Георгий Гаузе"/>
          <p:cNvSpPr txBox="1"/>
          <p:nvPr/>
        </p:nvSpPr>
        <p:spPr>
          <a:xfrm>
            <a:off x="6070600" y="718312"/>
            <a:ext cx="3203789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Георгий Гаузе</a:t>
            </a:r>
          </a:p>
        </p:txBody>
      </p:sp>
      <p:sp>
        <p:nvSpPr>
          <p:cNvPr id="7" name="Текст: Проверил уравнения на живых: инфузории и"/>
          <p:cNvSpPr txBox="1"/>
          <p:nvPr/>
        </p:nvSpPr>
        <p:spPr>
          <a:xfrm>
            <a:off x="6096000" y="1455896"/>
            <a:ext cx="5473605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Проверил уравнения на живых: инфузории и дрожжи в</a:t>
            </a:r>
            <a:b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пробирках</a:t>
            </a:r>
          </a:p>
        </p:txBody>
      </p:sp>
      <p:sp>
        <p:nvSpPr>
          <p:cNvPr id="8" name="Текст: 1934"/>
          <p:cNvSpPr txBox="1"/>
          <p:nvPr/>
        </p:nvSpPr>
        <p:spPr>
          <a:xfrm>
            <a:off x="6070600" y="2094230"/>
            <a:ext cx="1754418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200"/>
              </a:lnSpc>
            </a:pPr>
            <a:r>
              <a:rPr lang="ru-RU" sz="6000" b="0" i="0" spc="-300">
                <a:solidFill>
                  <a:srgbClr val="1F3FD6"/>
                </a:solidFill>
                <a:latin typeface="Inter Tight ExtraBold"/>
                <a:ea typeface="Inter Tight ExtraBold"/>
                <a:cs typeface="Inter Tight ExtraBold"/>
              </a:rPr>
              <a:t>1934</a:t>
            </a:r>
          </a:p>
        </p:txBody>
      </p:sp>
      <p:sp>
        <p:nvSpPr>
          <p:cNvPr id="9" name="Текст: книга «Борьба за существование» вышла в "/>
          <p:cNvSpPr txBox="1"/>
          <p:nvPr/>
        </p:nvSpPr>
        <p:spPr>
          <a:xfrm>
            <a:off x="6096000" y="2970689"/>
            <a:ext cx="2720150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книга «Борьба за существование» вышла в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США</a:t>
            </a:r>
          </a:p>
        </p:txBody>
      </p:sp>
      <p:sp>
        <p:nvSpPr>
          <p:cNvPr id="10" name="Текст: 23"/>
          <p:cNvSpPr txBox="1"/>
          <p:nvPr/>
        </p:nvSpPr>
        <p:spPr>
          <a:xfrm>
            <a:off x="9207500" y="2094230"/>
            <a:ext cx="949142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200"/>
              </a:lnSpc>
            </a:pPr>
            <a:r>
              <a:rPr lang="ru-RU" sz="6000" b="0" i="0" spc="-300">
                <a:solidFill>
                  <a:srgbClr val="1F3FD6"/>
                </a:solidFill>
                <a:latin typeface="Inter Tight ExtraBold"/>
                <a:ea typeface="Inter Tight ExtraBold"/>
                <a:cs typeface="Inter Tight ExtraBold"/>
              </a:rPr>
              <a:t>23</a:t>
            </a:r>
          </a:p>
        </p:txBody>
      </p:sp>
      <p:sp>
        <p:nvSpPr>
          <p:cNvPr id="11" name="Текст: года было автору"/>
          <p:cNvSpPr txBox="1"/>
          <p:nvPr/>
        </p:nvSpPr>
        <p:spPr>
          <a:xfrm>
            <a:off x="9232900" y="2989834"/>
            <a:ext cx="1126522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года было автору</a:t>
            </a:r>
          </a:p>
        </p:txBody>
      </p:sp>
      <p:pic>
        <p:nvPicPr>
          <p:cNvPr id="12" name="Графика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19500"/>
            <a:ext cx="5438775" cy="28575"/>
          </a:xfrm>
          <a:prstGeom prst="rect">
            <a:avLst/>
          </a:prstGeom>
        </p:spPr>
      </p:pic>
      <p:sp>
        <p:nvSpPr>
          <p:cNvPr id="13" name="Текст: ПРИНЦИП ГАУЗЕ"/>
          <p:cNvSpPr txBox="1"/>
          <p:nvPr/>
        </p:nvSpPr>
        <p:spPr>
          <a:xfrm>
            <a:off x="6096000" y="37635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ПРИНЦИП ГАУЗЕ</a:t>
            </a:r>
          </a:p>
        </p:txBody>
      </p:sp>
      <p:sp>
        <p:nvSpPr>
          <p:cNvPr id="14" name="Текст: Два вида с одинаковой нишей долго вместе"/>
          <p:cNvSpPr txBox="1"/>
          <p:nvPr/>
        </p:nvSpPr>
        <p:spPr>
          <a:xfrm>
            <a:off x="6096000" y="3977164"/>
            <a:ext cx="5145365" cy="69334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30"/>
              </a:lnSpc>
            </a:pPr>
            <a:r>
              <a:rPr lang="ru-RU" sz="2600" b="0" i="1" spc="-39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Два вида с одинаковой нишей долго</a:t>
            </a:r>
            <a:br>
              <a:rPr lang="ru-RU" sz="2600" b="0" i="1" spc="-39">
                <a:solidFill>
                  <a:srgbClr val="0F0F0E"/>
                </a:solidFill>
                <a:latin typeface="Spectral"/>
                <a:ea typeface="Spectral"/>
                <a:cs typeface="Spectral"/>
              </a:rPr>
            </a:br>
            <a:r>
              <a:rPr lang="ru-RU" sz="2600" b="0" i="1" spc="-39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вместе не живут</a:t>
            </a:r>
          </a:p>
        </p:txBody>
      </p:sp>
      <p:pic>
        <p:nvPicPr>
          <p:cNvPr id="15" name="Графика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8" y="4824412"/>
            <a:ext cx="5443538" cy="1057275"/>
          </a:xfrm>
          <a:prstGeom prst="rect">
            <a:avLst/>
          </a:prstGeom>
        </p:spPr>
      </p:pic>
      <p:pic>
        <p:nvPicPr>
          <p:cNvPr id="16" name="Графика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7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18" name="Текст: 22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н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6 · 1913-2002 · США · АВТОР ГЛАВНОГО УЧ"/>
          <p:cNvSpPr txBox="1"/>
          <p:nvPr/>
        </p:nvSpPr>
        <p:spPr>
          <a:xfrm>
            <a:off x="660400" y="537718"/>
            <a:ext cx="344669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06 </a:t>
            </a: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· 1913-2002 · США · АВТОР ГЛАВНОГО УЧЕБНИКА</a:t>
            </a:r>
          </a:p>
        </p:txBody>
      </p:sp>
      <p:sp>
        <p:nvSpPr>
          <p:cNvPr id="4" name="Текст: Юджин Одум"/>
          <p:cNvSpPr txBox="1"/>
          <p:nvPr/>
        </p:nvSpPr>
        <p:spPr>
          <a:xfrm>
            <a:off x="635000" y="718312"/>
            <a:ext cx="3232269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Юджин Одум</a:t>
            </a:r>
          </a:p>
        </p:txBody>
      </p:sp>
      <p:sp>
        <p:nvSpPr>
          <p:cNvPr id="5" name="Текст: Новых законов не открывал, зато собрал в"/>
          <p:cNvSpPr txBox="1"/>
          <p:nvPr/>
        </p:nvSpPr>
        <p:spPr>
          <a:xfrm>
            <a:off x="6350000" y="692150"/>
            <a:ext cx="5321094" cy="10001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25"/>
              </a:lnSpc>
            </a:pPr>
            <a:r>
              <a:rPr lang="ru-RU" sz="2500" b="0" i="1" spc="-38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Новых законов не открывал, зато</a:t>
            </a:r>
            <a:br>
              <a:rPr lang="ru-RU" sz="2500" b="0" i="1" spc="-38">
                <a:solidFill>
                  <a:srgbClr val="1F3FD6"/>
                </a:solidFill>
                <a:latin typeface="Spectral"/>
                <a:ea typeface="Spectral"/>
                <a:cs typeface="Spectral"/>
              </a:rPr>
            </a:br>
            <a:r>
              <a:rPr lang="ru-RU" sz="2500" b="0" i="1" spc="-38">
                <a:solidFill>
                  <a:srgbClr val="1F3FD6"/>
                </a:solidFill>
                <a:latin typeface="Spectral"/>
                <a:ea typeface="Spectral"/>
                <a:cs typeface="Spectral"/>
              </a:rPr>
              <a:t>собрал всю экологию </a:t>
            </a:r>
            <a:r>
              <a:rPr lang="ru-RU" sz="2500" b="0" i="1" spc="-38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в одну понятную</a:t>
            </a:r>
            <a:br>
              <a:rPr lang="ru-RU" sz="2500" b="0" i="1" spc="-38">
                <a:solidFill>
                  <a:srgbClr val="0F0F0E"/>
                </a:solidFill>
                <a:latin typeface="Spectral"/>
                <a:ea typeface="Spectral"/>
                <a:cs typeface="Spectral"/>
              </a:rPr>
            </a:br>
            <a:r>
              <a:rPr lang="ru-RU" sz="2500" b="0" i="1" spc="-38">
                <a:solidFill>
                  <a:srgbClr val="0F0F0E"/>
                </a:solidFill>
                <a:latin typeface="Spectral"/>
                <a:ea typeface="Spectral"/>
                <a:cs typeface="Spectral"/>
              </a:rPr>
              <a:t>систему</a:t>
            </a:r>
          </a:p>
        </p:txBody>
      </p:sp>
      <p:pic>
        <p:nvPicPr>
          <p:cNvPr id="6" name="Графика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286000"/>
            <a:ext cx="10877550" cy="28575"/>
          </a:xfrm>
          <a:prstGeom prst="rect">
            <a:avLst/>
          </a:prstGeom>
        </p:spPr>
      </p:pic>
      <p:sp>
        <p:nvSpPr>
          <p:cNvPr id="7" name="Текст: 1946"/>
          <p:cNvSpPr txBox="1"/>
          <p:nvPr/>
        </p:nvSpPr>
        <p:spPr>
          <a:xfrm>
            <a:off x="660400" y="2378964"/>
            <a:ext cx="987012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60"/>
              </a:lnSpc>
            </a:pPr>
            <a:r>
              <a:rPr lang="ru-RU" sz="3300" b="0" i="0" spc="-165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1946</a:t>
            </a:r>
          </a:p>
        </p:txBody>
      </p:sp>
      <p:sp>
        <p:nvSpPr>
          <p:cNvPr id="8" name="Текст: Предложил сделать экологию обязательной."/>
          <p:cNvSpPr txBox="1"/>
          <p:nvPr/>
        </p:nvSpPr>
        <p:spPr>
          <a:xfrm>
            <a:off x="660400" y="2890917"/>
            <a:ext cx="2577028" cy="4204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Предложил сделать экологию</a:t>
            </a:r>
            <a:b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обязательной. </a:t>
            </a:r>
            <a:r>
              <a:rPr lang="ru-RU" sz="1200" b="0" i="0" spc="-12">
                <a:solidFill>
                  <a:srgbClr val="1F3FD6"/>
                </a:solidFill>
                <a:latin typeface="Inter Tight SemiBold"/>
                <a:ea typeface="Inter Tight SemiBold"/>
                <a:cs typeface="Inter Tight SemiBold"/>
              </a:rPr>
              <a:t>Коллеги засмеялись</a:t>
            </a:r>
          </a:p>
        </p:txBody>
      </p:sp>
      <p:sp>
        <p:nvSpPr>
          <p:cNvPr id="9" name="Текст: 1953"/>
          <p:cNvSpPr txBox="1"/>
          <p:nvPr/>
        </p:nvSpPr>
        <p:spPr>
          <a:xfrm>
            <a:off x="3378200" y="2378964"/>
            <a:ext cx="969367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60"/>
              </a:lnSpc>
            </a:pPr>
            <a:r>
              <a:rPr lang="ru-RU" sz="3300" b="0" i="0" spc="-165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1953</a:t>
            </a:r>
          </a:p>
        </p:txBody>
      </p:sp>
      <p:sp>
        <p:nvSpPr>
          <p:cNvPr id="10" name="Текст: Сам написал учебник «Основы экологии»"/>
          <p:cNvSpPr txBox="1"/>
          <p:nvPr/>
        </p:nvSpPr>
        <p:spPr>
          <a:xfrm>
            <a:off x="3378200" y="2890917"/>
            <a:ext cx="2221341" cy="4204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Сам написал учебник «Основы</a:t>
            </a:r>
            <a:b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экологии»</a:t>
            </a:r>
          </a:p>
        </p:txBody>
      </p:sp>
      <p:sp>
        <p:nvSpPr>
          <p:cNvPr id="11" name="Текст: 12"/>
          <p:cNvSpPr txBox="1"/>
          <p:nvPr/>
        </p:nvSpPr>
        <p:spPr>
          <a:xfrm>
            <a:off x="6096000" y="2378964"/>
            <a:ext cx="441047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60"/>
              </a:lnSpc>
            </a:pPr>
            <a:r>
              <a:rPr lang="ru-RU" sz="3300" b="0" i="0" spc="-165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12</a:t>
            </a:r>
          </a:p>
        </p:txBody>
      </p:sp>
      <p:sp>
        <p:nvSpPr>
          <p:cNvPr id="12" name="Текст: языков, на которые его перевели"/>
          <p:cNvSpPr txBox="1"/>
          <p:nvPr/>
        </p:nvSpPr>
        <p:spPr>
          <a:xfrm>
            <a:off x="6096000" y="2912808"/>
            <a:ext cx="236549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языков, на которые его перевели</a:t>
            </a:r>
          </a:p>
        </p:txBody>
      </p:sp>
      <p:sp>
        <p:nvSpPr>
          <p:cNvPr id="13" name="Текст: 1975"/>
          <p:cNvSpPr txBox="1"/>
          <p:nvPr/>
        </p:nvSpPr>
        <p:spPr>
          <a:xfrm>
            <a:off x="8813800" y="2378964"/>
            <a:ext cx="923552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60"/>
              </a:lnSpc>
            </a:pPr>
            <a:r>
              <a:rPr lang="ru-RU" sz="3300" b="0" i="0" spc="-165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1975</a:t>
            </a:r>
          </a:p>
        </p:txBody>
      </p:sp>
      <p:sp>
        <p:nvSpPr>
          <p:cNvPr id="14" name="Текст: вышел на русском. Его «Экологию» советую"/>
          <p:cNvSpPr txBox="1"/>
          <p:nvPr/>
        </p:nvSpPr>
        <p:spPr>
          <a:xfrm>
            <a:off x="8813800" y="2890917"/>
            <a:ext cx="2533071" cy="4204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вышел на русском. Его «Экологию»</a:t>
            </a:r>
            <a:b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0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советуют до сих пор</a:t>
            </a:r>
          </a:p>
        </p:txBody>
      </p:sp>
      <p:sp>
        <p:nvSpPr>
          <p:cNvPr id="15" name="Текст: Шел от целого к частям: сначала экосисте"/>
          <p:cNvSpPr txBox="1"/>
          <p:nvPr/>
        </p:nvSpPr>
        <p:spPr>
          <a:xfrm>
            <a:off x="660400" y="4376738"/>
            <a:ext cx="4794115" cy="4881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2"/>
              </a:lnSpc>
            </a:pPr>
            <a:r>
              <a:rPr lang="ru-RU" sz="1550" b="0" i="0" spc="-2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Шел от целого к частям: сначала экосистема, потоки</a:t>
            </a:r>
            <a:br>
              <a:rPr lang="ru-RU" sz="1550" b="0" i="0" spc="-2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50" b="0" i="0" spc="-2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энергии и круговорот веществ</a:t>
            </a:r>
          </a:p>
        </p:txBody>
      </p:sp>
      <p:pic>
        <p:nvPicPr>
          <p:cNvPr id="16" name="Графика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91000"/>
            <a:ext cx="5438775" cy="1843088"/>
          </a:xfrm>
          <a:prstGeom prst="rect">
            <a:avLst/>
          </a:prstGeom>
        </p:spPr>
      </p:pic>
      <p:pic>
        <p:nvPicPr>
          <p:cNvPr id="17" name="Графика 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824412"/>
            <a:ext cx="1019175" cy="1019175"/>
          </a:xfrm>
          <a:prstGeom prst="rect">
            <a:avLst/>
          </a:prstGeom>
        </p:spPr>
      </p:pic>
      <p:pic>
        <p:nvPicPr>
          <p:cNvPr id="18" name="Графика 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925" y="5514975"/>
            <a:ext cx="328612" cy="328612"/>
          </a:xfrm>
          <a:prstGeom prst="rect">
            <a:avLst/>
          </a:prstGeom>
        </p:spPr>
      </p:pic>
      <p:pic>
        <p:nvPicPr>
          <p:cNvPr id="19" name="Графика 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550" y="5738812"/>
            <a:ext cx="104775" cy="104775"/>
          </a:xfrm>
          <a:prstGeom prst="rect">
            <a:avLst/>
          </a:prstGeom>
        </p:spPr>
      </p:pic>
      <p:pic>
        <p:nvPicPr>
          <p:cNvPr id="20" name="Графика 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9575" y="5810250"/>
            <a:ext cx="38100" cy="33338"/>
          </a:xfrm>
          <a:prstGeom prst="rect">
            <a:avLst/>
          </a:prstGeom>
        </p:spPr>
      </p:pic>
      <p:sp>
        <p:nvSpPr>
          <p:cNvPr id="21" name="Текст: ПРАВИЛО 10% · Р. ЛИНДЕМАН"/>
          <p:cNvSpPr txBox="1"/>
          <p:nvPr/>
        </p:nvSpPr>
        <p:spPr>
          <a:xfrm>
            <a:off x="8255000" y="4385818"/>
            <a:ext cx="189052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ПРАВИЛО 10% · Р. ЛИНДЕМАН</a:t>
            </a:r>
          </a:p>
        </p:txBody>
      </p:sp>
      <p:sp>
        <p:nvSpPr>
          <p:cNvPr id="22" name="Текст: На следующий уровень цепи переходит окол"/>
          <p:cNvSpPr txBox="1"/>
          <p:nvPr/>
        </p:nvSpPr>
        <p:spPr>
          <a:xfrm>
            <a:off x="8255000" y="4608989"/>
            <a:ext cx="3018465" cy="5518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На следующий уровень цепи переходит около</a:t>
            </a:r>
            <a:br>
              <a:rPr lang="ru-RU" sz="1050" b="0" i="0" spc="-5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десятой части </a:t>
            </a: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энергии. Поэтому звеньев редко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больше пяти</a:t>
            </a:r>
          </a:p>
        </p:txBody>
      </p:sp>
      <p:sp>
        <p:nvSpPr>
          <p:cNvPr id="23" name="Текст: 5 лет изучал одно озеро в Миннесоте · ум"/>
          <p:cNvSpPr txBox="1"/>
          <p:nvPr/>
        </p:nvSpPr>
        <p:spPr>
          <a:xfrm>
            <a:off x="8255000" y="5517912"/>
            <a:ext cx="3231856" cy="2228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77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5 лет изучал одно озеро в Миннесоте · умер в 1942 году, в 26</a:t>
            </a:r>
            <a:b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</a:b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лет</a:t>
            </a:r>
          </a:p>
        </p:txBody>
      </p:sp>
      <p:pic>
        <p:nvPicPr>
          <p:cNvPr id="24" name="Графика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5" name="Текст: II СЧИТАТЬ"/>
          <p:cNvSpPr txBox="1"/>
          <p:nvPr/>
        </p:nvSpPr>
        <p:spPr>
          <a:xfrm>
            <a:off x="660400" y="6483985"/>
            <a:ext cx="69199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1F3FD6"/>
                </a:solidFill>
                <a:latin typeface="IBM Plex Mono Medium"/>
                <a:ea typeface="IBM Plex Mono Medium"/>
                <a:cs typeface="IBM Plex Mono Medium"/>
              </a:rPr>
              <a:t>II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СЧИТАТЬ</a:t>
            </a:r>
          </a:p>
        </p:txBody>
      </p:sp>
      <p:sp>
        <p:nvSpPr>
          <p:cNvPr id="26" name="Текст: 23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2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412" y="0"/>
            <a:ext cx="5462588" cy="6858000"/>
          </a:xfrm>
          <a:prstGeom prst="rect">
            <a:avLst/>
          </a:prstGeom>
        </p:spPr>
      </p:pic>
      <p:sp>
        <p:nvSpPr>
          <p:cNvPr id="3" name="Текст: Испытание BADGER, Невада, 1953: NNSA / N"/>
          <p:cNvSpPr txBox="1"/>
          <p:nvPr/>
        </p:nvSpPr>
        <p:spPr>
          <a:xfrm>
            <a:off x="8303320" y="6635579"/>
            <a:ext cx="3923832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Испытание BADGER, Невада, 1953: NNSA / Nevada Site Office · Public domain</a:t>
            </a:r>
          </a:p>
        </p:txBody>
      </p:sp>
      <p:sp>
        <p:nvSpPr>
          <p:cNvPr id="4" name="Текст: ЧАСТЬ III · ПОСЛЕ ВОЙНЫ"/>
          <p:cNvSpPr txBox="1"/>
          <p:nvPr/>
        </p:nvSpPr>
        <p:spPr>
          <a:xfrm>
            <a:off x="660400" y="537718"/>
            <a:ext cx="174234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ЧАСТЬ III · ПОСЛЕ ВОЙНЫ</a:t>
            </a:r>
          </a:p>
        </p:txBody>
      </p:sp>
      <p:sp>
        <p:nvSpPr>
          <p:cNvPr id="5" name="Текст: III"/>
          <p:cNvSpPr txBox="1"/>
          <p:nvPr/>
        </p:nvSpPr>
        <p:spPr>
          <a:xfrm>
            <a:off x="609600" y="610870"/>
            <a:ext cx="2326386" cy="2514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800"/>
              </a:lnSpc>
            </a:pPr>
            <a:r>
              <a:rPr lang="ru-RU" sz="16500" b="0" i="1" spc="-248">
                <a:solidFill>
                  <a:srgbClr val="F1EFEA">
                    <a:alpha val="35000"/>
                  </a:srgbClr>
                </a:solidFill>
                <a:latin typeface="Spectral"/>
                <a:ea typeface="Spectral"/>
                <a:cs typeface="Spectral"/>
              </a:rPr>
              <a:t>III</a:t>
            </a:r>
          </a:p>
        </p:txBody>
      </p:sp>
      <p:sp>
        <p:nvSpPr>
          <p:cNvPr id="6" name="Текст: Предупреждать"/>
          <p:cNvSpPr txBox="1"/>
          <p:nvPr/>
        </p:nvSpPr>
        <p:spPr>
          <a:xfrm>
            <a:off x="609600" y="3421380"/>
            <a:ext cx="5982526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200"/>
              </a:lnSpc>
            </a:pPr>
            <a:r>
              <a:rPr lang="ru-RU" sz="6000" b="0" i="0" spc="-270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Предупреждать</a:t>
            </a:r>
          </a:p>
        </p:txBody>
      </p:sp>
      <p:sp>
        <p:nvSpPr>
          <p:cNvPr id="7" name="Текст: Ядерные испытания и новая химия: об экол"/>
          <p:cNvSpPr txBox="1"/>
          <p:nvPr/>
        </p:nvSpPr>
        <p:spPr>
          <a:xfrm>
            <a:off x="660400" y="4567396"/>
            <a:ext cx="4782558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Ядерные испытания и новая химия: об экологии</a:t>
            </a:r>
            <a:b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заговорили все</a:t>
            </a:r>
          </a:p>
        </p:txBody>
      </p:sp>
      <p:sp>
        <p:nvSpPr>
          <p:cNvPr id="8" name="Текст: ЛЕОПОЛЬД · КАРСОН · КОММОНЕР · МЕДОУЗ"/>
          <p:cNvSpPr txBox="1"/>
          <p:nvPr/>
        </p:nvSpPr>
        <p:spPr>
          <a:xfrm>
            <a:off x="660400" y="5401818"/>
            <a:ext cx="2779689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ЛЕОПОЛЬД · КАРСОН · КОММОНЕР · МЕДОУЗ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429375"/>
            <a:ext cx="2886075" cy="242888"/>
          </a:xfrm>
          <a:prstGeom prst="rect">
            <a:avLst/>
          </a:prstGeom>
        </p:spPr>
      </p:pic>
      <p:sp>
        <p:nvSpPr>
          <p:cNvPr id="10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1" name="Текст: 24 / 44"/>
          <p:cNvSpPr txBox="1"/>
          <p:nvPr/>
        </p:nvSpPr>
        <p:spPr>
          <a:xfrm>
            <a:off x="59811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1EFEA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25" y="0"/>
            <a:ext cx="5972175" cy="6858000"/>
          </a:xfrm>
          <a:prstGeom prst="rect">
            <a:avLst/>
          </a:prstGeom>
        </p:spPr>
      </p:pic>
      <p:sp>
        <p:nvSpPr>
          <p:cNvPr id="3" name="Текст: Волк: Artur Galicki · CC BY 4.0"/>
          <p:cNvSpPr txBox="1"/>
          <p:nvPr/>
        </p:nvSpPr>
        <p:spPr>
          <a:xfrm>
            <a:off x="10452894" y="130302"/>
            <a:ext cx="168827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Волк: Artur Galicki · CC BY 4.0</a:t>
            </a:r>
          </a:p>
        </p:txBody>
      </p:sp>
      <p:sp>
        <p:nvSpPr>
          <p:cNvPr id="4" name="Текст: 07 · 1887-1948 · США · ЛЕСНИЧИЙ"/>
          <p:cNvSpPr txBox="1"/>
          <p:nvPr/>
        </p:nvSpPr>
        <p:spPr>
          <a:xfrm>
            <a:off x="660400" y="537718"/>
            <a:ext cx="233526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07 </a:t>
            </a: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· 1887-1948 · США · ЛЕСНИЧИЙ</a:t>
            </a:r>
          </a:p>
        </p:txBody>
      </p:sp>
      <p:sp>
        <p:nvSpPr>
          <p:cNvPr id="5" name="Текст: Олдо Леопольд"/>
          <p:cNvSpPr txBox="1"/>
          <p:nvPr/>
        </p:nvSpPr>
        <p:spPr>
          <a:xfrm>
            <a:off x="635000" y="718312"/>
            <a:ext cx="3670816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Олдо Леопольд</a:t>
            </a:r>
          </a:p>
        </p:txBody>
      </p:sp>
      <p:sp>
        <p:nvSpPr>
          <p:cNvPr id="6" name="Текст: «Яростный зеленый огонь»"/>
          <p:cNvSpPr txBox="1"/>
          <p:nvPr/>
        </p:nvSpPr>
        <p:spPr>
          <a:xfrm>
            <a:off x="660400" y="1702832"/>
            <a:ext cx="4276733" cy="10134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90"/>
              </a:lnSpc>
            </a:pPr>
            <a:r>
              <a:rPr lang="ru-RU" sz="3800" b="0" i="1" spc="-57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«Яростный зеленый</a:t>
            </a:r>
            <a:br>
              <a:rPr lang="ru-RU" sz="3800" b="0" i="1" spc="-57">
                <a:solidFill>
                  <a:srgbClr val="F1EFEA"/>
                </a:solidFill>
                <a:latin typeface="Spectral"/>
                <a:ea typeface="Spectral"/>
                <a:cs typeface="Spectral"/>
              </a:rPr>
            </a:br>
            <a:r>
              <a:rPr lang="ru-RU" sz="3800" b="0" i="1" spc="-57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огонь»</a:t>
            </a:r>
          </a:p>
        </p:txBody>
      </p:sp>
      <p:sp>
        <p:nvSpPr>
          <p:cNvPr id="7" name="Текст: ГАСНЕТ В ГЛАЗАХ ПОДСТРЕЛЕННОЙ ИМ ВОЛЧИЦЫ"/>
          <p:cNvSpPr txBox="1"/>
          <p:nvPr/>
        </p:nvSpPr>
        <p:spPr>
          <a:xfrm>
            <a:off x="660400" y="2861818"/>
            <a:ext cx="30020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ГАСНЕТ В ГЛАЗАХ ПОДСТРЕЛЕННОЙ ИМ ВОЛЧИЦЫ</a:t>
            </a:r>
          </a:p>
        </p:txBody>
      </p:sp>
      <p:pic>
        <p:nvPicPr>
          <p:cNvPr id="8" name="Графика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429000"/>
            <a:ext cx="5086350" cy="28575"/>
          </a:xfrm>
          <a:prstGeom prst="rect">
            <a:avLst/>
          </a:prstGeom>
        </p:spPr>
      </p:pic>
      <p:sp>
        <p:nvSpPr>
          <p:cNvPr id="9" name="Текст: меньше волков"/>
          <p:cNvSpPr txBox="1"/>
          <p:nvPr/>
        </p:nvSpPr>
        <p:spPr>
          <a:xfrm>
            <a:off x="660400" y="3588258"/>
            <a:ext cx="1255300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меньше волков</a:t>
            </a:r>
          </a:p>
        </p:txBody>
      </p:sp>
      <p:sp>
        <p:nvSpPr>
          <p:cNvPr id="10" name="Текст: →"/>
          <p:cNvSpPr txBox="1"/>
          <p:nvPr/>
        </p:nvSpPr>
        <p:spPr>
          <a:xfrm>
            <a:off x="1932384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1" name="Текст: больше оленей"/>
          <p:cNvSpPr txBox="1"/>
          <p:nvPr/>
        </p:nvSpPr>
        <p:spPr>
          <a:xfrm>
            <a:off x="2135188" y="3588258"/>
            <a:ext cx="1249728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больше оленей</a:t>
            </a:r>
          </a:p>
        </p:txBody>
      </p:sp>
      <p:sp>
        <p:nvSpPr>
          <p:cNvPr id="12" name="Текст: →"/>
          <p:cNvSpPr txBox="1"/>
          <p:nvPr/>
        </p:nvSpPr>
        <p:spPr>
          <a:xfrm>
            <a:off x="3401814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3" name="Текст: съеден весь подрост"/>
          <p:cNvSpPr txBox="1"/>
          <p:nvPr/>
        </p:nvSpPr>
        <p:spPr>
          <a:xfrm>
            <a:off x="3604617" y="3588258"/>
            <a:ext cx="1704785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съеден весь подрост</a:t>
            </a:r>
          </a:p>
        </p:txBody>
      </p:sp>
      <p:sp>
        <p:nvSpPr>
          <p:cNvPr id="14" name="Текст: →"/>
          <p:cNvSpPr txBox="1"/>
          <p:nvPr/>
        </p:nvSpPr>
        <p:spPr>
          <a:xfrm>
            <a:off x="5308798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5" name="Текст: олени гибнут от голода"/>
          <p:cNvSpPr txBox="1"/>
          <p:nvPr/>
        </p:nvSpPr>
        <p:spPr>
          <a:xfrm>
            <a:off x="660400" y="3844738"/>
            <a:ext cx="1944592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олени гибнут от голода</a:t>
            </a:r>
          </a:p>
        </p:txBody>
      </p:sp>
      <p:sp>
        <p:nvSpPr>
          <p:cNvPr id="16" name="Текст: Очерк «Если думать, как гора»: гора пони"/>
          <p:cNvSpPr txBox="1"/>
          <p:nvPr/>
        </p:nvSpPr>
        <p:spPr>
          <a:xfrm>
            <a:off x="660400" y="4630738"/>
            <a:ext cx="5041971" cy="4722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9"/>
              </a:lnSpc>
            </a:pPr>
            <a: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Очерк </a:t>
            </a:r>
            <a:r>
              <a:rPr lang="ru-RU" sz="1500" b="0" i="0" spc="-22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«Если думать, как гора»</a:t>
            </a:r>
            <a: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: гора понимает, зачем ей</a:t>
            </a:r>
            <a:b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волки</a:t>
            </a:r>
          </a:p>
        </p:txBody>
      </p:sp>
      <p:pic>
        <p:nvPicPr>
          <p:cNvPr id="17" name="Графика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2252662" cy="247650"/>
          </a:xfrm>
          <a:prstGeom prst="rect">
            <a:avLst/>
          </a:prstGeom>
        </p:spPr>
      </p:pic>
      <p:sp>
        <p:nvSpPr>
          <p:cNvPr id="18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9" name="Текст: 25 / 44"/>
          <p:cNvSpPr txBox="1"/>
          <p:nvPr/>
        </p:nvSpPr>
        <p:spPr>
          <a:xfrm>
            <a:off x="53461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4576762" cy="3657600"/>
          </a:xfrm>
          <a:prstGeom prst="rect">
            <a:avLst/>
          </a:prstGeom>
        </p:spPr>
      </p:pic>
      <p:sp>
        <p:nvSpPr>
          <p:cNvPr id="3" name="Текст: Леопольд с семьей у старого курятника на"/>
          <p:cNvSpPr txBox="1"/>
          <p:nvPr/>
        </p:nvSpPr>
        <p:spPr>
          <a:xfrm>
            <a:off x="660400" y="4257802"/>
            <a:ext cx="333834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Леопольд с семьей у старого курятника на ферме · Public domain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572000"/>
            <a:ext cx="4576762" cy="9525"/>
          </a:xfrm>
          <a:prstGeom prst="rect">
            <a:avLst/>
          </a:prstGeom>
        </p:spPr>
      </p:pic>
      <p:sp>
        <p:nvSpPr>
          <p:cNvPr id="5" name="Текст: 1924 · по его предложению первая в США о"/>
          <p:cNvSpPr txBox="1"/>
          <p:nvPr/>
        </p:nvSpPr>
        <p:spPr>
          <a:xfrm>
            <a:off x="660400" y="4659789"/>
            <a:ext cx="4572056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1924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по его предложению первая в США охраняемая территория дикой</a:t>
            </a:r>
            <a:b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природы</a:t>
            </a:r>
          </a:p>
        </p:txBody>
      </p:sp>
      <p:pic>
        <p:nvPicPr>
          <p:cNvPr id="6" name="Графика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5114925"/>
            <a:ext cx="4576762" cy="9525"/>
          </a:xfrm>
          <a:prstGeom prst="rect">
            <a:avLst/>
          </a:prstGeom>
        </p:spPr>
      </p:pic>
      <p:sp>
        <p:nvSpPr>
          <p:cNvPr id="7" name="Текст: 1935 · купил истощенную ферму, всей семь"/>
          <p:cNvSpPr txBox="1"/>
          <p:nvPr/>
        </p:nvSpPr>
        <p:spPr>
          <a:xfrm>
            <a:off x="660400" y="5225034"/>
            <a:ext cx="3809500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1935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купил истощенную ферму, всей семьей сажали сосны</a:t>
            </a:r>
          </a:p>
        </p:txBody>
      </p:sp>
      <p:pic>
        <p:nvPicPr>
          <p:cNvPr id="8" name="Графика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5486400"/>
            <a:ext cx="4576762" cy="9525"/>
          </a:xfrm>
          <a:prstGeom prst="rect">
            <a:avLst/>
          </a:prstGeom>
        </p:spPr>
      </p:pic>
      <p:sp>
        <p:nvSpPr>
          <p:cNvPr id="9" name="Текст: 1949 · «Календарь песчаного графства», б"/>
          <p:cNvSpPr txBox="1"/>
          <p:nvPr/>
        </p:nvSpPr>
        <p:spPr>
          <a:xfrm>
            <a:off x="660400" y="5593334"/>
            <a:ext cx="4289735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1949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«Календарь песчаного графства», больше 2 млн экземпляров</a:t>
            </a:r>
          </a:p>
        </p:txBody>
      </p:sp>
      <p:sp>
        <p:nvSpPr>
          <p:cNvPr id="10" name="Текст: ЭТИКА ЗЕМЛИ · КРУГ МОРАЛИ РАСТЕТ"/>
          <p:cNvSpPr txBox="1"/>
          <p:nvPr/>
        </p:nvSpPr>
        <p:spPr>
          <a:xfrm>
            <a:off x="6096000" y="537718"/>
            <a:ext cx="240924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ЭТИКА ЗЕМЛИ </a:t>
            </a: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· КРУГ МОРАЛИ РАСТЕТ</a:t>
            </a:r>
          </a:p>
        </p:txBody>
      </p:sp>
      <p:pic>
        <p:nvPicPr>
          <p:cNvPr id="11" name="Графика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1190625"/>
            <a:ext cx="4348162" cy="4348162"/>
          </a:xfrm>
          <a:prstGeom prst="rect">
            <a:avLst/>
          </a:prstGeom>
        </p:spPr>
      </p:pic>
      <p:sp>
        <p:nvSpPr>
          <p:cNvPr id="12" name="Текст: Человек не завоеватель природы, а ее ряд"/>
          <p:cNvSpPr txBox="1"/>
          <p:nvPr/>
        </p:nvSpPr>
        <p:spPr>
          <a:xfrm>
            <a:off x="5971421" y="5673852"/>
            <a:ext cx="5684758" cy="2895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280"/>
              </a:lnSpc>
            </a:pPr>
            <a:r>
              <a:rPr lang="ru-RU" sz="1900" b="0" i="1" spc="-28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Человек не завоеватель природы, а ее рядовой член</a:t>
            </a:r>
          </a:p>
        </p:txBody>
      </p:sp>
      <p:pic>
        <p:nvPicPr>
          <p:cNvPr id="13" name="Графика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4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5" name="Текст: 26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29175" cy="6858000"/>
          </a:xfrm>
          <a:prstGeom prst="rect">
            <a:avLst/>
          </a:prstGeom>
        </p:spPr>
      </p:pic>
      <p:sp>
        <p:nvSpPr>
          <p:cNvPr id="3" name="Текст: Рейчел Карсон: U.S. Fish and Wildlife Se"/>
          <p:cNvSpPr txBox="1"/>
          <p:nvPr/>
        </p:nvSpPr>
        <p:spPr>
          <a:xfrm>
            <a:off x="152400" y="6635579"/>
            <a:ext cx="328510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333333"/>
                </a:solidFill>
                <a:latin typeface="IBM Plex Mono"/>
                <a:ea typeface="IBM Plex Mono"/>
                <a:cs typeface="IBM Plex Mono"/>
              </a:rPr>
              <a:t>Рейчел Карсон: U.S. Fish and Wildlife Service · Public domain</a:t>
            </a:r>
          </a:p>
        </p:txBody>
      </p:sp>
      <p:sp>
        <p:nvSpPr>
          <p:cNvPr id="4" name="Текст: 08 · 1907-1964 · США · МОРСКОЙ БИОЛОГ"/>
          <p:cNvSpPr txBox="1"/>
          <p:nvPr/>
        </p:nvSpPr>
        <p:spPr>
          <a:xfrm>
            <a:off x="5461000" y="537718"/>
            <a:ext cx="277979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08 </a:t>
            </a: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· 1907-1964 · США · МОРСКОЙ БИОЛОГ</a:t>
            </a:r>
          </a:p>
        </p:txBody>
      </p:sp>
      <p:sp>
        <p:nvSpPr>
          <p:cNvPr id="5" name="Текст: Рейчел Карсон"/>
          <p:cNvSpPr txBox="1"/>
          <p:nvPr/>
        </p:nvSpPr>
        <p:spPr>
          <a:xfrm>
            <a:off x="5435600" y="718312"/>
            <a:ext cx="3496532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Рейчел Карсон</a:t>
            </a:r>
          </a:p>
        </p:txBody>
      </p:sp>
      <p:sp>
        <p:nvSpPr>
          <p:cNvPr id="6" name="Текст: СЕНТЯБРЬ 1962"/>
          <p:cNvSpPr txBox="1"/>
          <p:nvPr/>
        </p:nvSpPr>
        <p:spPr>
          <a:xfrm>
            <a:off x="5461000" y="19093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СЕНТЯБРЬ 1962</a:t>
            </a:r>
          </a:p>
        </p:txBody>
      </p:sp>
      <p:sp>
        <p:nvSpPr>
          <p:cNvPr id="7" name="Текст: «Безмолвная весна»"/>
          <p:cNvSpPr txBox="1"/>
          <p:nvPr/>
        </p:nvSpPr>
        <p:spPr>
          <a:xfrm>
            <a:off x="5422900" y="2212737"/>
            <a:ext cx="4172514" cy="12150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84"/>
              </a:lnSpc>
            </a:pPr>
            <a:r>
              <a:rPr lang="ru-RU" sz="5200" b="0" i="0" spc="-234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«Безмолвная</a:t>
            </a:r>
            <a:br>
              <a:rPr lang="ru-RU" sz="5200" b="0" i="0" spc="-234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5200" b="0" i="0" spc="-234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весна»</a:t>
            </a:r>
          </a:p>
        </p:txBody>
      </p:sp>
      <p:sp>
        <p:nvSpPr>
          <p:cNvPr id="8" name="Текст: Начинается со сказки о городке, куда одн"/>
          <p:cNvSpPr txBox="1"/>
          <p:nvPr/>
        </p:nvSpPr>
        <p:spPr>
          <a:xfrm>
            <a:off x="5461000" y="3678396"/>
            <a:ext cx="5535104" cy="5353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Начинается со сказки о городке, куда однажды пришла</a:t>
            </a:r>
            <a:b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весна </a:t>
            </a:r>
            <a:r>
              <a:rPr lang="ru-RU" sz="1700" b="0" i="0" spc="-26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без птичьих песен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25" y="5076825"/>
            <a:ext cx="6076950" cy="9525"/>
          </a:xfrm>
          <a:prstGeom prst="rect">
            <a:avLst/>
          </a:prstGeom>
        </p:spPr>
      </p:pic>
      <p:sp>
        <p:nvSpPr>
          <p:cNvPr id="10" name="Текст: До этого «Море вокруг нас» (1951) больше"/>
          <p:cNvSpPr txBox="1"/>
          <p:nvPr/>
        </p:nvSpPr>
        <p:spPr>
          <a:xfrm>
            <a:off x="5461000" y="5193189"/>
            <a:ext cx="2845316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До этого «Море вокруг нас» (1951) больше 80</a:t>
            </a:r>
            <a:b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недель держалось в списке бестселлеров</a:t>
            </a:r>
          </a:p>
        </p:txBody>
      </p:sp>
      <p:sp>
        <p:nvSpPr>
          <p:cNvPr id="11" name="Текст: «Весну» дописывала между курсами лечения"/>
          <p:cNvSpPr txBox="1"/>
          <p:nvPr/>
        </p:nvSpPr>
        <p:spPr>
          <a:xfrm>
            <a:off x="8636000" y="5193189"/>
            <a:ext cx="2902482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«Весну» дописывала между курсами лечения</a:t>
            </a:r>
            <a:b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от рака</a:t>
            </a:r>
          </a:p>
        </p:txBody>
      </p:sp>
      <p:pic>
        <p:nvPicPr>
          <p:cNvPr id="12" name="Графика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425" y="6424612"/>
            <a:ext cx="3143250" cy="247650"/>
          </a:xfrm>
          <a:prstGeom prst="rect">
            <a:avLst/>
          </a:prstGeom>
        </p:spPr>
      </p:pic>
      <p:sp>
        <p:nvSpPr>
          <p:cNvPr id="13" name="Текст: III ПРЕДУПРЕЖДАТЬ"/>
          <p:cNvSpPr txBox="1"/>
          <p:nvPr/>
        </p:nvSpPr>
        <p:spPr>
          <a:xfrm>
            <a:off x="54610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4" name="Текст: 27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27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3562350" cy="5462588"/>
          </a:xfrm>
          <a:prstGeom prst="rect">
            <a:avLst/>
          </a:prstGeom>
        </p:spPr>
      </p:pic>
      <p:sp>
        <p:nvSpPr>
          <p:cNvPr id="3" name="Текст: 1956, Монтана: самолет распыляет ДДТ над"/>
          <p:cNvSpPr txBox="1"/>
          <p:nvPr/>
        </p:nvSpPr>
        <p:spPr>
          <a:xfrm>
            <a:off x="660400" y="6061202"/>
            <a:ext cx="3710853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1956, Монтана: самолет распыляет ДДТ над лесом · USFS · Public domain</a:t>
            </a:r>
          </a:p>
        </p:txBody>
      </p:sp>
      <p:sp>
        <p:nvSpPr>
          <p:cNvPr id="4" name="Текст: 1939 · ПАУЛЬ МЮЛЛЕР ОТКРЫЛ, ЧТО ДДТ УБИВ"/>
          <p:cNvSpPr txBox="1"/>
          <p:nvPr/>
        </p:nvSpPr>
        <p:spPr>
          <a:xfrm>
            <a:off x="4826000" y="537718"/>
            <a:ext cx="552127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1939 · ПАУЛЬ МЮЛЛЕР ОТКРЫЛ, ЧТО ДДТ УБИВАЕТ НАСЕКОМЫХ · НОБЕЛЕВСКАЯ ПРЕМИЯ</a:t>
            </a:r>
          </a:p>
        </p:txBody>
      </p:sp>
      <p:sp>
        <p:nvSpPr>
          <p:cNvPr id="5" name="Текст: Яд копится по пищевой цепи"/>
          <p:cNvSpPr txBox="1"/>
          <p:nvPr/>
        </p:nvSpPr>
        <p:spPr>
          <a:xfrm>
            <a:off x="4800600" y="718312"/>
            <a:ext cx="6622391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Яд копится по пищевой цепи</a:t>
            </a:r>
          </a:p>
        </p:txBody>
      </p:sp>
      <p:sp>
        <p:nvSpPr>
          <p:cNvPr id="6" name="Текст: ДДТ спасал от тифа и малярии, после войн"/>
          <p:cNvSpPr txBox="1"/>
          <p:nvPr/>
        </p:nvSpPr>
        <p:spPr>
          <a:xfrm>
            <a:off x="4826000" y="1957705"/>
            <a:ext cx="6581529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ДДТ спасал от тифа и малярии, после войны его распыляли с самолетов. Но он почти</a:t>
            </a:r>
            <a:br>
              <a:rPr lang="ru-RU" sz="1300" b="0" i="0" spc="-13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не разлагается и оседает в жире</a:t>
            </a:r>
          </a:p>
        </p:txBody>
      </p:sp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412" y="2957512"/>
            <a:ext cx="6734175" cy="2366962"/>
          </a:xfrm>
          <a:prstGeom prst="rect">
            <a:avLst/>
          </a:prstGeom>
        </p:spPr>
      </p:pic>
      <p:sp>
        <p:nvSpPr>
          <p:cNvPr id="8" name="Текст: Позже выяснили: скорлупа яиц хищных птиц"/>
          <p:cNvSpPr txBox="1"/>
          <p:nvPr/>
        </p:nvSpPr>
        <p:spPr>
          <a:xfrm>
            <a:off x="4826000" y="5593334"/>
            <a:ext cx="5679051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Позже выяснили: скорлупа яиц хищных птиц становится тонкой и </a:t>
            </a:r>
            <a:r>
              <a:rPr lang="ru-RU" sz="1050" b="0" i="0" spc="-5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ломается под наседкой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0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1" name="Текст: 28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6477000" cy="6858000"/>
          </a:xfrm>
          <a:prstGeom prst="rect">
            <a:avLst/>
          </a:prstGeom>
        </p:spPr>
      </p:pic>
      <p:sp>
        <p:nvSpPr>
          <p:cNvPr id="3" name="Текст: Белоголовый орлан: Andy Morffew · CC BY "/>
          <p:cNvSpPr txBox="1"/>
          <p:nvPr/>
        </p:nvSpPr>
        <p:spPr>
          <a:xfrm>
            <a:off x="9838730" y="130302"/>
            <a:ext cx="2327005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Белоголовый орлан: Andy Morffew · CC BY 2.0</a:t>
            </a:r>
          </a:p>
        </p:txBody>
      </p:sp>
      <p:sp>
        <p:nvSpPr>
          <p:cNvPr id="4" name="Текст: БЕЛОГОЛОВЫЙ ОРЛАН, СИМВОЛ США · ПАР НА О"/>
          <p:cNvSpPr txBox="1"/>
          <p:nvPr/>
        </p:nvSpPr>
        <p:spPr>
          <a:xfrm>
            <a:off x="660400" y="537718"/>
            <a:ext cx="433575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БЕЛОГОЛОВЫЙ ОРЛАН, СИМВОЛ США · ПАР НА ОСНОВНОЙ ТЕРРИТОРИИ</a:t>
            </a:r>
          </a:p>
        </p:txBody>
      </p:sp>
      <p:sp>
        <p:nvSpPr>
          <p:cNvPr id="5" name="Текст: 400"/>
          <p:cNvSpPr txBox="1"/>
          <p:nvPr/>
        </p:nvSpPr>
        <p:spPr>
          <a:xfrm>
            <a:off x="609600" y="793750"/>
            <a:ext cx="1894959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400</a:t>
            </a:r>
          </a:p>
        </p:txBody>
      </p:sp>
      <p:sp>
        <p:nvSpPr>
          <p:cNvPr id="6" name="Текст: в 1963"/>
          <p:cNvSpPr txBox="1"/>
          <p:nvPr/>
        </p:nvSpPr>
        <p:spPr>
          <a:xfrm>
            <a:off x="2730500" y="1500886"/>
            <a:ext cx="653613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в 1963</a:t>
            </a:r>
          </a:p>
        </p:txBody>
      </p:sp>
      <p:sp>
        <p:nvSpPr>
          <p:cNvPr id="7" name="Текст: 70 000+"/>
          <p:cNvSpPr txBox="1"/>
          <p:nvPr/>
        </p:nvSpPr>
        <p:spPr>
          <a:xfrm>
            <a:off x="609600" y="1936750"/>
            <a:ext cx="3770908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75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70 000+</a:t>
            </a:r>
          </a:p>
        </p:txBody>
      </p:sp>
      <p:sp>
        <p:nvSpPr>
          <p:cNvPr id="8" name="Текст: сейчас"/>
          <p:cNvSpPr txBox="1"/>
          <p:nvPr/>
        </p:nvSpPr>
        <p:spPr>
          <a:xfrm>
            <a:off x="660400" y="3050286"/>
            <a:ext cx="726877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сейчас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933825"/>
            <a:ext cx="4576762" cy="9525"/>
          </a:xfrm>
          <a:prstGeom prst="rect">
            <a:avLst/>
          </a:prstGeom>
        </p:spPr>
      </p:pic>
      <p:sp>
        <p:nvSpPr>
          <p:cNvPr id="10" name="Текст: май 1963 · комитет президента Кеннеди по"/>
          <p:cNvSpPr txBox="1"/>
          <p:nvPr/>
        </p:nvSpPr>
        <p:spPr>
          <a:xfrm>
            <a:off x="660400" y="4043934"/>
            <a:ext cx="4313364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май 1963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комитет президента Кеннеди подтвердил выводы Карсон</a:t>
            </a:r>
          </a:p>
        </p:txBody>
      </p:sp>
      <p:pic>
        <p:nvPicPr>
          <p:cNvPr id="11" name="Графика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481512"/>
            <a:ext cx="4576762" cy="9525"/>
          </a:xfrm>
          <a:prstGeom prst="rect">
            <a:avLst/>
          </a:prstGeom>
        </p:spPr>
      </p:pic>
      <p:sp>
        <p:nvSpPr>
          <p:cNvPr id="12" name="Текст: 1970 · в США создано Агентство по охране"/>
          <p:cNvSpPr txBox="1"/>
          <p:nvPr/>
        </p:nvSpPr>
        <p:spPr>
          <a:xfrm>
            <a:off x="660400" y="4590034"/>
            <a:ext cx="3966551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1970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в США создано Агентство по охране окружающей среды</a:t>
            </a:r>
          </a:p>
        </p:txBody>
      </p:sp>
      <p:pic>
        <p:nvPicPr>
          <p:cNvPr id="13" name="Графика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848225"/>
            <a:ext cx="4576762" cy="9525"/>
          </a:xfrm>
          <a:prstGeom prst="rect">
            <a:avLst/>
          </a:prstGeom>
        </p:spPr>
      </p:pic>
      <p:sp>
        <p:nvSpPr>
          <p:cNvPr id="14" name="Текст: 1972 · ДДТ запрещен в сельском хозяйстве"/>
          <p:cNvSpPr txBox="1"/>
          <p:nvPr/>
        </p:nvSpPr>
        <p:spPr>
          <a:xfrm>
            <a:off x="660400" y="4958334"/>
            <a:ext cx="2732738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1972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ДДТ запрещен в сельском хозяйстве</a:t>
            </a:r>
          </a:p>
        </p:txBody>
      </p:sp>
      <p:pic>
        <p:nvPicPr>
          <p:cNvPr id="15" name="Графика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5219700"/>
            <a:ext cx="4576762" cy="9525"/>
          </a:xfrm>
          <a:prstGeom prst="rect">
            <a:avLst/>
          </a:prstGeom>
        </p:spPr>
      </p:pic>
      <p:sp>
        <p:nvSpPr>
          <p:cNvPr id="16" name="Текст: Карсон не требовала запретить все пестиц"/>
          <p:cNvSpPr txBox="1"/>
          <p:nvPr/>
        </p:nvSpPr>
        <p:spPr>
          <a:xfrm>
            <a:off x="660400" y="5376926"/>
            <a:ext cx="4756761" cy="1447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0"/>
              </a:lnSpc>
            </a:pPr>
            <a:r>
              <a:rPr lang="ru-RU" sz="9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Карсон не требовала запретить все пестициды: только не распылять яды бездумно</a:t>
            </a:r>
          </a:p>
        </p:txBody>
      </p:sp>
      <p:pic>
        <p:nvPicPr>
          <p:cNvPr id="17" name="Графика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2252662" cy="247650"/>
          </a:xfrm>
          <a:prstGeom prst="rect">
            <a:avLst/>
          </a:prstGeom>
        </p:spPr>
      </p:pic>
      <p:sp>
        <p:nvSpPr>
          <p:cNvPr id="18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9" name="Текст: 29 / 44"/>
          <p:cNvSpPr txBox="1"/>
          <p:nvPr/>
        </p:nvSpPr>
        <p:spPr>
          <a:xfrm>
            <a:off x="53461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2543175" cy="3176588"/>
          </a:xfrm>
          <a:prstGeom prst="rect">
            <a:avLst/>
          </a:prstGeom>
        </p:spPr>
      </p:pic>
      <p:sp>
        <p:nvSpPr>
          <p:cNvPr id="3" name="Текст: Барри Коммонер: Bernard Gotfryd · Public"/>
          <p:cNvSpPr txBox="1"/>
          <p:nvPr/>
        </p:nvSpPr>
        <p:spPr>
          <a:xfrm>
            <a:off x="660400" y="3775202"/>
            <a:ext cx="253988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94908A"/>
                </a:solidFill>
                <a:latin typeface="IBM Plex Mono"/>
                <a:ea typeface="IBM Plex Mono"/>
                <a:cs typeface="IBM Plex Mono"/>
              </a:rPr>
              <a:t>Барри Коммонер: Bernard Gotfryd · Public domain</a:t>
            </a:r>
          </a:p>
        </p:txBody>
      </p:sp>
      <p:sp>
        <p:nvSpPr>
          <p:cNvPr id="4" name="Текст: 09 · 1917-2012 · США · БИОЛОГ"/>
          <p:cNvSpPr txBox="1"/>
          <p:nvPr/>
        </p:nvSpPr>
        <p:spPr>
          <a:xfrm>
            <a:off x="660400" y="4131818"/>
            <a:ext cx="218708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09 </a:t>
            </a: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· 1917-2012 · США · БИОЛОГ</a:t>
            </a:r>
          </a:p>
        </p:txBody>
      </p:sp>
      <p:sp>
        <p:nvSpPr>
          <p:cNvPr id="5" name="Текст: Барри Коммонер"/>
          <p:cNvSpPr txBox="1"/>
          <p:nvPr/>
        </p:nvSpPr>
        <p:spPr>
          <a:xfrm>
            <a:off x="635000" y="4408567"/>
            <a:ext cx="1727898" cy="630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84"/>
              </a:lnSpc>
            </a:pPr>
            <a:r>
              <a:rPr lang="ru-RU" sz="2700" b="0" i="0" spc="-122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Барри</a:t>
            </a:r>
            <a:br>
              <a:rPr lang="ru-RU" sz="2700" b="0" i="0" spc="-122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2700" b="0" i="0" spc="-122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Коммонер</a:t>
            </a:r>
          </a:p>
        </p:txBody>
      </p:sp>
      <p:sp>
        <p:nvSpPr>
          <p:cNvPr id="6" name="Текст: «Замыкающийся круг», 1971 в Ленинграде и"/>
          <p:cNvSpPr txBox="1"/>
          <p:nvPr/>
        </p:nvSpPr>
        <p:spPr>
          <a:xfrm>
            <a:off x="660400" y="5256689"/>
            <a:ext cx="1960896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«Замыкающийся круг», 1971</a:t>
            </a:r>
            <a:b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в Ленинграде издан уже в 1974</a:t>
            </a:r>
          </a:p>
        </p:txBody>
      </p:sp>
      <p:sp>
        <p:nvSpPr>
          <p:cNvPr id="7" name="Текст: ЧЕТЫРЕ ЗАКОНА ЭКОЛОГИИ"/>
          <p:cNvSpPr txBox="1"/>
          <p:nvPr/>
        </p:nvSpPr>
        <p:spPr>
          <a:xfrm>
            <a:off x="3810000" y="537718"/>
            <a:ext cx="166825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ЧЕТЫРЕ ЗАКОНА ЭКОЛОГИИ</a:t>
            </a:r>
          </a:p>
        </p:txBody>
      </p:sp>
      <p:pic>
        <p:nvPicPr>
          <p:cNvPr id="8" name="Графика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785812"/>
            <a:ext cx="7724775" cy="28575"/>
          </a:xfrm>
          <a:prstGeom prst="rect">
            <a:avLst/>
          </a:prstGeom>
        </p:spPr>
      </p:pic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809625"/>
            <a:ext cx="9525" cy="5186362"/>
          </a:xfrm>
          <a:prstGeom prst="rect">
            <a:avLst/>
          </a:prstGeom>
        </p:spPr>
      </p:pic>
      <p:pic>
        <p:nvPicPr>
          <p:cNvPr id="10" name="Графика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3400425"/>
            <a:ext cx="7724775" cy="9525"/>
          </a:xfrm>
          <a:prstGeom prst="rect">
            <a:avLst/>
          </a:prstGeom>
        </p:spPr>
      </p:pic>
      <p:sp>
        <p:nvSpPr>
          <p:cNvPr id="11" name="Текст: 1"/>
          <p:cNvSpPr txBox="1"/>
          <p:nvPr/>
        </p:nvSpPr>
        <p:spPr>
          <a:xfrm>
            <a:off x="3810000" y="927608"/>
            <a:ext cx="163163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1</a:t>
            </a:r>
          </a:p>
        </p:txBody>
      </p:sp>
      <p:sp>
        <p:nvSpPr>
          <p:cNvPr id="12" name="Текст: Все связано со всем"/>
          <p:cNvSpPr txBox="1"/>
          <p:nvPr/>
        </p:nvSpPr>
        <p:spPr>
          <a:xfrm>
            <a:off x="3810000" y="1439164"/>
            <a:ext cx="3552563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60"/>
              </a:lnSpc>
            </a:pP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Все связано со всем</a:t>
            </a:r>
          </a:p>
        </p:txBody>
      </p:sp>
      <p:sp>
        <p:nvSpPr>
          <p:cNvPr id="13" name="Текст: почти то же, что говорил Гумбольдт"/>
          <p:cNvSpPr txBox="1"/>
          <p:nvPr/>
        </p:nvSpPr>
        <p:spPr>
          <a:xfrm>
            <a:off x="3810000" y="2989834"/>
            <a:ext cx="2283666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почти то же, что говорил Гумбольдт</a:t>
            </a:r>
          </a:p>
        </p:txBody>
      </p:sp>
      <p:sp>
        <p:nvSpPr>
          <p:cNvPr id="14" name="Текст: 2"/>
          <p:cNvSpPr txBox="1"/>
          <p:nvPr/>
        </p:nvSpPr>
        <p:spPr>
          <a:xfrm>
            <a:off x="7874000" y="927608"/>
            <a:ext cx="230545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2</a:t>
            </a:r>
          </a:p>
        </p:txBody>
      </p:sp>
      <p:sp>
        <p:nvSpPr>
          <p:cNvPr id="15" name="Текст: Все должно куда- то деваться"/>
          <p:cNvSpPr txBox="1"/>
          <p:nvPr/>
        </p:nvSpPr>
        <p:spPr>
          <a:xfrm>
            <a:off x="7874000" y="1489472"/>
            <a:ext cx="3230824" cy="8800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465"/>
              </a:lnSpc>
            </a:pP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Все должно куда-</a:t>
            </a:r>
            <a:b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</a:b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то деваться</a:t>
            </a:r>
          </a:p>
        </p:txBody>
      </p:sp>
      <p:sp>
        <p:nvSpPr>
          <p:cNvPr id="16" name="Текст: мусор не исчезает, а оказывается в друго"/>
          <p:cNvSpPr txBox="1"/>
          <p:nvPr/>
        </p:nvSpPr>
        <p:spPr>
          <a:xfrm>
            <a:off x="7874000" y="2989834"/>
            <a:ext cx="3126399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мусор не исчезает, а оказывается в другом месте</a:t>
            </a:r>
          </a:p>
        </p:txBody>
      </p:sp>
      <p:sp>
        <p:nvSpPr>
          <p:cNvPr id="17" name="Текст: 3"/>
          <p:cNvSpPr txBox="1"/>
          <p:nvPr/>
        </p:nvSpPr>
        <p:spPr>
          <a:xfrm>
            <a:off x="3810000" y="3543808"/>
            <a:ext cx="240451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3</a:t>
            </a:r>
          </a:p>
        </p:txBody>
      </p:sp>
      <p:sp>
        <p:nvSpPr>
          <p:cNvPr id="18" name="Текст: Природа знает лучше"/>
          <p:cNvSpPr txBox="1"/>
          <p:nvPr/>
        </p:nvSpPr>
        <p:spPr>
          <a:xfrm>
            <a:off x="3810000" y="4105672"/>
            <a:ext cx="2869049" cy="8800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465"/>
              </a:lnSpc>
            </a:pP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Природа знает</a:t>
            </a:r>
            <a:b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</a:b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лучше</a:t>
            </a:r>
          </a:p>
        </p:txBody>
      </p:sp>
      <p:sp>
        <p:nvSpPr>
          <p:cNvPr id="19" name="Текст: грубое вмешательство скорее навредит"/>
          <p:cNvSpPr txBox="1"/>
          <p:nvPr/>
        </p:nvSpPr>
        <p:spPr>
          <a:xfrm>
            <a:off x="3810000" y="5606034"/>
            <a:ext cx="2544421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грубое вмешательство скорее навредит</a:t>
            </a:r>
          </a:p>
        </p:txBody>
      </p:sp>
      <p:sp>
        <p:nvSpPr>
          <p:cNvPr id="20" name="Текст: 4"/>
          <p:cNvSpPr txBox="1"/>
          <p:nvPr/>
        </p:nvSpPr>
        <p:spPr>
          <a:xfrm>
            <a:off x="7874000" y="3543808"/>
            <a:ext cx="248396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4</a:t>
            </a:r>
          </a:p>
        </p:txBody>
      </p:sp>
      <p:sp>
        <p:nvSpPr>
          <p:cNvPr id="21" name="Текст: Ничто не дается даром"/>
          <p:cNvSpPr txBox="1"/>
          <p:nvPr/>
        </p:nvSpPr>
        <p:spPr>
          <a:xfrm>
            <a:off x="7874000" y="4105672"/>
            <a:ext cx="3239595" cy="8800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465"/>
              </a:lnSpc>
            </a:pP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Ничто не дается</a:t>
            </a:r>
            <a:b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</a:br>
            <a:r>
              <a:rPr lang="ru-RU" sz="3300" b="0" i="1" spc="-50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даром</a:t>
            </a:r>
          </a:p>
        </p:txBody>
      </p:sp>
      <p:sp>
        <p:nvSpPr>
          <p:cNvPr id="22" name="Текст: за все приходится платить"/>
          <p:cNvSpPr txBox="1"/>
          <p:nvPr/>
        </p:nvSpPr>
        <p:spPr>
          <a:xfrm>
            <a:off x="7874000" y="5606034"/>
            <a:ext cx="1687036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за все приходится платить</a:t>
            </a:r>
          </a:p>
        </p:txBody>
      </p:sp>
      <p:pic>
        <p:nvPicPr>
          <p:cNvPr id="23" name="Графика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4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25" name="Текст: 30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162" y="966788"/>
            <a:ext cx="1971675" cy="2509838"/>
          </a:xfrm>
          <a:prstGeom prst="rect">
            <a:avLst/>
          </a:prstGeom>
        </p:spPr>
      </p:pic>
      <p:sp>
        <p:nvSpPr>
          <p:cNvPr id="3" name="Текст: НАДПИСЬ НА ЗНАЧКЕ, КОТОРЫЙ ДАВАЛИ ДЕТЯМ"/>
          <p:cNvSpPr txBox="1"/>
          <p:nvPr/>
        </p:nvSpPr>
        <p:spPr>
          <a:xfrm>
            <a:off x="8595991" y="3814318"/>
            <a:ext cx="307721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НАДПИСЬ НА ЗНАЧКЕ, КОТОРЫЙ ДАВАЛИ ДЕТЯМ</a:t>
            </a:r>
          </a:p>
        </p:txBody>
      </p:sp>
      <p:sp>
        <p:nvSpPr>
          <p:cNvPr id="4" name="Текст: 1958 · СЕНТ-ЛУИС · КОММОНЕР ПОМОГАЕТ ОРГ"/>
          <p:cNvSpPr txBox="1"/>
          <p:nvPr/>
        </p:nvSpPr>
        <p:spPr>
          <a:xfrm>
            <a:off x="660400" y="537718"/>
            <a:ext cx="463221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1958 </a:t>
            </a: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· СЕНТ-ЛУИС · КОММОНЕР ПОМОГАЕТ ОРГАНИЗОВАТЬ ИССЛЕДОВАНИЕ</a:t>
            </a:r>
          </a:p>
        </p:txBody>
      </p:sp>
      <p:sp>
        <p:nvSpPr>
          <p:cNvPr id="5" name="Текст: 320 000"/>
          <p:cNvSpPr txBox="1"/>
          <p:nvPr/>
        </p:nvSpPr>
        <p:spPr>
          <a:xfrm>
            <a:off x="584200" y="706120"/>
            <a:ext cx="5827744" cy="1752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800"/>
              </a:lnSpc>
            </a:pPr>
            <a:r>
              <a:rPr lang="ru-RU" sz="11500" b="0" i="0" spc="-575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320 000</a:t>
            </a:r>
          </a:p>
        </p:txBody>
      </p:sp>
      <p:sp>
        <p:nvSpPr>
          <p:cNvPr id="6" name="Текст: молочных зубов прислали родители за 12 л"/>
          <p:cNvSpPr txBox="1"/>
          <p:nvPr/>
        </p:nvSpPr>
        <p:spPr>
          <a:xfrm>
            <a:off x="660400" y="2415286"/>
            <a:ext cx="4520875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молочных зубов прислали родители за 12 лет</a:t>
            </a:r>
          </a:p>
        </p:txBody>
      </p:sp>
      <p:pic>
        <p:nvPicPr>
          <p:cNvPr id="7" name="Графика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429000"/>
            <a:ext cx="7305675" cy="28575"/>
          </a:xfrm>
          <a:prstGeom prst="rect">
            <a:avLst/>
          </a:prstGeom>
        </p:spPr>
      </p:pic>
      <p:sp>
        <p:nvSpPr>
          <p:cNvPr id="8" name="Текст: ядерные испытания"/>
          <p:cNvSpPr txBox="1"/>
          <p:nvPr/>
        </p:nvSpPr>
        <p:spPr>
          <a:xfrm>
            <a:off x="660400" y="3588258"/>
            <a:ext cx="1625846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ядерные испытания</a:t>
            </a:r>
          </a:p>
        </p:txBody>
      </p:sp>
      <p:sp>
        <p:nvSpPr>
          <p:cNvPr id="9" name="Текст: →"/>
          <p:cNvSpPr txBox="1"/>
          <p:nvPr/>
        </p:nvSpPr>
        <p:spPr>
          <a:xfrm>
            <a:off x="2288679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0" name="Текст: стронций-90"/>
          <p:cNvSpPr txBox="1"/>
          <p:nvPr/>
        </p:nvSpPr>
        <p:spPr>
          <a:xfrm>
            <a:off x="2491482" y="3588258"/>
            <a:ext cx="1060275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стронций-90</a:t>
            </a:r>
          </a:p>
        </p:txBody>
      </p:sp>
      <p:sp>
        <p:nvSpPr>
          <p:cNvPr id="11" name="Текст: →"/>
          <p:cNvSpPr txBox="1"/>
          <p:nvPr/>
        </p:nvSpPr>
        <p:spPr>
          <a:xfrm>
            <a:off x="3575943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2" name="Текст: трава"/>
          <p:cNvSpPr txBox="1"/>
          <p:nvPr/>
        </p:nvSpPr>
        <p:spPr>
          <a:xfrm>
            <a:off x="3778746" y="3588258"/>
            <a:ext cx="49264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трава</a:t>
            </a:r>
          </a:p>
        </p:txBody>
      </p:sp>
      <p:sp>
        <p:nvSpPr>
          <p:cNvPr id="13" name="Текст: →"/>
          <p:cNvSpPr txBox="1"/>
          <p:nvPr/>
        </p:nvSpPr>
        <p:spPr>
          <a:xfrm>
            <a:off x="4317405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4" name="Текст: молоко"/>
          <p:cNvSpPr txBox="1"/>
          <p:nvPr/>
        </p:nvSpPr>
        <p:spPr>
          <a:xfrm>
            <a:off x="4520208" y="3588258"/>
            <a:ext cx="62699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молоко</a:t>
            </a:r>
          </a:p>
        </p:txBody>
      </p:sp>
      <p:sp>
        <p:nvSpPr>
          <p:cNvPr id="15" name="Текст: →"/>
          <p:cNvSpPr txBox="1"/>
          <p:nvPr/>
        </p:nvSpPr>
        <p:spPr>
          <a:xfrm>
            <a:off x="5188049" y="3594608"/>
            <a:ext cx="143351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→</a:t>
            </a:r>
          </a:p>
        </p:txBody>
      </p:sp>
      <p:sp>
        <p:nvSpPr>
          <p:cNvPr id="16" name="Текст: детские кости"/>
          <p:cNvSpPr txBox="1"/>
          <p:nvPr/>
        </p:nvSpPr>
        <p:spPr>
          <a:xfrm>
            <a:off x="5390852" y="3588258"/>
            <a:ext cx="1213715" cy="2057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0"/>
              </a:lnSpc>
            </a:pPr>
            <a:r>
              <a:rPr lang="ru-RU" sz="1350" b="0" i="0" spc="-14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детские кости</a:t>
            </a:r>
          </a:p>
        </p:txBody>
      </p:sp>
      <p:sp>
        <p:nvSpPr>
          <p:cNvPr id="17" name="Текст: У детей середины 1950-х стронция в неско"/>
          <p:cNvSpPr txBox="1"/>
          <p:nvPr/>
        </p:nvSpPr>
        <p:spPr>
          <a:xfrm>
            <a:off x="660400" y="4186238"/>
            <a:ext cx="7232229" cy="4722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9"/>
              </a:lnSpc>
            </a:pPr>
            <a: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У детей середины 1950-х стронция </a:t>
            </a:r>
            <a:r>
              <a:rPr lang="ru-RU" sz="1500" b="0" i="0" spc="-22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в несколько раз больше</a:t>
            </a:r>
            <a: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, чем у родившихся на</a:t>
            </a:r>
            <a:b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00" b="0" i="0" spc="-22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несколько лет раньше</a:t>
            </a:r>
          </a:p>
        </p:txBody>
      </p:sp>
      <p:pic>
        <p:nvPicPr>
          <p:cNvPr id="18" name="Графика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5076825"/>
            <a:ext cx="28575" cy="514350"/>
          </a:xfrm>
          <a:prstGeom prst="rect">
            <a:avLst/>
          </a:prstGeom>
        </p:spPr>
      </p:pic>
      <p:sp>
        <p:nvSpPr>
          <p:cNvPr id="19" name="Текст: Август 1963, Москва: СССР, США и Великоб"/>
          <p:cNvSpPr txBox="1"/>
          <p:nvPr/>
        </p:nvSpPr>
        <p:spPr>
          <a:xfrm>
            <a:off x="838200" y="5069205"/>
            <a:ext cx="7348728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Август 1963, Москва: </a:t>
            </a: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СССР, США и Великобритания подписали договор о запрете испытаний в</a:t>
            </a:r>
            <a:b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атмосфере</a:t>
            </a:r>
          </a:p>
        </p:txBody>
      </p:sp>
      <p:pic>
        <p:nvPicPr>
          <p:cNvPr id="20" name="Графика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1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22" name="Текст: 31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957262" cy="1209675"/>
          </a:xfrm>
          <a:prstGeom prst="rect">
            <a:avLst/>
          </a:prstGeom>
        </p:spPr>
      </p:pic>
      <p:sp>
        <p:nvSpPr>
          <p:cNvPr id="3" name="Текст: ДМ"/>
          <p:cNvSpPr txBox="1"/>
          <p:nvPr/>
        </p:nvSpPr>
        <p:spPr>
          <a:xfrm>
            <a:off x="736600" y="1321308"/>
            <a:ext cx="576429" cy="39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20"/>
              </a:lnSpc>
            </a:pPr>
            <a:r>
              <a:rPr lang="ru-RU" sz="2600" b="0" i="0" spc="-130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ДМ</a:t>
            </a:r>
          </a:p>
        </p:txBody>
      </p:sp>
      <p:sp>
        <p:nvSpPr>
          <p:cNvPr id="4" name="Текст: 10 · 1941-2001 США · БИОФИЗИК"/>
          <p:cNvSpPr txBox="1"/>
          <p:nvPr/>
        </p:nvSpPr>
        <p:spPr>
          <a:xfrm>
            <a:off x="1778000" y="524828"/>
            <a:ext cx="1075547" cy="2913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7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10 </a:t>
            </a: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· 1941-2001</a:t>
            </a:r>
            <a:b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</a:b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США · БИОФИЗИК</a:t>
            </a:r>
          </a:p>
        </p:txBody>
      </p:sp>
      <p:sp>
        <p:nvSpPr>
          <p:cNvPr id="5" name="Текст: Донелла Медоуз"/>
          <p:cNvSpPr txBox="1"/>
          <p:nvPr/>
        </p:nvSpPr>
        <p:spPr>
          <a:xfrm>
            <a:off x="1752600" y="1055767"/>
            <a:ext cx="1438974" cy="630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84"/>
              </a:lnSpc>
            </a:pPr>
            <a:r>
              <a:rPr lang="ru-RU" sz="2700" b="0" i="0" spc="-122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Донелла</a:t>
            </a:r>
            <a:br>
              <a:rPr lang="ru-RU" sz="2700" b="0" i="0" spc="-122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2700" b="0" i="0" spc="-122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Медоуз</a:t>
            </a:r>
          </a:p>
        </p:txBody>
      </p:sp>
      <p:sp>
        <p:nvSpPr>
          <p:cNvPr id="6" name="Текст: «Пределы роста»"/>
          <p:cNvSpPr txBox="1"/>
          <p:nvPr/>
        </p:nvSpPr>
        <p:spPr>
          <a:xfrm>
            <a:off x="635000" y="2045716"/>
            <a:ext cx="2955830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«Пределы роста»</a:t>
            </a:r>
          </a:p>
        </p:txBody>
      </p:sp>
      <p:sp>
        <p:nvSpPr>
          <p:cNvPr id="7" name="Текст: 1972 · заказ Римского клуба · 17 человек"/>
          <p:cNvSpPr txBox="1"/>
          <p:nvPr/>
        </p:nvSpPr>
        <p:spPr>
          <a:xfrm>
            <a:off x="660400" y="2589689"/>
            <a:ext cx="3684230" cy="5518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1972 · заказ Римского клуба · 17 человек в Массачусетском</a:t>
            </a:r>
            <a:b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технологическом институте. Руководил Деннис Медоуз,</a:t>
            </a:r>
            <a:b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основной текст написала Донелла</a:t>
            </a:r>
          </a:p>
        </p:txBody>
      </p:sp>
      <p:pic>
        <p:nvPicPr>
          <p:cNvPr id="8" name="Графика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743325"/>
            <a:ext cx="3814762" cy="28575"/>
          </a:xfrm>
          <a:prstGeom prst="rect">
            <a:avLst/>
          </a:prstGeom>
        </p:spPr>
      </p:pic>
      <p:sp>
        <p:nvSpPr>
          <p:cNvPr id="9" name="Текст: Одними из первых посчитали будущее плане"/>
          <p:cNvSpPr txBox="1"/>
          <p:nvPr/>
        </p:nvSpPr>
        <p:spPr>
          <a:xfrm>
            <a:off x="660400" y="3894138"/>
            <a:ext cx="3532751" cy="4881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2"/>
              </a:lnSpc>
            </a:pPr>
            <a:r>
              <a:rPr lang="ru-RU" sz="1550" b="0" i="0" spc="-2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Одними из первых посчитали будущее</a:t>
            </a:r>
            <a:br>
              <a:rPr lang="ru-RU" sz="1550" b="0" i="0" spc="-2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550" b="0" i="0" spc="-2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планеты </a:t>
            </a:r>
            <a:r>
              <a:rPr lang="ru-RU" sz="1550" b="0" i="0" spc="-23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на компьютере</a:t>
            </a:r>
          </a:p>
        </p:txBody>
      </p:sp>
      <p:sp>
        <p:nvSpPr>
          <p:cNvPr id="10" name="Текст: МОДЕЛЬ: 5 ВЕЛИЧИН ДО 2100 ГОДА"/>
          <p:cNvSpPr txBox="1"/>
          <p:nvPr/>
        </p:nvSpPr>
        <p:spPr>
          <a:xfrm>
            <a:off x="5207000" y="537718"/>
            <a:ext cx="226106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МОДЕЛЬ: 5 ВЕЛИЧИН ДО 2100 ГОДА</a:t>
            </a:r>
          </a:p>
        </p:txBody>
      </p:sp>
      <p:sp>
        <p:nvSpPr>
          <p:cNvPr id="11" name="Текст: ━ НАСЕЛЕНИЕ"/>
          <p:cNvSpPr txBox="1"/>
          <p:nvPr/>
        </p:nvSpPr>
        <p:spPr>
          <a:xfrm>
            <a:off x="5207000" y="766318"/>
            <a:ext cx="853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1EFEA"/>
                </a:solidFill>
                <a:latin typeface="IBM Plex Mono Medium"/>
                <a:ea typeface="IBM Plex Mono Medium"/>
                <a:cs typeface="IBM Plex Mono Medium"/>
              </a:rPr>
              <a:t>━ НАСЕЛЕНИЕ</a:t>
            </a:r>
          </a:p>
        </p:txBody>
      </p:sp>
      <p:sp>
        <p:nvSpPr>
          <p:cNvPr id="12" name="Текст: ━ ПРОМЫШЛЕННОСТЬ"/>
          <p:cNvSpPr txBox="1"/>
          <p:nvPr/>
        </p:nvSpPr>
        <p:spPr>
          <a:xfrm>
            <a:off x="6794500" y="766318"/>
            <a:ext cx="122372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━ ПРОМЫШЛЕННОСТЬ</a:t>
            </a:r>
          </a:p>
        </p:txBody>
      </p:sp>
      <p:sp>
        <p:nvSpPr>
          <p:cNvPr id="13" name="Текст: ━ ПРОДОВОЛЬСТВИЕ"/>
          <p:cNvSpPr txBox="1"/>
          <p:nvPr/>
        </p:nvSpPr>
        <p:spPr>
          <a:xfrm>
            <a:off x="8699500" y="766318"/>
            <a:ext cx="122372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5FA36E"/>
                </a:solidFill>
                <a:latin typeface="IBM Plex Mono Medium"/>
                <a:ea typeface="IBM Plex Mono Medium"/>
                <a:cs typeface="IBM Plex Mono Medium"/>
              </a:rPr>
              <a:t>━ ПРОДОВОЛЬСТВИЕ</a:t>
            </a:r>
          </a:p>
        </p:txBody>
      </p:sp>
      <p:sp>
        <p:nvSpPr>
          <p:cNvPr id="14" name="Текст: ━ РЕСУРСЫ"/>
          <p:cNvSpPr txBox="1"/>
          <p:nvPr/>
        </p:nvSpPr>
        <p:spPr>
          <a:xfrm>
            <a:off x="5207000" y="956818"/>
            <a:ext cx="705001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8F8B83"/>
                </a:solidFill>
                <a:latin typeface="IBM Plex Mono Medium"/>
                <a:ea typeface="IBM Plex Mono Medium"/>
                <a:cs typeface="IBM Plex Mono Medium"/>
              </a:rPr>
              <a:t>━ РЕСУРСЫ</a:t>
            </a:r>
          </a:p>
        </p:txBody>
      </p:sp>
      <p:sp>
        <p:nvSpPr>
          <p:cNvPr id="15" name="Текст: ━ ЗАГРЯЗНЕНИЕ"/>
          <p:cNvSpPr txBox="1"/>
          <p:nvPr/>
        </p:nvSpPr>
        <p:spPr>
          <a:xfrm>
            <a:off x="6794500" y="956818"/>
            <a:ext cx="10014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━ ЗАГРЯЗНЕНИЕ</a:t>
            </a:r>
          </a:p>
        </p:txBody>
      </p:sp>
      <p:pic>
        <p:nvPicPr>
          <p:cNvPr id="16" name="Графика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12" y="1571625"/>
            <a:ext cx="6334125" cy="3248025"/>
          </a:xfrm>
          <a:prstGeom prst="rect">
            <a:avLst/>
          </a:prstGeom>
        </p:spPr>
      </p:pic>
      <p:sp>
        <p:nvSpPr>
          <p:cNvPr id="17" name="Текст: СХЕМА «СТАНДАРТНОГО» СЦЕНАРИЯ: ЕСЛИ ВСЕ "/>
          <p:cNvSpPr txBox="1"/>
          <p:nvPr/>
        </p:nvSpPr>
        <p:spPr>
          <a:xfrm>
            <a:off x="5207000" y="4982718"/>
            <a:ext cx="566945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СХЕМА «СТАНДАРТНОГО» СЦЕНАРИЯ: ЕСЛИ ВСЕ РАСТЕТ КАК РАНЬШЕ · ПУНКТИР: ПРОГНОЗ</a:t>
            </a:r>
          </a:p>
        </p:txBody>
      </p:sp>
      <p:sp>
        <p:nvSpPr>
          <p:cNvPr id="18" name="Текст: 2008 · сравнили реальную статистику за 3"/>
          <p:cNvSpPr txBox="1"/>
          <p:nvPr/>
        </p:nvSpPr>
        <p:spPr>
          <a:xfrm>
            <a:off x="5207000" y="5256689"/>
            <a:ext cx="6030404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E5321D"/>
                </a:solidFill>
                <a:latin typeface="Inter Tight SemiBold"/>
                <a:ea typeface="Inter Tight SemiBold"/>
                <a:cs typeface="Inter Tight SemiBold"/>
              </a:rPr>
              <a:t>2008 </a:t>
            </a: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сравнили реальную статистику за 30 лет с графиками книги: мир идет довольно близко к</a:t>
            </a:r>
            <a:b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«стандартному» сценарию</a:t>
            </a:r>
          </a:p>
        </p:txBody>
      </p:sp>
      <p:pic>
        <p:nvPicPr>
          <p:cNvPr id="19" name="Графика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20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21" name="Текст: 32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ЗАГАДКА ИЗ «ПРЕДЕЛОВ РОСТА»"/>
          <p:cNvSpPr txBox="1"/>
          <p:nvPr/>
        </p:nvSpPr>
        <p:spPr>
          <a:xfrm>
            <a:off x="660400" y="537718"/>
            <a:ext cx="203880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ЗАГАДКА ИЗ «ПРЕДЕЛОВ РОСТА»</a:t>
            </a:r>
          </a:p>
        </p:txBody>
      </p:sp>
      <p:sp>
        <p:nvSpPr>
          <p:cNvPr id="3" name="Текст: Кувшинка каждый день растет вдвое и за 3"/>
          <p:cNvSpPr txBox="1"/>
          <p:nvPr/>
        </p:nvSpPr>
        <p:spPr>
          <a:xfrm>
            <a:off x="660400" y="789940"/>
            <a:ext cx="10524530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850"/>
              </a:lnSpc>
            </a:pPr>
            <a:r>
              <a:rPr lang="ru-RU" sz="2500" b="0" i="0" spc="-62">
                <a:solidFill>
                  <a:srgbClr val="F1EFEA"/>
                </a:solidFill>
                <a:latin typeface="Inter Tight Medium"/>
                <a:ea typeface="Inter Tight Medium"/>
                <a:cs typeface="Inter Tight Medium"/>
              </a:rPr>
              <a:t>Кувшинка каждый день растет вдвое и за 30 дней закроет весь пруд. </a:t>
            </a:r>
            <a:r>
              <a:rPr lang="ru-RU" sz="2500" b="0" i="0" spc="-62">
                <a:solidFill>
                  <a:srgbClr val="E5321D"/>
                </a:solidFill>
                <a:latin typeface="Inter Tight Medium"/>
                <a:ea typeface="Inter Tight Medium"/>
                <a:cs typeface="Inter Tight Medium"/>
              </a:rPr>
              <a:t>На</a:t>
            </a:r>
            <a:br>
              <a:rPr lang="ru-RU" sz="2500" b="0" i="0" spc="-62">
                <a:solidFill>
                  <a:srgbClr val="E5321D"/>
                </a:solidFill>
                <a:latin typeface="Inter Tight Medium"/>
                <a:ea typeface="Inter Tight Medium"/>
                <a:cs typeface="Inter Tight Medium"/>
              </a:rPr>
            </a:br>
            <a:r>
              <a:rPr lang="ru-RU" sz="2500" b="0" i="0" spc="-62">
                <a:solidFill>
                  <a:srgbClr val="E5321D"/>
                </a:solidFill>
                <a:latin typeface="Inter Tight Medium"/>
                <a:ea typeface="Inter Tight Medium"/>
                <a:cs typeface="Inter Tight Medium"/>
              </a:rPr>
              <a:t>какой день она закроет половину?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2490788"/>
            <a:ext cx="2933700" cy="2328862"/>
          </a:xfrm>
          <a:prstGeom prst="rect">
            <a:avLst/>
          </a:prstGeom>
        </p:spPr>
      </p:pic>
      <p:pic>
        <p:nvPicPr>
          <p:cNvPr id="5" name="Графика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88" y="2490788"/>
            <a:ext cx="2933700" cy="2328862"/>
          </a:xfrm>
          <a:prstGeom prst="rect">
            <a:avLst/>
          </a:prstGeom>
        </p:spPr>
      </p:pic>
      <p:pic>
        <p:nvPicPr>
          <p:cNvPr id="6" name="Графика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525" y="2490788"/>
            <a:ext cx="2933700" cy="2328862"/>
          </a:xfrm>
          <a:prstGeom prst="rect">
            <a:avLst/>
          </a:prstGeom>
        </p:spPr>
      </p:pic>
      <p:sp>
        <p:nvSpPr>
          <p:cNvPr id="7" name="Текст: 28-Й ДЕНЬ · ЧЕТВЕРТЬ"/>
          <p:cNvSpPr txBox="1"/>
          <p:nvPr/>
        </p:nvSpPr>
        <p:spPr>
          <a:xfrm>
            <a:off x="1900686" y="5020818"/>
            <a:ext cx="1615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28-Й ДЕНЬ · ЧЕТВЕРТЬ</a:t>
            </a:r>
          </a:p>
        </p:txBody>
      </p:sp>
      <p:sp>
        <p:nvSpPr>
          <p:cNvPr id="8" name="Текст: 29-Й ДЕНЬ · ПОЛОВИНА"/>
          <p:cNvSpPr txBox="1"/>
          <p:nvPr/>
        </p:nvSpPr>
        <p:spPr>
          <a:xfrm>
            <a:off x="5285236" y="5020818"/>
            <a:ext cx="1615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1019"/>
              </a:lnSpc>
            </a:pPr>
            <a:r>
              <a:rPr lang="ru-RU" sz="850" b="0" i="0" spc="51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29-Й ДЕНЬ · ПОЛОВИНА</a:t>
            </a:r>
          </a:p>
        </p:txBody>
      </p:sp>
      <p:sp>
        <p:nvSpPr>
          <p:cNvPr id="9" name="Текст: 30-Й ДЕНЬ · ВЕСЬ ПРУД"/>
          <p:cNvSpPr txBox="1"/>
          <p:nvPr/>
        </p:nvSpPr>
        <p:spPr>
          <a:xfrm>
            <a:off x="8631317" y="5020818"/>
            <a:ext cx="169211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30-Й ДЕНЬ · ВЕСЬ ПРУД</a:t>
            </a:r>
          </a:p>
        </p:txBody>
      </p:sp>
      <p:sp>
        <p:nvSpPr>
          <p:cNvPr id="10" name="Текст: На 29-й."/>
          <p:cNvSpPr txBox="1"/>
          <p:nvPr/>
        </p:nvSpPr>
        <p:spPr>
          <a:xfrm>
            <a:off x="635000" y="5538216"/>
            <a:ext cx="1367774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E5321D"/>
                </a:solidFill>
                <a:latin typeface="Inter Tight ExtraBold"/>
                <a:ea typeface="Inter Tight ExtraBold"/>
                <a:cs typeface="Inter Tight ExtraBold"/>
              </a:rPr>
              <a:t>На 29-й.</a:t>
            </a:r>
          </a:p>
        </p:txBody>
      </p:sp>
      <p:sp>
        <p:nvSpPr>
          <p:cNvPr id="11" name="Текст: Еще вчера казалось, что места полно"/>
          <p:cNvSpPr txBox="1"/>
          <p:nvPr/>
        </p:nvSpPr>
        <p:spPr>
          <a:xfrm>
            <a:off x="2730500" y="5628386"/>
            <a:ext cx="3726537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Еще вчера казалось, что места полно</a:t>
            </a:r>
          </a:p>
        </p:txBody>
      </p:sp>
      <p:pic>
        <p:nvPicPr>
          <p:cNvPr id="12" name="Графика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3" name="Текст: III ПРЕДУПРЕЖДАТЬ"/>
          <p:cNvSpPr txBox="1"/>
          <p:nvPr/>
        </p:nvSpPr>
        <p:spPr>
          <a:xfrm>
            <a:off x="660400" y="6483985"/>
            <a:ext cx="11496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E5321D"/>
                </a:solidFill>
                <a:latin typeface="IBM Plex Mono Medium"/>
                <a:ea typeface="IBM Plex Mono Medium"/>
                <a:cs typeface="IBM Plex Mono Medium"/>
              </a:rPr>
              <a:t>III </a:t>
            </a: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ПРЕДУПРЕЖДАТЬ</a:t>
            </a:r>
          </a:p>
        </p:txBody>
      </p:sp>
      <p:sp>
        <p:nvSpPr>
          <p:cNvPr id="14" name="Текст: 33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0"/>
            <a:ext cx="10544175" cy="6858000"/>
          </a:xfrm>
          <a:prstGeom prst="rect">
            <a:avLst/>
          </a:prstGeom>
        </p:spPr>
      </p:pic>
      <p:sp>
        <p:nvSpPr>
          <p:cNvPr id="3" name="Текст: «Восход Земли», Аполлон-8, 1968: NASA / "/>
          <p:cNvSpPr txBox="1"/>
          <p:nvPr/>
        </p:nvSpPr>
        <p:spPr>
          <a:xfrm>
            <a:off x="8610402" y="130302"/>
            <a:ext cx="3604466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«Восход Земли», Аполлон-8, 1968: NASA / Bill Anders · Public domain</a:t>
            </a:r>
          </a:p>
        </p:txBody>
      </p:sp>
      <p:sp>
        <p:nvSpPr>
          <p:cNvPr id="4" name="Текст: ЧАСТЬ IV · С 1960-Х"/>
          <p:cNvSpPr txBox="1"/>
          <p:nvPr/>
        </p:nvSpPr>
        <p:spPr>
          <a:xfrm>
            <a:off x="660400" y="537718"/>
            <a:ext cx="144599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>
                    <a:alpha val="75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ЧАСТЬ IV · С 1960-Х</a:t>
            </a:r>
          </a:p>
        </p:txBody>
      </p:sp>
      <p:sp>
        <p:nvSpPr>
          <p:cNvPr id="5" name="Текст: IV"/>
          <p:cNvSpPr txBox="1"/>
          <p:nvPr/>
        </p:nvSpPr>
        <p:spPr>
          <a:xfrm>
            <a:off x="609600" y="387350"/>
            <a:ext cx="2088642" cy="2286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0"/>
              </a:lnSpc>
            </a:pPr>
            <a:r>
              <a:rPr lang="ru-RU" sz="15000" b="0" i="1" spc="-225">
                <a:solidFill>
                  <a:srgbClr val="F2B705"/>
                </a:solidFill>
                <a:latin typeface="Spectral"/>
                <a:ea typeface="Spectral"/>
                <a:cs typeface="Spectral"/>
              </a:rPr>
              <a:t>IV</a:t>
            </a:r>
          </a:p>
        </p:txBody>
      </p:sp>
      <p:sp>
        <p:nvSpPr>
          <p:cNvPr id="6" name="Текст: Вся планета"/>
          <p:cNvSpPr txBox="1"/>
          <p:nvPr/>
        </p:nvSpPr>
        <p:spPr>
          <a:xfrm>
            <a:off x="609600" y="2597150"/>
            <a:ext cx="5384554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38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Вся планета</a:t>
            </a:r>
          </a:p>
        </p:txBody>
      </p:sp>
      <p:sp>
        <p:nvSpPr>
          <p:cNvPr id="7" name="Текст: Земля как одна система"/>
          <p:cNvSpPr txBox="1"/>
          <p:nvPr/>
        </p:nvSpPr>
        <p:spPr>
          <a:xfrm>
            <a:off x="660400" y="3812286"/>
            <a:ext cx="2437519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FFFFF">
                    <a:alpha val="85000"/>
                  </a:srgbClr>
                </a:solidFill>
                <a:latin typeface="Inter Tight"/>
                <a:ea typeface="Inter Tight"/>
                <a:cs typeface="Inter Tight"/>
              </a:rPr>
              <a:t>Земля как одна система</a:t>
            </a:r>
          </a:p>
        </p:txBody>
      </p:sp>
      <p:sp>
        <p:nvSpPr>
          <p:cNvPr id="8" name="Текст: ЛАВЛОК · УИЛСОН · ГУДОЛЛ · КУСТО"/>
          <p:cNvSpPr txBox="1"/>
          <p:nvPr/>
        </p:nvSpPr>
        <p:spPr>
          <a:xfrm>
            <a:off x="660400" y="4258818"/>
            <a:ext cx="240924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rPr>
              <a:t>ЛАВЛОК · УИЛСОН · ГУДОЛЛ · КУСТО</a:t>
            </a:r>
          </a:p>
        </p:txBody>
      </p:sp>
      <p:pic>
        <p:nvPicPr>
          <p:cNvPr id="9" name="Графика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0" name="Текст: IV ВСЯ ПЛАНЕТА"/>
          <p:cNvSpPr txBox="1"/>
          <p:nvPr/>
        </p:nvSpPr>
        <p:spPr>
          <a:xfrm>
            <a:off x="660400" y="6483985"/>
            <a:ext cx="95357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IV </a:t>
            </a: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ВСЯ ПЛАНЕТА</a:t>
            </a:r>
          </a:p>
        </p:txBody>
      </p:sp>
      <p:sp>
        <p:nvSpPr>
          <p:cNvPr id="11" name="Текст: 34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FFFFFF">
                    <a:alpha val="82000"/>
                  </a:srgbClr>
                </a:solidFill>
                <a:latin typeface="IBM Plex Mono Medium"/>
                <a:ea typeface="IBM Plex Mono Medium"/>
                <a:cs typeface="IBM Plex Mono Medium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957262" cy="952500"/>
          </a:xfrm>
          <a:prstGeom prst="rect">
            <a:avLst/>
          </a:prstGeom>
        </p:spPr>
      </p:pic>
      <p:sp>
        <p:nvSpPr>
          <p:cNvPr id="3" name="Текст: 11 · 1919-2022 · ВЕЛИКОБРИТАНИЯ ХИМИК И "/>
          <p:cNvSpPr txBox="1"/>
          <p:nvPr/>
        </p:nvSpPr>
        <p:spPr>
          <a:xfrm>
            <a:off x="1778000" y="524828"/>
            <a:ext cx="2853777" cy="29130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7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11 </a:t>
            </a: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· 1919-2022 · ВЕЛИКОБРИТАНИЯ</a:t>
            </a:r>
            <a:b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</a:b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ХИМИК И ИЗОБРЕТАТЕЛЬ · ПРОЖИЛ 103 ГОДА</a:t>
            </a:r>
          </a:p>
        </p:txBody>
      </p:sp>
      <p:sp>
        <p:nvSpPr>
          <p:cNvPr id="4" name="Текст: Джеймс Лавлок"/>
          <p:cNvSpPr txBox="1"/>
          <p:nvPr/>
        </p:nvSpPr>
        <p:spPr>
          <a:xfrm>
            <a:off x="1752600" y="978916"/>
            <a:ext cx="2632956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Джеймс Лавлок</a:t>
            </a:r>
          </a:p>
        </p:txBody>
      </p:sp>
      <p:sp>
        <p:nvSpPr>
          <p:cNvPr id="5" name="Текст: НАСА: как найти жизнь на Марсе? Лететь н"/>
          <p:cNvSpPr txBox="1"/>
          <p:nvPr/>
        </p:nvSpPr>
        <p:spPr>
          <a:xfrm>
            <a:off x="660400" y="1854200"/>
            <a:ext cx="7018115" cy="666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25"/>
              </a:lnSpc>
            </a:pPr>
            <a:r>
              <a:rPr lang="ru-RU" sz="2500" b="0" i="0" spc="-88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НАСА: как найти жизнь на Марсе?</a:t>
            </a:r>
            <a:br>
              <a:rPr lang="ru-RU" sz="2500" b="0" i="0" spc="-88">
                <a:solidFill>
                  <a:srgbClr val="F2B705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2500" b="0" i="0" spc="-88">
                <a:solidFill>
                  <a:srgbClr val="F2B705"/>
                </a:solidFill>
                <a:latin typeface="Inter Tight ExtraBold"/>
                <a:ea typeface="Inter Tight ExtraBold"/>
                <a:cs typeface="Inter Tight ExtraBold"/>
              </a:rPr>
              <a:t>Лететь не обязательно. Посмотрите на воздух</a:t>
            </a:r>
          </a:p>
        </p:txBody>
      </p:sp>
      <p:pic>
        <p:nvPicPr>
          <p:cNvPr id="6" name="Графика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3071812"/>
            <a:ext cx="2747962" cy="2747962"/>
          </a:xfrm>
          <a:prstGeom prst="rect">
            <a:avLst/>
          </a:prstGeom>
        </p:spPr>
      </p:pic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3071812"/>
            <a:ext cx="2743200" cy="2747962"/>
          </a:xfrm>
          <a:prstGeom prst="rect">
            <a:avLst/>
          </a:prstGeom>
        </p:spPr>
      </p:pic>
      <p:sp>
        <p:nvSpPr>
          <p:cNvPr id="8" name="Текст: МАРС"/>
          <p:cNvSpPr txBox="1"/>
          <p:nvPr/>
        </p:nvSpPr>
        <p:spPr>
          <a:xfrm>
            <a:off x="4127500" y="3560318"/>
            <a:ext cx="3345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E8875A"/>
                </a:solidFill>
                <a:latin typeface="IBM Plex Mono Medium"/>
                <a:ea typeface="IBM Plex Mono Medium"/>
                <a:cs typeface="IBM Plex Mono Medium"/>
              </a:rPr>
              <a:t>МАРС</a:t>
            </a:r>
          </a:p>
        </p:txBody>
      </p:sp>
      <p:sp>
        <p:nvSpPr>
          <p:cNvPr id="9" name="Текст: Все вещества давно прореагировали: атмос"/>
          <p:cNvSpPr txBox="1"/>
          <p:nvPr/>
        </p:nvSpPr>
        <p:spPr>
          <a:xfrm>
            <a:off x="4127500" y="3773805"/>
            <a:ext cx="2336189" cy="6834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Все вещества давно</a:t>
            </a:r>
            <a:b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прореагировали: атмосфера в</a:t>
            </a:r>
            <a:br>
              <a:rPr lang="ru-RU" sz="1300" b="0" i="0" spc="-13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300" b="0" i="0" spc="-13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равновесии</a:t>
            </a: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. Планета мертва</a:t>
            </a:r>
          </a:p>
        </p:txBody>
      </p:sp>
      <p:sp>
        <p:nvSpPr>
          <p:cNvPr id="10" name="Текст: ЗЕМЛЯ"/>
          <p:cNvSpPr txBox="1"/>
          <p:nvPr/>
        </p:nvSpPr>
        <p:spPr>
          <a:xfrm>
            <a:off x="10096500" y="3560318"/>
            <a:ext cx="40864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ЗЕМЛЯ</a:t>
            </a:r>
          </a:p>
        </p:txBody>
      </p:sp>
      <p:sp>
        <p:nvSpPr>
          <p:cNvPr id="11" name="Текст: Кислород и метан вместе. Их все время пр"/>
          <p:cNvSpPr txBox="1"/>
          <p:nvPr/>
        </p:nvSpPr>
        <p:spPr>
          <a:xfrm>
            <a:off x="10096500" y="3773805"/>
            <a:ext cx="1703649" cy="6834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Кислород и метан</a:t>
            </a:r>
            <a:br>
              <a:rPr lang="ru-RU" sz="1300" b="0" i="0" spc="-13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300" b="0" i="0" spc="-13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вместе</a:t>
            </a: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. Их все время</a:t>
            </a:r>
            <a:b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производит жизнь</a:t>
            </a:r>
          </a:p>
        </p:txBody>
      </p:sp>
      <p:sp>
        <p:nvSpPr>
          <p:cNvPr id="12" name="Текст: Марс: ESA &amp; MPS for OSIRIS Team, CC BY-S"/>
          <p:cNvSpPr txBox="1"/>
          <p:nvPr/>
        </p:nvSpPr>
        <p:spPr>
          <a:xfrm>
            <a:off x="660400" y="6099302"/>
            <a:ext cx="4881928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8C8C88"/>
                </a:solidFill>
                <a:latin typeface="IBM Plex Mono"/>
                <a:ea typeface="IBM Plex Mono"/>
                <a:cs typeface="IBM Plex Mono"/>
              </a:rPr>
              <a:t>Марс: ESA &amp; MPS for OSIRIS Team, CC BY-SA 3.0 IGO · Земля: NASA, Аполлон-17 · Public domain</a:t>
            </a:r>
          </a:p>
        </p:txBody>
      </p:sp>
      <p:pic>
        <p:nvPicPr>
          <p:cNvPr id="13" name="Графика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4" name="Текст: IV ВСЯ ПЛАНЕТА"/>
          <p:cNvSpPr txBox="1"/>
          <p:nvPr/>
        </p:nvSpPr>
        <p:spPr>
          <a:xfrm>
            <a:off x="660400" y="6483985"/>
            <a:ext cx="95357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IV </a:t>
            </a: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ВСЯ ПЛАНЕТА</a:t>
            </a:r>
          </a:p>
        </p:txBody>
      </p:sp>
      <p:sp>
        <p:nvSpPr>
          <p:cNvPr id="15" name="Текст: 35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8" y="1514475"/>
            <a:ext cx="3705225" cy="3700462"/>
          </a:xfrm>
          <a:prstGeom prst="rect">
            <a:avLst/>
          </a:prstGeom>
        </p:spPr>
      </p:pic>
      <p:pic>
        <p:nvPicPr>
          <p:cNvPr id="3" name="Графика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85838"/>
            <a:ext cx="5329238" cy="4591050"/>
          </a:xfrm>
          <a:prstGeom prst="rect">
            <a:avLst/>
          </a:prstGeom>
        </p:spPr>
      </p:pic>
      <p:sp>
        <p:nvSpPr>
          <p:cNvPr id="4" name="Текст: ЛАВЛОК И ЛИНН МАРГУЛИС · СТАТЬЯ 1972 · К"/>
          <p:cNvSpPr txBox="1"/>
          <p:nvPr/>
        </p:nvSpPr>
        <p:spPr>
          <a:xfrm>
            <a:off x="6350000" y="537718"/>
            <a:ext cx="366885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ЛАВЛОК И ЛИНН МАРГУЛИС · СТАТЬЯ 1972 · КНИГА 1979</a:t>
            </a:r>
          </a:p>
        </p:txBody>
      </p:sp>
      <p:sp>
        <p:nvSpPr>
          <p:cNvPr id="5" name="Текст: Гея"/>
          <p:cNvSpPr txBox="1"/>
          <p:nvPr/>
        </p:nvSpPr>
        <p:spPr>
          <a:xfrm>
            <a:off x="6299200" y="654050"/>
            <a:ext cx="1500576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0"/>
              </a:lnSpc>
            </a:pPr>
            <a:r>
              <a:rPr lang="ru-RU" sz="7500" b="0" i="0" spc="-338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Гея</a:t>
            </a:r>
          </a:p>
        </p:txBody>
      </p:sp>
      <p:sp>
        <p:nvSpPr>
          <p:cNvPr id="6" name="Текст: Жизнь сама поддерживает на Земле условия"/>
          <p:cNvSpPr txBox="1"/>
          <p:nvPr/>
        </p:nvSpPr>
        <p:spPr>
          <a:xfrm>
            <a:off x="6350000" y="1900396"/>
            <a:ext cx="4598678" cy="8030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8"/>
              </a:lnSpc>
            </a:pPr>
            <a:r>
              <a:rPr lang="ru-RU" sz="1700" b="0" i="0" spc="-26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Жизнь сама поддерживает на Земле условия,</a:t>
            </a:r>
            <a:br>
              <a:rPr lang="ru-RU" sz="1700" b="0" i="0" spc="-26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700" b="0" i="0" spc="-26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которые ей нужны. Планета как</a:t>
            </a:r>
            <a:br>
              <a:rPr lang="ru-RU" sz="1700" b="0" i="0" spc="-26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700" b="0" i="0" spc="-26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саморегулирующаяся система</a:t>
            </a:r>
          </a:p>
        </p:txBody>
      </p:sp>
      <p:sp>
        <p:nvSpPr>
          <p:cNvPr id="7" name="Текст: Имя предложил сосед Лавлока, писатель Уи"/>
          <p:cNvSpPr txBox="1"/>
          <p:nvPr/>
        </p:nvSpPr>
        <p:spPr>
          <a:xfrm>
            <a:off x="6350000" y="2989834"/>
            <a:ext cx="3650901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8C8C88"/>
                </a:solidFill>
                <a:latin typeface="Inter Tight"/>
                <a:ea typeface="Inter Tight"/>
                <a:cs typeface="Inter Tight"/>
              </a:rPr>
              <a:t>Имя предложил сосед Лавлока, писатель Уильям Голдинг</a:t>
            </a:r>
          </a:p>
        </p:txBody>
      </p:sp>
      <p:pic>
        <p:nvPicPr>
          <p:cNvPr id="8" name="Графика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412" y="3810000"/>
            <a:ext cx="5186362" cy="28575"/>
          </a:xfrm>
          <a:prstGeom prst="rect">
            <a:avLst/>
          </a:prstGeom>
        </p:spPr>
      </p:pic>
      <p:pic>
        <p:nvPicPr>
          <p:cNvPr id="9" name="Графика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412" y="4000500"/>
            <a:ext cx="1081088" cy="1400175"/>
          </a:xfrm>
          <a:prstGeom prst="rect">
            <a:avLst/>
          </a:prstGeom>
        </p:spPr>
      </p:pic>
      <p:sp>
        <p:nvSpPr>
          <p:cNvPr id="10" name="Текст: А У НАС РАНЬШЕ"/>
          <p:cNvSpPr txBox="1"/>
          <p:nvPr/>
        </p:nvSpPr>
        <p:spPr>
          <a:xfrm>
            <a:off x="7620000" y="4004818"/>
            <a:ext cx="107554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А У НАС РАНЬШЕ</a:t>
            </a:r>
          </a:p>
        </p:txBody>
      </p:sp>
      <p:sp>
        <p:nvSpPr>
          <p:cNvPr id="11" name="Текст: В. И. Вернадский, «Биосфера»"/>
          <p:cNvSpPr txBox="1"/>
          <p:nvPr/>
        </p:nvSpPr>
        <p:spPr>
          <a:xfrm>
            <a:off x="7620000" y="4218178"/>
            <a:ext cx="2938082" cy="2438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20"/>
              </a:lnSpc>
            </a:pPr>
            <a:r>
              <a:rPr lang="ru-RU" sz="1600" b="0" i="0" spc="-32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В. И. Вернадский, «Биосфера»</a:t>
            </a:r>
          </a:p>
        </p:txBody>
      </p:sp>
      <p:sp>
        <p:nvSpPr>
          <p:cNvPr id="12" name="Текст: Ленинград, 1926: почти на полвека раньше"/>
          <p:cNvSpPr txBox="1"/>
          <p:nvPr/>
        </p:nvSpPr>
        <p:spPr>
          <a:xfrm>
            <a:off x="7620000" y="4507389"/>
            <a:ext cx="3948390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Ленинград, </a:t>
            </a:r>
            <a:r>
              <a:rPr lang="ru-RU" sz="1050" b="0" i="0" spc="-5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1926</a:t>
            </a: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: почти на полвека раньше Геи. На английском</a:t>
            </a:r>
            <a:b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только в 1986</a:t>
            </a:r>
          </a:p>
        </p:txBody>
      </p:sp>
      <p:sp>
        <p:nvSpPr>
          <p:cNvPr id="13" name="Текст: Лавлок о нем не знал, а потом назвал сво"/>
          <p:cNvSpPr txBox="1"/>
          <p:nvPr/>
        </p:nvSpPr>
        <p:spPr>
          <a:xfrm>
            <a:off x="7620000" y="5021326"/>
            <a:ext cx="3655544" cy="1447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0"/>
              </a:lnSpc>
            </a:pPr>
            <a:r>
              <a:rPr lang="ru-RU" sz="950" b="0" i="0" spc="-5">
                <a:solidFill>
                  <a:srgbClr val="8C8C88"/>
                </a:solidFill>
                <a:latin typeface="Inter Tight"/>
                <a:ea typeface="Inter Tight"/>
                <a:cs typeface="Inter Tight"/>
              </a:rPr>
              <a:t>Лавлок о нем не знал, а потом назвал своим предшественником</a:t>
            </a:r>
          </a:p>
        </p:txBody>
      </p:sp>
      <p:sp>
        <p:nvSpPr>
          <p:cNvPr id="14" name="Текст: Земля: NASA, Аполлон-17 · Вернадский, 19"/>
          <p:cNvSpPr txBox="1"/>
          <p:nvPr/>
        </p:nvSpPr>
        <p:spPr>
          <a:xfrm>
            <a:off x="660400" y="6099302"/>
            <a:ext cx="3125367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8C8C88"/>
                </a:solidFill>
                <a:latin typeface="IBM Plex Mono"/>
                <a:ea typeface="IBM Plex Mono"/>
                <a:cs typeface="IBM Plex Mono"/>
              </a:rPr>
              <a:t>Земля: NASA, Аполлон-17 · Вернадский, 1934 · Public domain</a:t>
            </a:r>
          </a:p>
        </p:txBody>
      </p:sp>
      <p:pic>
        <p:nvPicPr>
          <p:cNvPr id="15" name="Графика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6" name="Текст: IV ВСЯ ПЛАНЕТА"/>
          <p:cNvSpPr txBox="1"/>
          <p:nvPr/>
        </p:nvSpPr>
        <p:spPr>
          <a:xfrm>
            <a:off x="660400" y="6483985"/>
            <a:ext cx="95357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IV </a:t>
            </a: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ВСЯ ПЛАНЕТА</a:t>
            </a:r>
          </a:p>
        </p:txBody>
      </p:sp>
      <p:sp>
        <p:nvSpPr>
          <p:cNvPr id="17" name="Текст: 36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533400"/>
            <a:ext cx="1781175" cy="1781175"/>
          </a:xfrm>
          <a:prstGeom prst="rect">
            <a:avLst/>
          </a:prstGeom>
        </p:spPr>
      </p:pic>
      <p:sp>
        <p:nvSpPr>
          <p:cNvPr id="3" name="Текст: Муравьи-листорезы: Kathy &amp; Sam · CC BY 2"/>
          <p:cNvSpPr txBox="1"/>
          <p:nvPr/>
        </p:nvSpPr>
        <p:spPr>
          <a:xfrm>
            <a:off x="660400" y="2378202"/>
            <a:ext cx="2273760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8C8C88"/>
                </a:solidFill>
                <a:latin typeface="IBM Plex Mono"/>
                <a:ea typeface="IBM Plex Mono"/>
                <a:cs typeface="IBM Plex Mono"/>
              </a:rPr>
              <a:t>Муравьи-листорезы: Kathy &amp; Sam · CC BY 2.0</a:t>
            </a:r>
          </a:p>
        </p:txBody>
      </p:sp>
      <p:sp>
        <p:nvSpPr>
          <p:cNvPr id="4" name="Текст: 12 · 1929-2021 · США · ГАРВАРД · ЛУЧШИЙ "/>
          <p:cNvSpPr txBox="1"/>
          <p:nvPr/>
        </p:nvSpPr>
        <p:spPr>
          <a:xfrm>
            <a:off x="2794000" y="537718"/>
            <a:ext cx="4113593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12 </a:t>
            </a: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· 1929-2021 · США · ГАРВАРД · ЛУЧШИЙ ЗНАТОК МУРАВЬЕВ</a:t>
            </a:r>
          </a:p>
        </p:txBody>
      </p:sp>
      <p:sp>
        <p:nvSpPr>
          <p:cNvPr id="5" name="Текст: Эдвард Уилсон"/>
          <p:cNvSpPr txBox="1"/>
          <p:nvPr/>
        </p:nvSpPr>
        <p:spPr>
          <a:xfrm>
            <a:off x="2768600" y="718312"/>
            <a:ext cx="3567422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Эдвард Уилсон</a:t>
            </a:r>
          </a:p>
        </p:txBody>
      </p:sp>
      <p:sp>
        <p:nvSpPr>
          <p:cNvPr id="6" name="Текст: В 7 лет повредил глаз и стал изучать тех"/>
          <p:cNvSpPr txBox="1"/>
          <p:nvPr/>
        </p:nvSpPr>
        <p:spPr>
          <a:xfrm>
            <a:off x="2794000" y="1473454"/>
            <a:ext cx="4582890" cy="198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60"/>
              </a:lnSpc>
            </a:pP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В 7 лет повредил глаз и стал изучать тех, кого видно вблизи</a:t>
            </a:r>
          </a:p>
        </p:txBody>
      </p:sp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3224212"/>
            <a:ext cx="6877050" cy="2795588"/>
          </a:xfrm>
          <a:prstGeom prst="rect">
            <a:avLst/>
          </a:prstGeom>
        </p:spPr>
      </p:pic>
      <p:sp>
        <p:nvSpPr>
          <p:cNvPr id="8" name="Текст: материк"/>
          <p:cNvSpPr txBox="1"/>
          <p:nvPr/>
        </p:nvSpPr>
        <p:spPr>
          <a:xfrm>
            <a:off x="2019002" y="3129453"/>
            <a:ext cx="640096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F4F4F2"/>
                </a:solidFill>
                <a:latin typeface="Inter Tight Medium"/>
                <a:ea typeface="Inter Tight Medium"/>
                <a:cs typeface="Inter Tight Medium"/>
              </a:rPr>
              <a:t>материк</a:t>
            </a:r>
          </a:p>
        </p:txBody>
      </p:sp>
      <p:sp>
        <p:nvSpPr>
          <p:cNvPr id="9" name="Текст: ВИДОВ МНОГО"/>
          <p:cNvSpPr txBox="1"/>
          <p:nvPr/>
        </p:nvSpPr>
        <p:spPr>
          <a:xfrm>
            <a:off x="3933726" y="3239179"/>
            <a:ext cx="709335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40"/>
              </a:lnSpc>
            </a:pPr>
            <a:r>
              <a:rPr lang="ru-RU" sz="700" b="0" i="0" spc="42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ВИДОВ МНОГО</a:t>
            </a:r>
          </a:p>
        </p:txBody>
      </p:sp>
      <p:sp>
        <p:nvSpPr>
          <p:cNvPr id="10" name="Текст: большой и близкий"/>
          <p:cNvSpPr txBox="1"/>
          <p:nvPr/>
        </p:nvSpPr>
        <p:spPr>
          <a:xfrm>
            <a:off x="3933726" y="3352149"/>
            <a:ext cx="1416272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F4F4F2"/>
                </a:solidFill>
                <a:latin typeface="Inter Tight Medium"/>
                <a:ea typeface="Inter Tight Medium"/>
                <a:cs typeface="Inter Tight Medium"/>
              </a:rPr>
              <a:t>большой и близкий</a:t>
            </a:r>
          </a:p>
        </p:txBody>
      </p:sp>
      <p:sp>
        <p:nvSpPr>
          <p:cNvPr id="11" name="Текст: ВИДОВ МАЛО"/>
          <p:cNvSpPr txBox="1"/>
          <p:nvPr/>
        </p:nvSpPr>
        <p:spPr>
          <a:xfrm>
            <a:off x="6369149" y="3106325"/>
            <a:ext cx="648351" cy="106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40"/>
              </a:lnSpc>
            </a:pPr>
            <a:r>
              <a:rPr lang="ru-RU" sz="700" b="0" i="0" spc="42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ВИДОВ МАЛО</a:t>
            </a:r>
          </a:p>
        </p:txBody>
      </p:sp>
      <p:sp>
        <p:nvSpPr>
          <p:cNvPr id="12" name="Текст: маленький и далекий"/>
          <p:cNvSpPr txBox="1"/>
          <p:nvPr/>
        </p:nvSpPr>
        <p:spPr>
          <a:xfrm>
            <a:off x="6369149" y="3219295"/>
            <a:ext cx="1576316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 spc="-12">
                <a:solidFill>
                  <a:srgbClr val="F4F4F2"/>
                </a:solidFill>
                <a:latin typeface="Inter Tight Medium"/>
                <a:ea typeface="Inter Tight Medium"/>
                <a:cs typeface="Inter Tight Medium"/>
              </a:rPr>
              <a:t>маленький и далекий</a:t>
            </a:r>
          </a:p>
        </p:txBody>
      </p:sp>
      <p:sp>
        <p:nvSpPr>
          <p:cNvPr id="13" name="Текст: 1967 · С РОБЕРТОМ МАКАРТУРОМ"/>
          <p:cNvSpPr txBox="1"/>
          <p:nvPr/>
        </p:nvSpPr>
        <p:spPr>
          <a:xfrm>
            <a:off x="8763000" y="2988818"/>
            <a:ext cx="2112891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1967 </a:t>
            </a: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· С РОБЕРТОМ МАКАРТУРОМ</a:t>
            </a:r>
          </a:p>
        </p:txBody>
      </p:sp>
      <p:sp>
        <p:nvSpPr>
          <p:cNvPr id="14" name="Текст: Теория островной биогеографии"/>
          <p:cNvSpPr txBox="1"/>
          <p:nvPr/>
        </p:nvSpPr>
        <p:spPr>
          <a:xfrm>
            <a:off x="8763000" y="3230642"/>
            <a:ext cx="2031682" cy="48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lang="ru-RU" sz="1800" b="0" i="0" spc="-54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Теория островной</a:t>
            </a:r>
            <a:br>
              <a:rPr lang="ru-RU" sz="1800" b="0" i="0" spc="-54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1800" b="0" i="0" spc="-54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биогеографии</a:t>
            </a:r>
          </a:p>
        </p:txBody>
      </p:sp>
      <p:sp>
        <p:nvSpPr>
          <p:cNvPr id="15" name="Текст: Остров это и лес среди полей, и заповедн"/>
          <p:cNvSpPr txBox="1"/>
          <p:nvPr/>
        </p:nvSpPr>
        <p:spPr>
          <a:xfrm>
            <a:off x="8763000" y="3868579"/>
            <a:ext cx="2644926" cy="4409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36"/>
              </a:lnSpc>
            </a:pPr>
            <a:r>
              <a:rPr lang="ru-RU" sz="1400" b="0" i="0" spc="-21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Остров это и лес среди полей, и</a:t>
            </a:r>
            <a:br>
              <a:rPr lang="ru-RU" sz="1400" b="0" i="0" spc="-21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400" b="0" i="0" spc="-21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заповедник среди города</a:t>
            </a:r>
          </a:p>
        </p:txBody>
      </p:sp>
      <p:pic>
        <p:nvPicPr>
          <p:cNvPr id="16" name="Графика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4824412"/>
            <a:ext cx="2795588" cy="9525"/>
          </a:xfrm>
          <a:prstGeom prst="rect">
            <a:avLst/>
          </a:prstGeom>
        </p:spPr>
      </p:pic>
      <p:sp>
        <p:nvSpPr>
          <p:cNvPr id="17" name="Текст: Сделал слово «биоразнообразие» общеизвес"/>
          <p:cNvSpPr txBox="1"/>
          <p:nvPr/>
        </p:nvSpPr>
        <p:spPr>
          <a:xfrm>
            <a:off x="8763000" y="4939189"/>
            <a:ext cx="2439583" cy="5518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Сделал слово </a:t>
            </a:r>
            <a:r>
              <a:rPr lang="ru-RU" sz="1050" b="0" i="0" spc="-5">
                <a:solidFill>
                  <a:srgbClr val="F2B705"/>
                </a:solidFill>
                <a:latin typeface="Inter Tight SemiBold"/>
                <a:ea typeface="Inter Tight SemiBold"/>
                <a:cs typeface="Inter Tight SemiBold"/>
              </a:rPr>
              <a:t>«биоразнообразие»</a:t>
            </a:r>
            <a:b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общеизвестным. Предложил охранять</a:t>
            </a:r>
            <a:b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половину Земли</a:t>
            </a:r>
          </a:p>
        </p:txBody>
      </p:sp>
      <p:pic>
        <p:nvPicPr>
          <p:cNvPr id="18" name="Графика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9" name="Текст: IV ВСЯ ПЛАНЕТА"/>
          <p:cNvSpPr txBox="1"/>
          <p:nvPr/>
        </p:nvSpPr>
        <p:spPr>
          <a:xfrm>
            <a:off x="660400" y="6483985"/>
            <a:ext cx="95357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IV </a:t>
            </a: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ВСЯ ПЛАНЕТА</a:t>
            </a:r>
          </a:p>
        </p:txBody>
      </p:sp>
      <p:sp>
        <p:nvSpPr>
          <p:cNvPr id="20" name="Текст: 37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ИХ ЗНАЮТ ДАЖЕ ТЕ, КТО ЭКОЛОГИЮ НЕ УЧИЛ"/>
          <p:cNvSpPr txBox="1"/>
          <p:nvPr/>
        </p:nvSpPr>
        <p:spPr>
          <a:xfrm>
            <a:off x="660400" y="537718"/>
            <a:ext cx="285377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ИХ ЗНАЮТ ДАЖЕ ТЕ, КТО ЭКОЛОГИЮ НЕ УЧИЛ</a:t>
            </a:r>
          </a:p>
        </p:txBody>
      </p:sp>
      <p:pic>
        <p:nvPicPr>
          <p:cNvPr id="3" name="Графика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823912"/>
            <a:ext cx="2419350" cy="3305175"/>
          </a:xfrm>
          <a:prstGeom prst="rect">
            <a:avLst/>
          </a:prstGeom>
        </p:spPr>
      </p:pic>
      <p:sp>
        <p:nvSpPr>
          <p:cNvPr id="4" name="Текст: 13 · 1934-2025 · ВЕЛИКОБРИТАНИЯ"/>
          <p:cNvSpPr txBox="1"/>
          <p:nvPr/>
        </p:nvSpPr>
        <p:spPr>
          <a:xfrm>
            <a:off x="3302000" y="829818"/>
            <a:ext cx="233526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13 </a:t>
            </a: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· 1934-2025 · ВЕЛИКОБРИТАНИЯ</a:t>
            </a:r>
          </a:p>
        </p:txBody>
      </p:sp>
      <p:sp>
        <p:nvSpPr>
          <p:cNvPr id="5" name="Текст: Джейн Гудолл"/>
          <p:cNvSpPr txBox="1"/>
          <p:nvPr/>
        </p:nvSpPr>
        <p:spPr>
          <a:xfrm>
            <a:off x="3276600" y="1081167"/>
            <a:ext cx="1168932" cy="630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84"/>
              </a:lnSpc>
            </a:pPr>
            <a:r>
              <a:rPr lang="ru-RU" sz="2700" b="0" i="0" spc="-122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Джейн</a:t>
            </a:r>
            <a:br>
              <a:rPr lang="ru-RU" sz="2700" b="0" i="0" spc="-122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2700" b="0" i="0" spc="-122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Гудолл</a:t>
            </a:r>
          </a:p>
        </p:txBody>
      </p:sp>
      <p:sp>
        <p:nvSpPr>
          <p:cNvPr id="6" name="Текст: 1960 · лес Гомбе, 26 лет, без высшего об"/>
          <p:cNvSpPr txBox="1"/>
          <p:nvPr/>
        </p:nvSpPr>
        <p:spPr>
          <a:xfrm>
            <a:off x="3302000" y="1973834"/>
            <a:ext cx="3206369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F2B705"/>
                </a:solidFill>
                <a:latin typeface="Inter Tight SemiBold"/>
                <a:ea typeface="Inter Tight SemiBold"/>
                <a:cs typeface="Inter Tight SemiBold"/>
              </a:rPr>
              <a:t>1960 </a:t>
            </a: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· лес Гомбе, 26 лет, без высшего образования</a:t>
            </a:r>
          </a:p>
        </p:txBody>
      </p:sp>
      <p:sp>
        <p:nvSpPr>
          <p:cNvPr id="7" name="Текст: Шимпанзе выуживает термитов веточкой: ор"/>
          <p:cNvSpPr txBox="1"/>
          <p:nvPr/>
        </p:nvSpPr>
        <p:spPr>
          <a:xfrm>
            <a:off x="3302000" y="2462689"/>
            <a:ext cx="3165197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Шимпанзе выуживает термитов веточкой: </a:t>
            </a:r>
            <a:r>
              <a:rPr lang="ru-RU" sz="1050" b="0" i="0" spc="-5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орудия</a:t>
            </a:r>
            <a:br>
              <a:rPr lang="ru-RU" sz="1050" b="0" i="0" spc="-5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</a:br>
            <a:r>
              <a:rPr lang="ru-RU" sz="1050" b="0" i="0" spc="-5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делает не только человек</a:t>
            </a:r>
          </a:p>
        </p:txBody>
      </p:sp>
      <p:pic>
        <p:nvPicPr>
          <p:cNvPr id="8" name="Графика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443412"/>
            <a:ext cx="5719762" cy="28575"/>
          </a:xfrm>
          <a:prstGeom prst="rect">
            <a:avLst/>
          </a:prstGeom>
        </p:spPr>
      </p:pic>
      <p:sp>
        <p:nvSpPr>
          <p:cNvPr id="9" name="Текст: Умерла 1 октября 2025 года, в 91 год, во"/>
          <p:cNvSpPr txBox="1"/>
          <p:nvPr/>
        </p:nvSpPr>
        <p:spPr>
          <a:xfrm>
            <a:off x="660400" y="4586605"/>
            <a:ext cx="5473708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Умерла </a:t>
            </a:r>
            <a:r>
              <a:rPr lang="ru-RU" sz="1300" b="0" i="0" spc="-13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1 октября 2025 года</a:t>
            </a: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, в 91 год, во время очередной лекционной</a:t>
            </a:r>
            <a:b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поездки</a:t>
            </a:r>
          </a:p>
        </p:txBody>
      </p:sp>
      <p:pic>
        <p:nvPicPr>
          <p:cNvPr id="10" name="Графика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412" y="823912"/>
            <a:ext cx="9525" cy="4957762"/>
          </a:xfrm>
          <a:prstGeom prst="rect">
            <a:avLst/>
          </a:prstGeom>
        </p:spPr>
      </p:pic>
      <p:pic>
        <p:nvPicPr>
          <p:cNvPr id="11" name="Графика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823912"/>
            <a:ext cx="1905000" cy="2671762"/>
          </a:xfrm>
          <a:prstGeom prst="rect">
            <a:avLst/>
          </a:prstGeom>
        </p:spPr>
      </p:pic>
      <p:pic>
        <p:nvPicPr>
          <p:cNvPr id="12" name="Графика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325" y="823912"/>
            <a:ext cx="2457450" cy="2671762"/>
          </a:xfrm>
          <a:prstGeom prst="rect">
            <a:avLst/>
          </a:prstGeom>
        </p:spPr>
      </p:pic>
      <p:sp>
        <p:nvSpPr>
          <p:cNvPr id="13" name="Текст: 1910-1997 · ФРАНЦИЯ"/>
          <p:cNvSpPr txBox="1"/>
          <p:nvPr/>
        </p:nvSpPr>
        <p:spPr>
          <a:xfrm>
            <a:off x="7048500" y="3750818"/>
            <a:ext cx="144599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1910-1997 · ФРАНЦИЯ</a:t>
            </a:r>
          </a:p>
        </p:txBody>
      </p:sp>
      <p:sp>
        <p:nvSpPr>
          <p:cNvPr id="14" name="Текст: Жак-Ив Кусто"/>
          <p:cNvSpPr txBox="1"/>
          <p:nvPr/>
        </p:nvSpPr>
        <p:spPr>
          <a:xfrm>
            <a:off x="7023100" y="3925316"/>
            <a:ext cx="2337014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F4F4F2"/>
                </a:solidFill>
                <a:latin typeface="Inter Tight ExtraBold"/>
                <a:ea typeface="Inter Tight ExtraBold"/>
                <a:cs typeface="Inter Tight ExtraBold"/>
              </a:rPr>
              <a:t>Жак-Ив Кусто</a:t>
            </a:r>
          </a:p>
        </p:txBody>
      </p:sp>
      <p:sp>
        <p:nvSpPr>
          <p:cNvPr id="15" name="Текст: Морской офицер, один из изобретателей ак"/>
          <p:cNvSpPr txBox="1"/>
          <p:nvPr/>
        </p:nvSpPr>
        <p:spPr>
          <a:xfrm>
            <a:off x="7048500" y="4494689"/>
            <a:ext cx="4384873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Морской офицер, один из изобретателей акваланга, режиссер. Из его</a:t>
            </a:r>
            <a:b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F4F4F2"/>
                </a:solidFill>
                <a:latin typeface="Inter Tight"/>
                <a:ea typeface="Inter Tight"/>
                <a:cs typeface="Inter Tight"/>
              </a:rPr>
              <a:t>фильмов мир узнал, что </a:t>
            </a:r>
            <a:r>
              <a:rPr lang="ru-RU" sz="1050" b="0" i="0" spc="-5">
                <a:solidFill>
                  <a:srgbClr val="F4F4F2"/>
                </a:solidFill>
                <a:latin typeface="Inter Tight SemiBold"/>
                <a:ea typeface="Inter Tight SemiBold"/>
                <a:cs typeface="Inter Tight SemiBold"/>
              </a:rPr>
              <a:t>океан надо беречь</a:t>
            </a:r>
          </a:p>
        </p:txBody>
      </p:sp>
      <p:sp>
        <p:nvSpPr>
          <p:cNvPr id="16" name="Текст: Гудолл: Johanna Lohr, CC BY-SA 4.0 · Кус"/>
          <p:cNvSpPr txBox="1"/>
          <p:nvPr/>
        </p:nvSpPr>
        <p:spPr>
          <a:xfrm>
            <a:off x="660400" y="6099302"/>
            <a:ext cx="6212634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8C8C88"/>
                </a:solidFill>
                <a:latin typeface="IBM Plex Mono"/>
                <a:ea typeface="IBM Plex Mono"/>
                <a:cs typeface="IBM Plex Mono"/>
              </a:rPr>
              <a:t>Гудолл: Johanna Lohr, CC BY-SA 4.0 · Кусто: Hans Peters / Anefo, CC0 · «Калипсо», 1980: René Beauchamp, CC BY-SA 4.0</a:t>
            </a:r>
          </a:p>
        </p:txBody>
      </p:sp>
      <p:pic>
        <p:nvPicPr>
          <p:cNvPr id="17" name="Графика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8" name="Текст: IV ВСЯ ПЛАНЕТА"/>
          <p:cNvSpPr txBox="1"/>
          <p:nvPr/>
        </p:nvSpPr>
        <p:spPr>
          <a:xfrm>
            <a:off x="660400" y="6483985"/>
            <a:ext cx="95357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F2B705"/>
                </a:solidFill>
                <a:latin typeface="IBM Plex Mono Medium"/>
                <a:ea typeface="IBM Plex Mono Medium"/>
                <a:cs typeface="IBM Plex Mono Medium"/>
              </a:rPr>
              <a:t>IV </a:t>
            </a: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ВСЯ ПЛАНЕТА</a:t>
            </a:r>
          </a:p>
        </p:txBody>
      </p:sp>
      <p:sp>
        <p:nvSpPr>
          <p:cNvPr id="19" name="Текст: 38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8C8C88"/>
                </a:solidFill>
                <a:latin typeface="IBM Plex Mono Medium"/>
                <a:ea typeface="IBM Plex Mono Medium"/>
                <a:cs typeface="IBM Plex Mono Medium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10175" cy="6858000"/>
          </a:xfrm>
          <a:prstGeom prst="rect">
            <a:avLst/>
          </a:prstGeom>
        </p:spPr>
      </p:pic>
      <p:sp>
        <p:nvSpPr>
          <p:cNvPr id="3" name="Текст: Берег Баргузинского заповедника: Alphate"/>
          <p:cNvSpPr txBox="1"/>
          <p:nvPr/>
        </p:nvSpPr>
        <p:spPr>
          <a:xfrm>
            <a:off x="152400" y="130302"/>
            <a:ext cx="3125367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Берег Баргузинского заповедника: Alphatetia · CC BY-SA 4.0</a:t>
            </a:r>
          </a:p>
        </p:txBody>
      </p:sp>
      <p:sp>
        <p:nvSpPr>
          <p:cNvPr id="4" name="Текст: И У НАС"/>
          <p:cNvSpPr txBox="1"/>
          <p:nvPr/>
        </p:nvSpPr>
        <p:spPr>
          <a:xfrm>
            <a:off x="5715000" y="537718"/>
            <a:ext cx="556824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И У НАС</a:t>
            </a:r>
          </a:p>
        </p:txBody>
      </p:sp>
      <p:sp>
        <p:nvSpPr>
          <p:cNvPr id="5" name="Текст: Первый заповедник"/>
          <p:cNvSpPr txBox="1"/>
          <p:nvPr/>
        </p:nvSpPr>
        <p:spPr>
          <a:xfrm>
            <a:off x="5689600" y="718312"/>
            <a:ext cx="4709398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Первый заповедник</a:t>
            </a:r>
          </a:p>
        </p:txBody>
      </p:sp>
      <p:sp>
        <p:nvSpPr>
          <p:cNvPr id="6" name="Текст: 1908 · зоолог Г. А. Кожевников: нужны уч"/>
          <p:cNvSpPr txBox="1"/>
          <p:nvPr/>
        </p:nvSpPr>
        <p:spPr>
          <a:xfrm>
            <a:off x="5715000" y="1513205"/>
            <a:ext cx="5445847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1908 </a:t>
            </a: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· зоолог Г. А. Кожевников: нужны участки, где природу вообще не</a:t>
            </a:r>
            <a:b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трогают, а только наблюдают</a:t>
            </a:r>
          </a:p>
        </p:txBody>
      </p:sp>
      <p:sp>
        <p:nvSpPr>
          <p:cNvPr id="7" name="Текст: ЯНВ 1917"/>
          <p:cNvSpPr txBox="1"/>
          <p:nvPr/>
        </p:nvSpPr>
        <p:spPr>
          <a:xfrm>
            <a:off x="5715000" y="2798318"/>
            <a:ext cx="630912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ЯНВ 1917</a:t>
            </a:r>
          </a:p>
        </p:txBody>
      </p:sp>
      <p:pic>
        <p:nvPicPr>
          <p:cNvPr id="8" name="Графика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12" y="2705100"/>
            <a:ext cx="3814762" cy="357188"/>
          </a:xfrm>
          <a:prstGeom prst="rect">
            <a:avLst/>
          </a:prstGeom>
        </p:spPr>
      </p:pic>
      <p:sp>
        <p:nvSpPr>
          <p:cNvPr id="9" name="Текст: Баргузинский заповедник, Байкал"/>
          <p:cNvSpPr txBox="1"/>
          <p:nvPr/>
        </p:nvSpPr>
        <p:spPr>
          <a:xfrm>
            <a:off x="6858000" y="2781046"/>
            <a:ext cx="258693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0"/>
              </a:lnSpc>
            </a:pPr>
            <a:r>
              <a:rPr lang="ru-RU" sz="1200" b="0" i="0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Баргузинский заповедник, Байкал</a:t>
            </a:r>
          </a:p>
        </p:txBody>
      </p:sp>
      <p:sp>
        <p:nvSpPr>
          <p:cNvPr id="10" name="Текст: 1924"/>
          <p:cNvSpPr txBox="1"/>
          <p:nvPr/>
        </p:nvSpPr>
        <p:spPr>
          <a:xfrm>
            <a:off x="5715000" y="3230118"/>
            <a:ext cx="3345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1924</a:t>
            </a:r>
          </a:p>
        </p:txBody>
      </p:sp>
      <p:pic>
        <p:nvPicPr>
          <p:cNvPr id="11" name="Графика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412" y="3133725"/>
            <a:ext cx="3814762" cy="361950"/>
          </a:xfrm>
          <a:prstGeom prst="rect">
            <a:avLst/>
          </a:prstGeom>
        </p:spPr>
      </p:pic>
      <p:sp>
        <p:nvSpPr>
          <p:cNvPr id="12" name="Текст: Территория дикой природы Леопольда, США"/>
          <p:cNvSpPr txBox="1"/>
          <p:nvPr/>
        </p:nvSpPr>
        <p:spPr>
          <a:xfrm>
            <a:off x="6858000" y="3212338"/>
            <a:ext cx="3068510" cy="1676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0"/>
              </a:lnSpc>
            </a:pPr>
            <a:r>
              <a:rPr lang="ru-RU" sz="1100" b="0" i="0">
                <a:solidFill>
                  <a:srgbClr val="0F0F0E"/>
                </a:solidFill>
                <a:latin typeface="Inter Tight Medium"/>
                <a:ea typeface="Inter Tight Medium"/>
                <a:cs typeface="Inter Tight Medium"/>
              </a:rPr>
              <a:t>Территория дикой природы Леопольда, США</a:t>
            </a:r>
          </a:p>
        </p:txBody>
      </p:sp>
      <p:sp>
        <p:nvSpPr>
          <p:cNvPr id="13" name="Текст: на 7 лет раньше"/>
          <p:cNvSpPr txBox="1"/>
          <p:nvPr/>
        </p:nvSpPr>
        <p:spPr>
          <a:xfrm>
            <a:off x="5689600" y="3760216"/>
            <a:ext cx="253668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40"/>
              </a:lnSpc>
            </a:pPr>
            <a:r>
              <a:rPr lang="ru-RU" sz="2700" b="0" i="0" spc="-122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на 7 лет раньше</a:t>
            </a:r>
          </a:p>
        </p:txBody>
      </p:sp>
      <p:sp>
        <p:nvSpPr>
          <p:cNvPr id="14" name="Текст: Национальные парки для туристов в США по"/>
          <p:cNvSpPr txBox="1"/>
          <p:nvPr/>
        </p:nvSpPr>
        <p:spPr>
          <a:xfrm>
            <a:off x="5715000" y="4297426"/>
            <a:ext cx="3745833" cy="1447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40"/>
              </a:lnSpc>
            </a:pPr>
            <a:r>
              <a:rPr lang="ru-RU" sz="950" b="0" i="0" spc="-5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Национальные парки для туристов в США появились еще раньше</a:t>
            </a:r>
          </a:p>
        </p:txBody>
      </p:sp>
      <p:pic>
        <p:nvPicPr>
          <p:cNvPr id="15" name="Графика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014912"/>
            <a:ext cx="2295525" cy="828675"/>
          </a:xfrm>
          <a:prstGeom prst="rect">
            <a:avLst/>
          </a:prstGeom>
        </p:spPr>
      </p:pic>
      <p:sp>
        <p:nvSpPr>
          <p:cNvPr id="16" name="Текст: Иностранные экологи пишут слово «zapoved"/>
          <p:cNvSpPr txBox="1"/>
          <p:nvPr/>
        </p:nvSpPr>
        <p:spPr>
          <a:xfrm>
            <a:off x="8191500" y="5003324"/>
            <a:ext cx="2980595" cy="35044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80"/>
              </a:lnSpc>
            </a:pPr>
            <a:r>
              <a:rPr lang="ru-RU" sz="100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Иностранные экологи пишут слово </a:t>
            </a:r>
            <a:r>
              <a:rPr lang="ru-RU" sz="1000" b="0" i="0" spc="-5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«zapovednik»</a:t>
            </a:r>
            <a:br>
              <a:rPr lang="ru-RU" sz="100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0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латиницей, без перевода</a:t>
            </a:r>
          </a:p>
        </p:txBody>
      </p:sp>
      <p:sp>
        <p:nvSpPr>
          <p:cNvPr id="17" name="Текст: Марка СССР 1966 к 50-летию заповедника ·"/>
          <p:cNvSpPr txBox="1"/>
          <p:nvPr/>
        </p:nvSpPr>
        <p:spPr>
          <a:xfrm>
            <a:off x="8191500" y="5591302"/>
            <a:ext cx="2912491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Марка СССР 1966 к 50-летию заповедника · Public domain</a:t>
            </a:r>
          </a:p>
        </p:txBody>
      </p:sp>
      <p:pic>
        <p:nvPicPr>
          <p:cNvPr id="18" name="Графика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6424612"/>
            <a:ext cx="2886075" cy="247650"/>
          </a:xfrm>
          <a:prstGeom prst="rect">
            <a:avLst/>
          </a:prstGeom>
        </p:spPr>
      </p:pic>
      <p:sp>
        <p:nvSpPr>
          <p:cNvPr id="19" name="Текст: V И У НАС"/>
          <p:cNvSpPr txBox="1"/>
          <p:nvPr/>
        </p:nvSpPr>
        <p:spPr>
          <a:xfrm>
            <a:off x="5715000" y="6483985"/>
            <a:ext cx="62657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V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И У НАС</a:t>
            </a:r>
          </a:p>
        </p:txBody>
      </p:sp>
      <p:sp>
        <p:nvSpPr>
          <p:cNvPr id="20" name="Текст: 39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ГЛАВНЫЕ ПОНЯТИЯ НА ОДНОЙ ШКАЛЕ"/>
          <p:cNvSpPr txBox="1"/>
          <p:nvPr/>
        </p:nvSpPr>
        <p:spPr>
          <a:xfrm>
            <a:off x="660400" y="537718"/>
            <a:ext cx="226106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ГЛАВНЫЕ ПОНЯТИЯ НА ОДНОЙ ШКАЛЕ</a:t>
            </a:r>
          </a:p>
        </p:txBody>
      </p:sp>
      <p:sp>
        <p:nvSpPr>
          <p:cNvPr id="3" name="Текст: Наука делалась одновременно"/>
          <p:cNvSpPr txBox="1"/>
          <p:nvPr/>
        </p:nvSpPr>
        <p:spPr>
          <a:xfrm>
            <a:off x="635000" y="718312"/>
            <a:ext cx="7248636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Наука делалась одновременно</a:t>
            </a:r>
          </a:p>
        </p:txBody>
      </p:sp>
      <p:sp>
        <p:nvSpPr>
          <p:cNvPr id="4" name="Текст: □ ЗА РУБЕЖОМ"/>
          <p:cNvSpPr txBox="1"/>
          <p:nvPr/>
        </p:nvSpPr>
        <p:spPr>
          <a:xfrm>
            <a:off x="660400" y="1668018"/>
            <a:ext cx="927576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□ ЗА РУБЕЖОМ</a:t>
            </a:r>
          </a:p>
        </p:txBody>
      </p:sp>
      <p:sp>
        <p:nvSpPr>
          <p:cNvPr id="5" name="Текст: ■ У НАС"/>
          <p:cNvSpPr txBox="1"/>
          <p:nvPr/>
        </p:nvSpPr>
        <p:spPr>
          <a:xfrm>
            <a:off x="660400" y="3306318"/>
            <a:ext cx="557030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■ У НАС</a:t>
            </a:r>
          </a:p>
        </p:txBody>
      </p:sp>
      <p:pic>
        <p:nvPicPr>
          <p:cNvPr id="6" name="Графика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5912"/>
            <a:ext cx="10515600" cy="3776662"/>
          </a:xfrm>
          <a:prstGeom prst="rect">
            <a:avLst/>
          </a:prstGeom>
        </p:spPr>
      </p:pic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5524500"/>
            <a:ext cx="10877550" cy="9525"/>
          </a:xfrm>
          <a:prstGeom prst="rect">
            <a:avLst/>
          </a:prstGeom>
        </p:spPr>
      </p:pic>
      <p:sp>
        <p:nvSpPr>
          <p:cNvPr id="8" name="Текст: Гаузе издал книгу сразу на английском, и"/>
          <p:cNvSpPr txBox="1"/>
          <p:nvPr/>
        </p:nvSpPr>
        <p:spPr>
          <a:xfrm>
            <a:off x="660400" y="5631434"/>
            <a:ext cx="4761301" cy="160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Гаузе </a:t>
            </a: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издал книгу сразу на английском, и его принцип знает каждый эколог</a:t>
            </a:r>
          </a:p>
        </p:txBody>
      </p:sp>
      <p:sp>
        <p:nvSpPr>
          <p:cNvPr id="9" name="Текст: «Биосферу» Вернадского на Западе почти н"/>
          <p:cNvSpPr txBox="1"/>
          <p:nvPr/>
        </p:nvSpPr>
        <p:spPr>
          <a:xfrm>
            <a:off x="6324600" y="5612289"/>
            <a:ext cx="5417884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«Биосферу» Вернадского </a:t>
            </a: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на Западе почти не читали, и Лавлоку пришлось открывать</a:t>
            </a:r>
            <a:b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заново</a:t>
            </a:r>
          </a:p>
        </p:txBody>
      </p:sp>
      <p:pic>
        <p:nvPicPr>
          <p:cNvPr id="10" name="Графика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1" name="Текст: V И У НАС"/>
          <p:cNvSpPr txBox="1"/>
          <p:nvPr/>
        </p:nvSpPr>
        <p:spPr>
          <a:xfrm>
            <a:off x="660400" y="6483985"/>
            <a:ext cx="62657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0F0F0E"/>
                </a:solidFill>
                <a:latin typeface="IBM Plex Mono Medium"/>
                <a:ea typeface="IBM Plex Mono Medium"/>
                <a:cs typeface="IBM Plex Mono Medium"/>
              </a:rPr>
              <a:t>V </a:t>
            </a: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И У НАС</a:t>
            </a:r>
          </a:p>
        </p:txBody>
      </p:sp>
      <p:sp>
        <p:nvSpPr>
          <p:cNvPr id="12" name="Текст: 40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ИТОГ"/>
          <p:cNvSpPr txBox="1"/>
          <p:nvPr/>
        </p:nvSpPr>
        <p:spPr>
          <a:xfrm>
            <a:off x="660400" y="537718"/>
            <a:ext cx="33455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ИТОГ</a:t>
            </a:r>
          </a:p>
        </p:txBody>
      </p:sp>
      <p:sp>
        <p:nvSpPr>
          <p:cNvPr id="3" name="Текст: Описывали, считали, предупреждали"/>
          <p:cNvSpPr txBox="1"/>
          <p:nvPr/>
        </p:nvSpPr>
        <p:spPr>
          <a:xfrm>
            <a:off x="635000" y="718312"/>
            <a:ext cx="8818118" cy="594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0"/>
              </a:lnSpc>
            </a:pPr>
            <a:r>
              <a:rPr lang="ru-RU" sz="3900" b="0" i="0" spc="-176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Описывали, считали, предупреждали</a:t>
            </a:r>
          </a:p>
        </p:txBody>
      </p:sp>
      <p:pic>
        <p:nvPicPr>
          <p:cNvPr id="4" name="Графика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905000"/>
            <a:ext cx="10877550" cy="66675"/>
          </a:xfrm>
          <a:prstGeom prst="rect">
            <a:avLst/>
          </a:prstGeom>
        </p:spPr>
      </p:pic>
      <p:sp>
        <p:nvSpPr>
          <p:cNvPr id="5" name="Текст: Описывали"/>
          <p:cNvSpPr txBox="1"/>
          <p:nvPr/>
        </p:nvSpPr>
        <p:spPr>
          <a:xfrm>
            <a:off x="660400" y="2080768"/>
            <a:ext cx="151522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20"/>
              </a:lnSpc>
            </a:pPr>
            <a:r>
              <a:rPr lang="ru-RU" sz="2100" b="0" i="0" spc="-63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Описывали</a:t>
            </a:r>
          </a:p>
        </p:txBody>
      </p:sp>
      <p:sp>
        <p:nvSpPr>
          <p:cNvPr id="6" name="Текст: Гумбольдт увидел связи, Геккель дал слов"/>
          <p:cNvSpPr txBox="1"/>
          <p:nvPr/>
        </p:nvSpPr>
        <p:spPr>
          <a:xfrm>
            <a:off x="660400" y="2465705"/>
            <a:ext cx="2582807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Гумбольдт увидел связи, Геккель</a:t>
            </a:r>
            <a:b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дал слово</a:t>
            </a:r>
          </a:p>
        </p:txBody>
      </p:sp>
      <p:sp>
        <p:nvSpPr>
          <p:cNvPr id="7" name="Текст: Считали"/>
          <p:cNvSpPr txBox="1"/>
          <p:nvPr/>
        </p:nvSpPr>
        <p:spPr>
          <a:xfrm>
            <a:off x="3441700" y="2080768"/>
            <a:ext cx="112579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20"/>
              </a:lnSpc>
            </a:pPr>
            <a:r>
              <a:rPr lang="ru-RU" sz="2100" b="0" i="0" spc="-63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Считали</a:t>
            </a:r>
          </a:p>
        </p:txBody>
      </p:sp>
      <p:sp>
        <p:nvSpPr>
          <p:cNvPr id="8" name="Текст: Элтон, Тенсли, Лотка и Вольтерра, Одум"/>
          <p:cNvSpPr txBox="1"/>
          <p:nvPr/>
        </p:nvSpPr>
        <p:spPr>
          <a:xfrm>
            <a:off x="3441700" y="2465705"/>
            <a:ext cx="2651839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Элтон, Тенсли, Лотка и Вольтерра,</a:t>
            </a:r>
            <a:b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Одум</a:t>
            </a:r>
          </a:p>
        </p:txBody>
      </p:sp>
      <p:sp>
        <p:nvSpPr>
          <p:cNvPr id="9" name="Текст: Предупреждали"/>
          <p:cNvSpPr txBox="1"/>
          <p:nvPr/>
        </p:nvSpPr>
        <p:spPr>
          <a:xfrm>
            <a:off x="6223000" y="2080768"/>
            <a:ext cx="219698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20"/>
              </a:lnSpc>
            </a:pPr>
            <a:r>
              <a:rPr lang="ru-RU" sz="2100" b="0" i="0" spc="-63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Предупреждали</a:t>
            </a:r>
          </a:p>
        </p:txBody>
      </p:sp>
      <p:sp>
        <p:nvSpPr>
          <p:cNvPr id="10" name="Текст: Леопольд, Карсон, Коммонер, Медоуз"/>
          <p:cNvSpPr txBox="1"/>
          <p:nvPr/>
        </p:nvSpPr>
        <p:spPr>
          <a:xfrm>
            <a:off x="6223000" y="2465705"/>
            <a:ext cx="2337530" cy="4556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4"/>
              </a:lnSpc>
            </a:pP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Леопольд, Карсон, Коммонер,</a:t>
            </a:r>
            <a:b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Медоуз</a:t>
            </a:r>
          </a:p>
        </p:txBody>
      </p:sp>
      <p:sp>
        <p:nvSpPr>
          <p:cNvPr id="11" name="Текст: Вся планета"/>
          <p:cNvSpPr txBox="1"/>
          <p:nvPr/>
        </p:nvSpPr>
        <p:spPr>
          <a:xfrm>
            <a:off x="9004300" y="2080768"/>
            <a:ext cx="158085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20"/>
              </a:lnSpc>
            </a:pPr>
            <a:r>
              <a:rPr lang="ru-RU" sz="2100" b="0" i="0" spc="-63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Вся планета</a:t>
            </a:r>
          </a:p>
        </p:txBody>
      </p:sp>
      <p:sp>
        <p:nvSpPr>
          <p:cNvPr id="12" name="Текст: Лавлок, Уилсон, Гудолл, Кусто"/>
          <p:cNvSpPr txBox="1"/>
          <p:nvPr/>
        </p:nvSpPr>
        <p:spPr>
          <a:xfrm>
            <a:off x="9004300" y="2489454"/>
            <a:ext cx="2331133" cy="1981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60"/>
              </a:lnSpc>
            </a:pP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Лавлок, Уилсон, Гудолл, Кусто</a:t>
            </a:r>
          </a:p>
        </p:txBody>
      </p:sp>
      <p:pic>
        <p:nvPicPr>
          <p:cNvPr id="13" name="Графика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552825"/>
            <a:ext cx="10877550" cy="752475"/>
          </a:xfrm>
          <a:prstGeom prst="rect">
            <a:avLst/>
          </a:prstGeom>
        </p:spPr>
      </p:pic>
      <p:sp>
        <p:nvSpPr>
          <p:cNvPr id="14" name="Текст: ЧЭ"/>
          <p:cNvSpPr txBox="1"/>
          <p:nvPr/>
        </p:nvSpPr>
        <p:spPr>
          <a:xfrm>
            <a:off x="2418854" y="4015486"/>
            <a:ext cx="330224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85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ЧЭ</a:t>
            </a:r>
          </a:p>
        </p:txBody>
      </p:sp>
      <p:sp>
        <p:nvSpPr>
          <p:cNvPr id="15" name="Текст: ЮО"/>
          <p:cNvSpPr txBox="1"/>
          <p:nvPr/>
        </p:nvSpPr>
        <p:spPr>
          <a:xfrm>
            <a:off x="4942185" y="4015486"/>
            <a:ext cx="420616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85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ЮО</a:t>
            </a:r>
          </a:p>
        </p:txBody>
      </p:sp>
      <p:sp>
        <p:nvSpPr>
          <p:cNvPr id="16" name="Текст: ДМ"/>
          <p:cNvSpPr txBox="1"/>
          <p:nvPr/>
        </p:nvSpPr>
        <p:spPr>
          <a:xfrm>
            <a:off x="8306693" y="4015486"/>
            <a:ext cx="390073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85">
                <a:solidFill>
                  <a:srgbClr val="94908A"/>
                </a:solidFill>
                <a:latin typeface="Inter Tight ExtraBold"/>
                <a:ea typeface="Inter Tight ExtraBold"/>
                <a:cs typeface="Inter Tight ExtraBold"/>
              </a:rPr>
              <a:t>ДМ</a:t>
            </a:r>
          </a:p>
        </p:txBody>
      </p:sp>
      <p:pic>
        <p:nvPicPr>
          <p:cNvPr id="17" name="Графика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695825"/>
            <a:ext cx="10877550" cy="9525"/>
          </a:xfrm>
          <a:prstGeom prst="rect">
            <a:avLst/>
          </a:prstGeom>
        </p:spPr>
      </p:pic>
      <p:sp>
        <p:nvSpPr>
          <p:cNvPr id="18" name="Текст: Делить экологов на «зарубежных» и «наших"/>
          <p:cNvSpPr txBox="1"/>
          <p:nvPr/>
        </p:nvSpPr>
        <p:spPr>
          <a:xfrm>
            <a:off x="660400" y="4941888"/>
            <a:ext cx="10762583" cy="8532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359"/>
              </a:lnSpc>
            </a:pPr>
            <a:r>
              <a:rPr lang="ru-RU" sz="3200" b="0" i="1" spc="-48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Делить экологов на «зарубежных» и «наших» можно только</a:t>
            </a:r>
            <a:br>
              <a:rPr lang="ru-RU" sz="3200" b="0" i="1" spc="-48">
                <a:solidFill>
                  <a:srgbClr val="F1EFEA"/>
                </a:solidFill>
                <a:latin typeface="Spectral"/>
                <a:ea typeface="Spectral"/>
                <a:cs typeface="Spectral"/>
              </a:rPr>
            </a:br>
            <a:r>
              <a:rPr lang="ru-RU" sz="3200" b="0" i="1" spc="-48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условно</a:t>
            </a:r>
          </a:p>
        </p:txBody>
      </p:sp>
      <p:pic>
        <p:nvPicPr>
          <p:cNvPr id="19" name="Графика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6534150"/>
            <a:ext cx="7943850" cy="138112"/>
          </a:xfrm>
          <a:prstGeom prst="rect">
            <a:avLst/>
          </a:prstGeom>
        </p:spPr>
      </p:pic>
      <p:sp>
        <p:nvSpPr>
          <p:cNvPr id="20" name="Текст: ИТОГ"/>
          <p:cNvSpPr txBox="1"/>
          <p:nvPr/>
        </p:nvSpPr>
        <p:spPr>
          <a:xfrm>
            <a:off x="660400" y="6483985"/>
            <a:ext cx="29968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ИТОГ</a:t>
            </a:r>
          </a:p>
        </p:txBody>
      </p:sp>
      <p:sp>
        <p:nvSpPr>
          <p:cNvPr id="21" name="Текст: 41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ГОДЫ ЖИЗНИ 13 ГЕРОЕВ · СВЕТЛАЯ ОТМЕТКА: "/>
          <p:cNvSpPr txBox="1"/>
          <p:nvPr/>
        </p:nvSpPr>
        <p:spPr>
          <a:xfrm>
            <a:off x="660400" y="537718"/>
            <a:ext cx="5669455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ГОДЫ ЖИЗНИ 13 ГЕРОЕВ · СВЕТЛАЯ ОТМЕТКА: ГЛАВНАЯ РАБОТА · ЦВЕТ: ЧАСТЬ ДОКЛАДА</a:t>
            </a:r>
          </a:p>
        </p:txBody>
      </p:sp>
      <p:pic>
        <p:nvPicPr>
          <p:cNvPr id="3" name="Графика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8" y="952500"/>
            <a:ext cx="7000875" cy="4943475"/>
          </a:xfrm>
          <a:prstGeom prst="rect">
            <a:avLst/>
          </a:prstGeom>
        </p:spPr>
      </p:pic>
      <p:sp>
        <p:nvSpPr>
          <p:cNvPr id="4" name="Текст: ~100"/>
          <p:cNvSpPr txBox="1"/>
          <p:nvPr/>
        </p:nvSpPr>
        <p:spPr>
          <a:xfrm>
            <a:off x="8509000" y="709930"/>
            <a:ext cx="2546898" cy="1295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200"/>
              </a:lnSpc>
            </a:pPr>
            <a:r>
              <a:rPr lang="ru-RU" sz="8500" b="0" i="0" spc="-425">
                <a:solidFill>
                  <a:srgbClr val="F1EFEA"/>
                </a:solidFill>
                <a:latin typeface="Inter Tight ExtraBold"/>
                <a:ea typeface="Inter Tight ExtraBold"/>
                <a:cs typeface="Inter Tight ExtraBold"/>
              </a:rPr>
              <a:t>~100</a:t>
            </a:r>
          </a:p>
        </p:txBody>
      </p:sp>
      <p:sp>
        <p:nvSpPr>
          <p:cNvPr id="5" name="Текст: лет экологии как точной науке"/>
          <p:cNvSpPr txBox="1"/>
          <p:nvPr/>
        </p:nvSpPr>
        <p:spPr>
          <a:xfrm>
            <a:off x="8572500" y="1907286"/>
            <a:ext cx="3040959" cy="259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lang="ru-RU" sz="1700" b="0" i="0" spc="-26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лет экологии как точной науке</a:t>
            </a:r>
          </a:p>
        </p:txBody>
      </p:sp>
      <p:sp>
        <p:nvSpPr>
          <p:cNvPr id="6" name="Текст: Почти все главные книги вышли с 1925 по "/>
          <p:cNvSpPr txBox="1"/>
          <p:nvPr/>
        </p:nvSpPr>
        <p:spPr>
          <a:xfrm>
            <a:off x="8572500" y="2462689"/>
            <a:ext cx="2950980" cy="367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8"/>
              </a:lnSpc>
            </a:pP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Почти все главные книги вышли с 1925 по 1980</a:t>
            </a:r>
            <a:b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050" b="0" i="0" spc="-5">
                <a:solidFill>
                  <a:srgbClr val="94908A"/>
                </a:solidFill>
                <a:latin typeface="Inter Tight"/>
                <a:ea typeface="Inter Tight"/>
                <a:cs typeface="Inter Tight"/>
              </a:rPr>
              <a:t>год</a:t>
            </a:r>
          </a:p>
        </p:txBody>
      </p:sp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171825"/>
            <a:ext cx="2962275" cy="9525"/>
          </a:xfrm>
          <a:prstGeom prst="rect">
            <a:avLst/>
          </a:prstGeom>
        </p:spPr>
      </p:pic>
      <p:sp>
        <p:nvSpPr>
          <p:cNvPr id="8" name="Текст: ДОЛГОЖИТЕЛИ"/>
          <p:cNvSpPr txBox="1"/>
          <p:nvPr/>
        </p:nvSpPr>
        <p:spPr>
          <a:xfrm>
            <a:off x="8572500" y="3331718"/>
            <a:ext cx="853178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ДОЛГОЖИТЕЛИ</a:t>
            </a:r>
          </a:p>
        </p:txBody>
      </p:sp>
      <p:sp>
        <p:nvSpPr>
          <p:cNvPr id="9" name="Текст: Лавлок 103 · Коммонер 95 Уилсон 92 · Элт"/>
          <p:cNvSpPr txBox="1"/>
          <p:nvPr/>
        </p:nvSpPr>
        <p:spPr>
          <a:xfrm>
            <a:off x="8572500" y="3560604"/>
            <a:ext cx="2293263" cy="52824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80"/>
              </a:lnSpc>
            </a:pP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Лавлок </a:t>
            </a:r>
            <a:r>
              <a:rPr lang="ru-RU" sz="1300" b="0" i="0" spc="-13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103 </a:t>
            </a: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Коммонер </a:t>
            </a:r>
            <a:r>
              <a:rPr lang="ru-RU" sz="1300" b="0" i="0" spc="-13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95</a:t>
            </a:r>
            <a:b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</a:b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Уилсон </a:t>
            </a:r>
            <a:r>
              <a:rPr lang="ru-RU" sz="1300" b="0" i="0" spc="-13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92 </a:t>
            </a:r>
            <a:r>
              <a:rPr lang="ru-RU" sz="1300" b="0" i="0" spc="-13">
                <a:solidFill>
                  <a:srgbClr val="F1EFEA"/>
                </a:solidFill>
                <a:latin typeface="Inter Tight"/>
                <a:ea typeface="Inter Tight"/>
                <a:cs typeface="Inter Tight"/>
              </a:rPr>
              <a:t>· Элтон и Гудолл </a:t>
            </a:r>
            <a:r>
              <a:rPr lang="ru-RU" sz="1300" b="0" i="0" spc="-13">
                <a:solidFill>
                  <a:srgbClr val="F1EFEA"/>
                </a:solidFill>
                <a:latin typeface="Inter Tight SemiBold"/>
                <a:ea typeface="Inter Tight SemiBold"/>
                <a:cs typeface="Inter Tight SemiBold"/>
              </a:rPr>
              <a:t>91</a:t>
            </a:r>
          </a:p>
        </p:txBody>
      </p:sp>
      <p:sp>
        <p:nvSpPr>
          <p:cNvPr id="10" name="Текст: Случайность или свежий воздух?"/>
          <p:cNvSpPr txBox="1"/>
          <p:nvPr/>
        </p:nvSpPr>
        <p:spPr>
          <a:xfrm>
            <a:off x="8572500" y="4436666"/>
            <a:ext cx="2363327" cy="63996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20"/>
              </a:lnSpc>
            </a:pPr>
            <a:r>
              <a:rPr lang="ru-RU" sz="2400" b="0" i="1" spc="-36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Случайность или</a:t>
            </a:r>
            <a:br>
              <a:rPr lang="ru-RU" sz="2400" b="0" i="1" spc="-36">
                <a:solidFill>
                  <a:srgbClr val="F1EFEA"/>
                </a:solidFill>
                <a:latin typeface="Spectral"/>
                <a:ea typeface="Spectral"/>
                <a:cs typeface="Spectral"/>
              </a:rPr>
            </a:br>
            <a:r>
              <a:rPr lang="ru-RU" sz="2400" b="0" i="1" spc="-36">
                <a:solidFill>
                  <a:srgbClr val="F1EFEA"/>
                </a:solidFill>
                <a:latin typeface="Spectral"/>
                <a:ea typeface="Spectral"/>
                <a:cs typeface="Spectral"/>
              </a:rPr>
              <a:t>свежий воздух?</a:t>
            </a:r>
          </a:p>
        </p:txBody>
      </p:sp>
      <p:pic>
        <p:nvPicPr>
          <p:cNvPr id="11" name="Графика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6424612"/>
            <a:ext cx="7943850" cy="247650"/>
          </a:xfrm>
          <a:prstGeom prst="rect">
            <a:avLst/>
          </a:prstGeom>
        </p:spPr>
      </p:pic>
      <p:sp>
        <p:nvSpPr>
          <p:cNvPr id="12" name="Текст: ИТОГ"/>
          <p:cNvSpPr txBox="1"/>
          <p:nvPr/>
        </p:nvSpPr>
        <p:spPr>
          <a:xfrm>
            <a:off x="660400" y="6483985"/>
            <a:ext cx="29968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ИТОГ</a:t>
            </a:r>
          </a:p>
        </p:txBody>
      </p:sp>
      <p:sp>
        <p:nvSpPr>
          <p:cNvPr id="13" name="Текст: 42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94908A"/>
                </a:solidFill>
                <a:latin typeface="IBM Plex Mono Medium"/>
                <a:ea typeface="IBM Plex Mono Medium"/>
                <a:cs typeface="IBM Plex Mono Medium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: ИСТОЧНИКИ"/>
          <p:cNvSpPr txBox="1"/>
          <p:nvPr/>
        </p:nvSpPr>
        <p:spPr>
          <a:xfrm>
            <a:off x="660400" y="537718"/>
            <a:ext cx="705001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ИСТОЧНИКИ</a:t>
            </a:r>
          </a:p>
        </p:txBody>
      </p:sp>
      <p:pic>
        <p:nvPicPr>
          <p:cNvPr id="3" name="Графика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785812"/>
            <a:ext cx="10877550" cy="28575"/>
          </a:xfrm>
          <a:prstGeom prst="rect">
            <a:avLst/>
          </a:prstGeom>
        </p:spPr>
      </p:pic>
      <p:sp>
        <p:nvSpPr>
          <p:cNvPr id="4" name="Текст: 1."/>
          <p:cNvSpPr txBox="1"/>
          <p:nvPr/>
        </p:nvSpPr>
        <p:spPr>
          <a:xfrm>
            <a:off x="660400" y="1092200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1.</a:t>
            </a:r>
          </a:p>
        </p:txBody>
      </p:sp>
      <p:sp>
        <p:nvSpPr>
          <p:cNvPr id="5" name="Текст: Розенберг Г. С. Атланты экологии. Тольят"/>
          <p:cNvSpPr txBox="1"/>
          <p:nvPr/>
        </p:nvSpPr>
        <p:spPr>
          <a:xfrm>
            <a:off x="1003300" y="1092200"/>
            <a:ext cx="495013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Розенберг Г. С. Атланты экологии. Тольятти: Кассандра, 2014. 411 с.</a:t>
            </a:r>
          </a:p>
        </p:txBody>
      </p:sp>
      <p:sp>
        <p:nvSpPr>
          <p:cNvPr id="6" name="Текст: 2."/>
          <p:cNvSpPr txBox="1"/>
          <p:nvPr/>
        </p:nvSpPr>
        <p:spPr>
          <a:xfrm>
            <a:off x="660400" y="1463675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2.</a:t>
            </a:r>
          </a:p>
        </p:txBody>
      </p:sp>
      <p:sp>
        <p:nvSpPr>
          <p:cNvPr id="7" name="Текст: Вульф А. Открытие природы: путешествия А"/>
          <p:cNvSpPr txBox="1"/>
          <p:nvPr/>
        </p:nvSpPr>
        <p:spPr>
          <a:xfrm>
            <a:off x="1003300" y="1440815"/>
            <a:ext cx="4376102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Вульф А. Открытие природы: путешествия Александра фон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Гумбольдта. М.: КоЛибри, 2019. 464 с.</a:t>
            </a:r>
          </a:p>
        </p:txBody>
      </p:sp>
      <p:sp>
        <p:nvSpPr>
          <p:cNvPr id="8" name="Текст: 3."/>
          <p:cNvSpPr txBox="1"/>
          <p:nvPr/>
        </p:nvSpPr>
        <p:spPr>
          <a:xfrm>
            <a:off x="660400" y="2054225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3.</a:t>
            </a:r>
          </a:p>
        </p:txBody>
      </p:sp>
      <p:sp>
        <p:nvSpPr>
          <p:cNvPr id="9" name="Текст: Реймерс Н. Ф. Экология (теории, законы, "/>
          <p:cNvSpPr txBox="1"/>
          <p:nvPr/>
        </p:nvSpPr>
        <p:spPr>
          <a:xfrm>
            <a:off x="1003300" y="2031365"/>
            <a:ext cx="4605592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Реймерс Н. Ф. Экология (теории, законы, правила, принципы и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гипотезы). М.: Россия Молодая, 1994. 367 с.</a:t>
            </a:r>
          </a:p>
        </p:txBody>
      </p:sp>
      <p:sp>
        <p:nvSpPr>
          <p:cNvPr id="10" name="Текст: 4."/>
          <p:cNvSpPr txBox="1"/>
          <p:nvPr/>
        </p:nvSpPr>
        <p:spPr>
          <a:xfrm>
            <a:off x="660400" y="2644775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4.</a:t>
            </a:r>
          </a:p>
        </p:txBody>
      </p:sp>
      <p:sp>
        <p:nvSpPr>
          <p:cNvPr id="11" name="Текст: Чернова Н. М., Былова А. М. Общая эколог"/>
          <p:cNvSpPr txBox="1"/>
          <p:nvPr/>
        </p:nvSpPr>
        <p:spPr>
          <a:xfrm>
            <a:off x="1003300" y="2644775"/>
            <a:ext cx="505755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Чернова Н. М., Былова А. М. Общая экология. М.: Дрофа, 2004. 416 с.</a:t>
            </a:r>
          </a:p>
        </p:txBody>
      </p:sp>
      <p:sp>
        <p:nvSpPr>
          <p:cNvPr id="12" name="Текст: 5."/>
          <p:cNvSpPr txBox="1"/>
          <p:nvPr/>
        </p:nvSpPr>
        <p:spPr>
          <a:xfrm>
            <a:off x="660400" y="3016250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5.</a:t>
            </a:r>
          </a:p>
        </p:txBody>
      </p:sp>
      <p:sp>
        <p:nvSpPr>
          <p:cNvPr id="13" name="Текст: Одум Ю. Экология: в 2 т. М.: Мир, 1986. "/>
          <p:cNvSpPr txBox="1"/>
          <p:nvPr/>
        </p:nvSpPr>
        <p:spPr>
          <a:xfrm>
            <a:off x="1003300" y="3016250"/>
            <a:ext cx="446443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Одум Ю. Экология: в 2 т. М.: Мир, 1986. Т. 1. 328 с.; Т. 2. 376 с.</a:t>
            </a:r>
          </a:p>
        </p:txBody>
      </p:sp>
      <p:sp>
        <p:nvSpPr>
          <p:cNvPr id="14" name="Текст: 6."/>
          <p:cNvSpPr txBox="1"/>
          <p:nvPr/>
        </p:nvSpPr>
        <p:spPr>
          <a:xfrm>
            <a:off x="660400" y="3387725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6.</a:t>
            </a:r>
          </a:p>
        </p:txBody>
      </p:sp>
      <p:sp>
        <p:nvSpPr>
          <p:cNvPr id="15" name="Текст: Элтон Ч. Экология нашествий животных и р"/>
          <p:cNvSpPr txBox="1"/>
          <p:nvPr/>
        </p:nvSpPr>
        <p:spPr>
          <a:xfrm>
            <a:off x="1003300" y="3364865"/>
            <a:ext cx="4673076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Элтон Ч. Экология нашествий животных и растений. М.: Изд-во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иностранной литературы, 1960. 230 с.</a:t>
            </a:r>
          </a:p>
        </p:txBody>
      </p:sp>
      <p:sp>
        <p:nvSpPr>
          <p:cNvPr id="16" name="Текст: 7."/>
          <p:cNvSpPr txBox="1"/>
          <p:nvPr/>
        </p:nvSpPr>
        <p:spPr>
          <a:xfrm>
            <a:off x="660400" y="3978275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7.</a:t>
            </a:r>
          </a:p>
        </p:txBody>
      </p:sp>
      <p:sp>
        <p:nvSpPr>
          <p:cNvPr id="17" name="Текст: Гаузе Г. Ф. Борьба за существование. М.;"/>
          <p:cNvSpPr txBox="1"/>
          <p:nvPr/>
        </p:nvSpPr>
        <p:spPr>
          <a:xfrm>
            <a:off x="1003300" y="3955415"/>
            <a:ext cx="4366712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Гаузе Г. Ф. Борьба за существование. М.; Ижевск: Институт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компьютерных исследований, 2002. 160 с.</a:t>
            </a:r>
          </a:p>
        </p:txBody>
      </p:sp>
      <p:sp>
        <p:nvSpPr>
          <p:cNvPr id="18" name="Текст: 8."/>
          <p:cNvSpPr txBox="1"/>
          <p:nvPr/>
        </p:nvSpPr>
        <p:spPr>
          <a:xfrm>
            <a:off x="6350000" y="1092200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8.</a:t>
            </a:r>
          </a:p>
        </p:txBody>
      </p:sp>
      <p:sp>
        <p:nvSpPr>
          <p:cNvPr id="19" name="Текст: Леопольд О. Календарь песчаного графства"/>
          <p:cNvSpPr txBox="1"/>
          <p:nvPr/>
        </p:nvSpPr>
        <p:spPr>
          <a:xfrm>
            <a:off x="6692900" y="1069340"/>
            <a:ext cx="4968915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Леопольд О. Календарь песчаного графства. 2-е изд. М.: Мир, 1983.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248 с.</a:t>
            </a:r>
          </a:p>
        </p:txBody>
      </p:sp>
      <p:sp>
        <p:nvSpPr>
          <p:cNvPr id="20" name="Текст: 9."/>
          <p:cNvSpPr txBox="1"/>
          <p:nvPr/>
        </p:nvSpPr>
        <p:spPr>
          <a:xfrm>
            <a:off x="6350000" y="1682750"/>
            <a:ext cx="23302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9.</a:t>
            </a:r>
          </a:p>
        </p:txBody>
      </p:sp>
      <p:sp>
        <p:nvSpPr>
          <p:cNvPr id="21" name="Текст: Карсон Р. Безмолвная весна. М.: Прогресс"/>
          <p:cNvSpPr txBox="1"/>
          <p:nvPr/>
        </p:nvSpPr>
        <p:spPr>
          <a:xfrm>
            <a:off x="6692900" y="1682750"/>
            <a:ext cx="4020106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Карсон Р. Безмолвная весна. М.: Прогресс, 1965. 216 с.</a:t>
            </a:r>
          </a:p>
        </p:txBody>
      </p:sp>
      <p:sp>
        <p:nvSpPr>
          <p:cNvPr id="22" name="Текст: 10."/>
          <p:cNvSpPr txBox="1"/>
          <p:nvPr/>
        </p:nvSpPr>
        <p:spPr>
          <a:xfrm>
            <a:off x="6350000" y="2054225"/>
            <a:ext cx="33043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10.</a:t>
            </a:r>
          </a:p>
        </p:txBody>
      </p:sp>
      <p:sp>
        <p:nvSpPr>
          <p:cNvPr id="23" name="Текст: Коммонер Б. Замыкающийся круг: природа, "/>
          <p:cNvSpPr txBox="1"/>
          <p:nvPr/>
        </p:nvSpPr>
        <p:spPr>
          <a:xfrm>
            <a:off x="6692900" y="2031365"/>
            <a:ext cx="4856131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Коммонер Б. Замыкающийся круг: природа, человек, технология.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Л.: Гидрометеоиздат, 1974. 279 с.</a:t>
            </a:r>
          </a:p>
        </p:txBody>
      </p:sp>
      <p:sp>
        <p:nvSpPr>
          <p:cNvPr id="24" name="Текст: 11."/>
          <p:cNvSpPr txBox="1"/>
          <p:nvPr/>
        </p:nvSpPr>
        <p:spPr>
          <a:xfrm>
            <a:off x="6350000" y="2644775"/>
            <a:ext cx="33043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11.</a:t>
            </a:r>
          </a:p>
        </p:txBody>
      </p:sp>
      <p:sp>
        <p:nvSpPr>
          <p:cNvPr id="25" name="Текст: Медоуз Д. Х., Медоуз Д. Л., Рэндерс Й., "/>
          <p:cNvSpPr txBox="1"/>
          <p:nvPr/>
        </p:nvSpPr>
        <p:spPr>
          <a:xfrm>
            <a:off x="6692900" y="2621915"/>
            <a:ext cx="4824762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Медоуз Д. Х., Медоуз Д. Л., Рэндерс Й., Беренс В. Пределы роста.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М.: Изд-во МГУ, 1991. 207 с.</a:t>
            </a:r>
          </a:p>
        </p:txBody>
      </p:sp>
      <p:sp>
        <p:nvSpPr>
          <p:cNvPr id="26" name="Текст: 12."/>
          <p:cNvSpPr txBox="1"/>
          <p:nvPr/>
        </p:nvSpPr>
        <p:spPr>
          <a:xfrm>
            <a:off x="6350000" y="3235325"/>
            <a:ext cx="33043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12.</a:t>
            </a:r>
          </a:p>
        </p:txBody>
      </p:sp>
      <p:sp>
        <p:nvSpPr>
          <p:cNvPr id="27" name="Текст: Вернадский В. И. Биосфера и ноосфера. М."/>
          <p:cNvSpPr txBox="1"/>
          <p:nvPr/>
        </p:nvSpPr>
        <p:spPr>
          <a:xfrm>
            <a:off x="6692900" y="3212465"/>
            <a:ext cx="4941983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Вернадский В. И. Биосфера и ноосфера. М.: Айрис-пресс, 2012. 576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с.</a:t>
            </a:r>
          </a:p>
        </p:txBody>
      </p:sp>
      <p:sp>
        <p:nvSpPr>
          <p:cNvPr id="28" name="Текст: 13."/>
          <p:cNvSpPr txBox="1"/>
          <p:nvPr/>
        </p:nvSpPr>
        <p:spPr>
          <a:xfrm>
            <a:off x="6350000" y="3825875"/>
            <a:ext cx="33043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50" b="0" i="0" spc="-12">
                <a:solidFill>
                  <a:srgbClr val="6F6C66"/>
                </a:solidFill>
                <a:latin typeface="IBM Plex Mono"/>
                <a:ea typeface="IBM Plex Mono"/>
                <a:cs typeface="IBM Plex Mono"/>
              </a:rPr>
              <a:t>13.</a:t>
            </a:r>
          </a:p>
        </p:txBody>
      </p:sp>
      <p:sp>
        <p:nvSpPr>
          <p:cNvPr id="29" name="Текст: Арсюхин Е. Открыла разум у животных, вер"/>
          <p:cNvSpPr txBox="1"/>
          <p:nvPr/>
        </p:nvSpPr>
        <p:spPr>
          <a:xfrm>
            <a:off x="6692900" y="3803015"/>
            <a:ext cx="4897406" cy="876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5"/>
              </a:lnSpc>
            </a:pP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Арсюхин Е. Открыла разум у животных, верила в снежного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человека и «снялась» в Симпсонах: чем известна Джейн Гудолл //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Комсомольская правда. 2025. URL:</a:t>
            </a:r>
            <a:b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</a:br>
            <a:r>
              <a:rPr lang="ru-RU" sz="1250" b="0" i="0" spc="-12">
                <a:solidFill>
                  <a:srgbClr val="0F0F0E"/>
                </a:solidFill>
                <a:latin typeface="Inter Tight"/>
                <a:ea typeface="Inter Tight"/>
                <a:cs typeface="Inter Tight"/>
              </a:rPr>
              <a:t>https://www.kp.ru/daily/27725.5/5152226/</a:t>
            </a:r>
          </a:p>
        </p:txBody>
      </p:sp>
      <p:sp>
        <p:nvSpPr>
          <p:cNvPr id="30" name="Текст: Иллюстрации: Wikimedia Commons (обществе"/>
          <p:cNvSpPr txBox="1"/>
          <p:nvPr/>
        </p:nvSpPr>
        <p:spPr>
          <a:xfrm>
            <a:off x="660400" y="5529072"/>
            <a:ext cx="9641864" cy="1371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lang="ru-RU" sz="900" b="0" i="0" spc="-4">
                <a:solidFill>
                  <a:srgbClr val="6F6C66"/>
                </a:solidFill>
                <a:latin typeface="Inter Tight"/>
                <a:ea typeface="Inter Tight"/>
                <a:cs typeface="Inter Tight"/>
              </a:rPr>
              <a:t>Иллюстрации: Wikimedia Commons (общественное достояние, CC0, CC BY, CC BY-SA), авторы указаны на слайдах. 3D-сцены, схемы и графики: автор доклада по данным реферата</a:t>
            </a:r>
          </a:p>
        </p:txBody>
      </p:sp>
      <p:pic>
        <p:nvPicPr>
          <p:cNvPr id="31" name="Графика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6534150"/>
            <a:ext cx="7943850" cy="138112"/>
          </a:xfrm>
          <a:prstGeom prst="rect">
            <a:avLst/>
          </a:prstGeom>
        </p:spPr>
      </p:pic>
      <p:sp>
        <p:nvSpPr>
          <p:cNvPr id="32" name="Текст: ИТОГ"/>
          <p:cNvSpPr txBox="1"/>
          <p:nvPr/>
        </p:nvSpPr>
        <p:spPr>
          <a:xfrm>
            <a:off x="660400" y="6483985"/>
            <a:ext cx="29968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ИТОГ</a:t>
            </a:r>
          </a:p>
        </p:txBody>
      </p:sp>
      <p:sp>
        <p:nvSpPr>
          <p:cNvPr id="33" name="Текст: 43 / 44"/>
          <p:cNvSpPr txBox="1"/>
          <p:nvPr/>
        </p:nvSpPr>
        <p:spPr>
          <a:xfrm>
            <a:off x="11035760" y="6483985"/>
            <a:ext cx="49584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900"/>
              </a:lnSpc>
            </a:pPr>
            <a:r>
              <a:rPr lang="ru-RU" sz="750" b="0" i="0" spc="45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43 /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рафика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12" y="0"/>
            <a:ext cx="6986588" cy="6858000"/>
          </a:xfrm>
          <a:prstGeom prst="rect">
            <a:avLst/>
          </a:prstGeom>
        </p:spPr>
      </p:pic>
      <p:sp>
        <p:nvSpPr>
          <p:cNvPr id="3" name="Текст: Лес в тумане, Северные Каскады: NPS · Pu"/>
          <p:cNvSpPr txBox="1"/>
          <p:nvPr/>
        </p:nvSpPr>
        <p:spPr>
          <a:xfrm>
            <a:off x="9429353" y="6635579"/>
            <a:ext cx="2752757" cy="990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80"/>
              </a:lnSpc>
            </a:pPr>
            <a:r>
              <a:rPr lang="ru-RU" sz="650" b="0" i="0" spc="13">
                <a:solidFill>
                  <a:srgbClr val="FFFFFF">
                    <a:alpha val="78000"/>
                  </a:srgbClr>
                </a:solidFill>
                <a:latin typeface="IBM Plex Mono"/>
                <a:ea typeface="IBM Plex Mono"/>
                <a:cs typeface="IBM Plex Mono"/>
              </a:rPr>
              <a:t>Лес в тумане, Северные Каскады: NPS · Public domain</a:t>
            </a:r>
          </a:p>
        </p:txBody>
      </p:sp>
      <p:sp>
        <p:nvSpPr>
          <p:cNvPr id="4" name="Текст: ИЗВЕСТНЫЕ ЗАРУБЕЖНЫЕ ЭКОЛОГИ"/>
          <p:cNvSpPr txBox="1"/>
          <p:nvPr/>
        </p:nvSpPr>
        <p:spPr>
          <a:xfrm>
            <a:off x="660400" y="537718"/>
            <a:ext cx="2112891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ИЗВЕСТНЫЕ ЗАРУБЕЖНЫЕ ЭКОЛОГИ</a:t>
            </a:r>
          </a:p>
        </p:txBody>
      </p:sp>
      <p:pic>
        <p:nvPicPr>
          <p:cNvPr id="5" name="Графика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809625"/>
            <a:ext cx="3890962" cy="28575"/>
          </a:xfrm>
          <a:prstGeom prst="rect">
            <a:avLst/>
          </a:prstGeom>
        </p:spPr>
      </p:pic>
      <p:sp>
        <p:nvSpPr>
          <p:cNvPr id="6" name="Текст: Спасибо за внимание"/>
          <p:cNvSpPr txBox="1"/>
          <p:nvPr/>
        </p:nvSpPr>
        <p:spPr>
          <a:xfrm>
            <a:off x="609600" y="2149237"/>
            <a:ext cx="3830447" cy="12150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84"/>
              </a:lnSpc>
            </a:pPr>
            <a:r>
              <a:rPr lang="ru-RU" sz="5200" b="0" i="0" spc="-234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Спасибо</a:t>
            </a:r>
            <a:br>
              <a:rPr lang="ru-RU" sz="5200" b="0" i="0" spc="-234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</a:br>
            <a:r>
              <a:rPr lang="ru-RU" sz="5200" b="0" i="0" spc="-234">
                <a:solidFill>
                  <a:srgbClr val="0F0F0E"/>
                </a:solidFill>
                <a:latin typeface="Inter Tight ExtraBold"/>
                <a:ea typeface="Inter Tight ExtraBold"/>
                <a:cs typeface="Inter Tight ExtraBold"/>
              </a:rPr>
              <a:t>за внимание</a:t>
            </a:r>
          </a:p>
        </p:txBody>
      </p:sp>
      <p:pic>
        <p:nvPicPr>
          <p:cNvPr id="7" name="Графика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5510212"/>
            <a:ext cx="3890962" cy="9525"/>
          </a:xfrm>
          <a:prstGeom prst="rect">
            <a:avLst/>
          </a:prstGeom>
        </p:spPr>
      </p:pic>
      <p:sp>
        <p:nvSpPr>
          <p:cNvPr id="8" name="Текст: Аладько Иван Игоревич"/>
          <p:cNvSpPr txBox="1"/>
          <p:nvPr/>
        </p:nvSpPr>
        <p:spPr>
          <a:xfrm>
            <a:off x="660400" y="5715762"/>
            <a:ext cx="2079665" cy="213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80"/>
              </a:lnSpc>
            </a:pPr>
            <a:r>
              <a:rPr lang="ru-RU" sz="1400" b="0" i="0" spc="-14">
                <a:solidFill>
                  <a:srgbClr val="0F0F0E"/>
                </a:solidFill>
                <a:latin typeface="Inter Tight SemiBold"/>
                <a:ea typeface="Inter Tight SemiBold"/>
                <a:cs typeface="Inter Tight SemiBold"/>
              </a:rPr>
              <a:t>Аладько Иван Игоревич</a:t>
            </a:r>
          </a:p>
        </p:txBody>
      </p:sp>
      <p:sp>
        <p:nvSpPr>
          <p:cNvPr id="9" name="Текст: ГРУППА G3110 · УНИВЕРСИТЕТ ИТМО · 2026"/>
          <p:cNvSpPr txBox="1"/>
          <p:nvPr/>
        </p:nvSpPr>
        <p:spPr>
          <a:xfrm>
            <a:off x="660400" y="5998718"/>
            <a:ext cx="2853777" cy="129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19"/>
              </a:lnSpc>
            </a:pPr>
            <a:r>
              <a:rPr lang="ru-RU" sz="850" b="0" i="0" spc="51">
                <a:solidFill>
                  <a:srgbClr val="6F6C66"/>
                </a:solidFill>
                <a:latin typeface="IBM Plex Mono Medium"/>
                <a:ea typeface="IBM Plex Mono Medium"/>
                <a:cs typeface="IBM Plex Mono Medium"/>
              </a:rPr>
              <a:t>ГРУППА G3110 · УНИВЕРСИТЕТ ИТМО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Известные зарубежные экологи</dc:title>
  <dc:subject/>
  <dc:creator>Аладько Иван Игоревич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